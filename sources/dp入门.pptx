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7" r:id="rId10"/>
    <p:sldId id="268" r:id="rId11"/>
    <p:sldId id="263" r:id="rId12"/>
    <p:sldId id="264" r:id="rId13"/>
    <p:sldId id="266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04:32:2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4039 342 24575,'-11'-2'0,"0"0"0,0 0 0,0-1 0,1 0 0,-1-1 0,-10-5 0,-10-3 0,-13-3 0,-82-17 0,72 21 0,29 5 0,-38-4 0,44 7 0,1 0 0,0-2 0,-34-11 0,31 8 0,0 1 0,-31-5 0,-221-22 0,202 26 0,-93-22 0,150 25 0,-1 0 0,1-1 0,-18-9 0,18 7 0,0 1 0,-29-8 0,15 9 0,0 1 0,-35 0 0,-21-4 0,-14-3 0,-1 5 0,-136 8 0,87 1 0,-156-2 0,290 1 0,0 1 0,0 0 0,0 1 0,1 1 0,0 0 0,-18 8 0,15-5 0,0-2 0,0 0 0,-1 0 0,-17 1 0,-12-1 0,-19 0 0,-111 26 0,49-7 0,58-13 0,55-9 0,-1 0 0,1 2 0,-1 0 0,1 0 0,1 2 0,-1-1 0,-21 14 0,18-10 0,-1 0 0,0-1 0,0-1 0,-1 0 0,-26 4 0,-30 11 0,42-8 0,1 2 0,0 1 0,-56 41 0,53-33 0,-2-2 0,-45 21 0,65-35 0,1 0 0,1 1 0,-18 15 0,17-14 0,1 1 0,-33 16 0,40-24 0,0 0 0,0 0 0,0 1 0,1 0 0,0 1 0,0-1 0,0 2 0,1-1 0,0 1 0,0-1 0,1 2 0,-8 11 0,7-8 0,1 1 0,1-1 0,-1 1 0,2 0 0,0 1 0,0-1 0,1 1 0,0 17 0,1 234 0,4-114 0,-3-136 0,0-1 0,2 1 0,-1 0 0,1 0 0,1-1 0,1 0 0,9 25 0,-9-30 0,0-1 0,0 1 0,1-1 0,0-1 0,0 1 0,1 0 0,-1-1 0,1 0 0,1-1 0,-1 1 0,1-1 0,0 0 0,14 6 0,-6-2 0,0-1 0,0 2 0,-1 0 0,0 1 0,22 23 0,-20-18 0,1 0 0,0-1 0,1-1 0,0 0 0,1-2 0,33 17 0,-37-21 0,0 1 0,-1 0 0,19 17 0,-24-19 0,0 1 0,0-1 0,1-1 0,-1 0 0,2 0 0,-1-1 0,0 0 0,1-1 0,0 0 0,12 3 0,90 19 0,10 1 0,-100-22-257,1 1 0,31 12-1,-32-10 3,1-1-1,32 6 1,85 13-377,-77-13 116,1-2 0,73 2 0,-102-11 603,48 10 0,-47-6-41,46 2 1,39-10 141,60 4 156,-92 11-144,-59-7 1062,52 3-1,617-8-1065,-336-3-196,-266 3 0,113-3 0,-129-11 0,-56 8 0,36-3 0,352 5 0,-212 5 0,-105-1 0,109-3 0,-120-11 0,-58 8 0,36-3 0,368 5 0,-222 5 0,-183-2 0,54 1 0,156-20 0,-152 10 0,0 3 0,120 7 0,-67 2 0,-65-1 0,-33-1 0,0-1 0,42-5 0,-68 2-197,1-1 0,-1 0-1,24-11 1,-26 9 172,1 1 0,1 1 0,-1 0 0,25-4 0,362-49 338,-286 38 288,155-9-601,-226 23 0,-31 4 0,-1 0 0,0 0 0,0-1 0,0 0 0,0-1 0,-1-1 0,1 0 0,15-8 0,5-4 0,2 0 0,-1 2 0,51-14 0,-17 6 0,161-73 0,-222 92 0,-1 0 0,1 0 0,-1 0 0,0-1 0,0 0 0,0 0 0,0 0 0,-1 0 0,0-1 0,1 1 0,-2-1 0,1 0 0,0 0 0,2-8 0,18-28 0,-16 31 0,-1 0 0,0-1 0,0 0 0,-1 0 0,-1 0 0,0 0 0,0-1 0,2-12 0,-3-1 0,0-1 0,-2-45 0,0 6 0,0 33 0,-1 1 0,-2-1 0,-6-37 0,5 55 0,-2 0 0,1 0 0,-2 1 0,0-1 0,0 1 0,-1 1 0,-1-1 0,0 1 0,-1 0 0,-17-17 0,10 13 0,0 1 0,-2 1 0,0 0 0,0 2 0,-1 0 0,-28-13 0,23 16 0,-1 0 0,0 2 0,0 1 0,-35-4 0,-23-6 0,74 14 0,-1 0 0,1-1 0,-1 0 0,1 0 0,0-1 0,1 0 0,-1-1 0,1 0 0,0 0 0,0-1 0,-10-8 0,8 5 0,-1 1 0,0 0 0,-1 1 0,0 0 0,-21-9 0,-69-19 0,34 14 0,53 16 0,0 1 0,-26-3 0,30 6 0,0-1 0,0 0 0,0-1 0,0 0 0,0 0 0,-18-10 0,15 4 0,-1 1 0,0 0 0,0 1 0,-1 1 0,1 0 0,-1 1 0,-1 1 0,1 1 0,-27-3 0,-39 5 2,53 2-35,1-1-1,0-2 1,-32-6 0,10 1-154,-1 2-1,1 2 1,-56 3 0,-59-2 1067,83-11-880,57 8 0,-39-4 0,-213 9 0,246 4 0,1 1 0,-41 13 0,-31 5 0,82-19-125,2 1 0,-1 1 0,-26 11 0,-31 10-206,28-14 331,-72 8 0,-54 7 436,11-1-41,84-15-395,44-5 0,-56 2 0,-489-10 0,538-1 0,-58-10 0,-32-3 0,-210 16-1365,314-1-5461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52EAE-6141-C158-6312-061799DB1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CF05C6-84C4-009C-BB91-DBBC69819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4B3E0-189E-4FE6-8FCE-173BF9ED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2C7DD-5C8A-452B-971C-0C643996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2A68F-6BBA-C606-D1B4-EBA23FA7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4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FF009-C655-D26E-99DD-B49651C8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8B6E7-EC54-D4FE-7CE4-DEF248AA0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849CC-5B1E-C6C6-8A9D-D71E5703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AF7ACF-D330-DB8D-554F-F82A01BB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B57EC-A2D2-E938-A64B-A09006D5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89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A4DBD-0AB9-72F1-3C6C-F50A5940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88B17-6B64-EEB2-EFF1-472F52D14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6B3A2-0869-442A-D2E4-4B5D3F1F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0850E-AE26-A41A-E434-D94E5CC5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B83CE-A25B-27AE-C9F6-B869D80C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81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63DA2-CE1D-97A5-C1DB-B9F654FD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D0DB70-597C-3D3A-335F-8145B39D5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256BF8-8804-68C7-F711-0B7928F4D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80634B-ED3E-3351-0E0B-9C11DDFD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BC1B83-CD00-CFD7-23ED-3EAE976E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47A725-48B3-004C-9A39-C15769AF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3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484A5-56BA-99DC-945A-E1B879FA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CEE284-AE76-4AC6-6AE7-F9AA4C96B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64305-C218-BCD6-AE4E-3C11C10D0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24CE6D-FE83-ED7C-96A0-48E4DACC4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E5DBAB-8B70-DBFC-0996-56D6C0AD7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562CF3-432A-F2B7-F6F1-E0DEA32B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F79D35-B08C-A72B-BCF1-4F5B6D06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970449-BEAB-C7AA-C68B-8231F43F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75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77187-4A7E-458A-5E54-F64C63B3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BA2049-EA26-679A-CDFA-6BFEED2A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75B5E0-BD3D-3264-C9E0-FDC34CF0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C6E498-BBFD-20CD-BA29-77AF6EE8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9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6E056-D50F-21D7-C548-4F844686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CB1564-A46B-4E6E-8AF0-19FA4E63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0DA8B7-A374-5B33-740A-EF802237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73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9ED86-E3AF-E191-7C3D-C37FA053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82F22A-F3C5-F8E7-D2C2-DB0DDF04A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87C903-2A15-3FD2-21E1-17E699557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BA352-481E-8261-B3BB-256F1B77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6284B-D4B0-3B72-8E28-6C99FAA2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CD3DCE-ACCA-A557-59CA-74EF1A6A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44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55C5A-1FFC-2DCF-20FA-D5AB3374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2D0BD1-DDA6-3EEC-268F-6FC9643E1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774379-F842-8ABB-6AD3-F0A77E4E3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599C6C-8458-33A7-FC2A-F2547E02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643C97-E805-1380-B86E-3A8623FF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4523F9-F7AC-FBD6-745B-ECEBA729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1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3A35D-1310-F6C4-B856-B1ECD8AA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0803C4-B4AC-E295-3E70-16DC2086C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CBA69-3972-FD90-FBE5-F9E78D9A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2E619-B1B0-6FEF-615D-949E1972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31444-1D63-508C-01E2-ECE081D9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07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DB9041-EB08-34AB-9E75-0CD64DFA3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8FB1C5-D53E-2C8D-A4EE-F1CC38C1E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37781-56F5-44E9-7D54-D38F645A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A0C95-2E33-BAA3-B450-17F0D63F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31A76B-E3D5-41B3-5F65-91C02AA6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94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878DE2-A6EA-8FED-F3E9-EBCA6DAF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B96A52-024C-7D5E-9949-0A841E7F5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834513-E512-912D-3430-3EAAB545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185C4-E5C2-4A36-94A6-B74EBEF718B4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7A4410-268F-4E26-AB1C-E6504A8C2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EB8D71-BA14-8617-E677-22D5CB2B9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16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P121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ogu.com.cn/problem/P1233" TargetMode="External"/><Relationship Id="rId2" Type="http://schemas.openxmlformats.org/officeDocument/2006/relationships/hyperlink" Target="https://www.luogu.com.cn/problem/P107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uogu.com.cn/problem/P1541" TargetMode="External"/><Relationship Id="rId4" Type="http://schemas.openxmlformats.org/officeDocument/2006/relationships/hyperlink" Target="https://www.luogu.com.cn/problem/P1095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n/problems/jump-game-ii/?envType=problem-list-v2&amp;envId=greed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96888-4EDB-10DF-9CC2-EED6E99D70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动态规划入门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2493B6-93BF-0C9F-FBF8-89F33173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071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5FC1C-50C5-DDD2-4E33-EB75C11F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CC63A-66D3-2E88-3AF2-5DF0AF36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07F752-3289-EE7E-10B8-9113A020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1409366" cy="359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83E9E91-D168-03E2-A63A-C8039C41AA0F}"/>
                  </a:ext>
                </a:extLst>
              </p14:cNvPr>
              <p14:cNvContentPartPr/>
              <p14:nvPr/>
            </p14:nvContentPartPr>
            <p14:xfrm>
              <a:off x="3778480" y="2213640"/>
              <a:ext cx="2980080" cy="7034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83E9E91-D168-03E2-A63A-C8039C41AA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480" y="2204640"/>
                <a:ext cx="2997720" cy="72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294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6ACC7-62BF-A53A-46A5-4F5B9A1D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数列递推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433C6-14E2-D172-5FF6-82FF95CD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这是一类简单的线性</a:t>
            </a:r>
            <a:r>
              <a:rPr lang="en-US" altLang="zh-CN" dirty="0" err="1"/>
              <a:t>dp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347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093E1-7EE1-FBAF-CA32-4834FEB0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A8E16E-F130-F0ED-808A-74BCE8E4F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61EA86-79AA-9C91-D6FC-99E052502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101"/>
            <a:ext cx="9030960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7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CCB41-148C-16C9-C408-4236A12E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一些问题能转化为数列递推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8210B-58F1-070B-7A78-A1DCFCF58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如，小明要走楼梯，每次能走</a:t>
            </a:r>
            <a:r>
              <a:rPr lang="en-US" altLang="zh-CN" dirty="0"/>
              <a:t>1</a:t>
            </a:r>
            <a:r>
              <a:rPr lang="zh-CN" altLang="en-US" dirty="0"/>
              <a:t>阶、</a:t>
            </a:r>
            <a:r>
              <a:rPr lang="en-US" altLang="zh-CN" dirty="0"/>
              <a:t>2</a:t>
            </a:r>
            <a:r>
              <a:rPr lang="zh-CN" altLang="en-US" dirty="0"/>
              <a:t>阶、</a:t>
            </a:r>
            <a:r>
              <a:rPr lang="en-US" altLang="zh-CN" dirty="0"/>
              <a:t>3</a:t>
            </a:r>
            <a:r>
              <a:rPr lang="zh-CN" altLang="en-US" dirty="0"/>
              <a:t>阶，请问从第</a:t>
            </a:r>
            <a:r>
              <a:rPr lang="en-US" altLang="zh-CN" dirty="0"/>
              <a:t>0</a:t>
            </a:r>
            <a:r>
              <a:rPr lang="zh-CN" altLang="en-US" dirty="0"/>
              <a:t>阶走到第</a:t>
            </a:r>
            <a:r>
              <a:rPr lang="en-US" altLang="zh-CN" dirty="0"/>
              <a:t>n</a:t>
            </a:r>
            <a:r>
              <a:rPr lang="zh-CN" altLang="en-US" dirty="0"/>
              <a:t>阶的方案数。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2E44A-4127-AC4E-6FB3-92D6355A7510}"/>
              </a:ext>
            </a:extLst>
          </p:cNvPr>
          <p:cNvSpPr txBox="1"/>
          <p:nvPr/>
        </p:nvSpPr>
        <p:spPr>
          <a:xfrm>
            <a:off x="1051560" y="3063240"/>
            <a:ext cx="6182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设</a:t>
            </a:r>
            <a:r>
              <a:rPr lang="en-US" altLang="zh-CN"/>
              <a:t>f[</a:t>
            </a:r>
            <a:r>
              <a:rPr lang="en-US" altLang="zh-CN" dirty="0"/>
              <a:t>n</a:t>
            </a:r>
            <a:r>
              <a:rPr lang="en-US" altLang="zh-CN"/>
              <a:t>]</a:t>
            </a:r>
            <a:r>
              <a:rPr lang="zh-CN" altLang="en-US" dirty="0"/>
              <a:t>表示走到第</a:t>
            </a:r>
            <a:r>
              <a:rPr lang="en-US" altLang="zh-CN" dirty="0"/>
              <a:t>n</a:t>
            </a:r>
            <a:r>
              <a:rPr lang="zh-CN" altLang="en-US" dirty="0"/>
              <a:t>阶的方案数。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考虑最后一步这么走，则有，</a:t>
            </a:r>
            <a:r>
              <a:rPr lang="en-US" altLang="zh-CN"/>
              <a:t>f[</a:t>
            </a:r>
            <a:r>
              <a:rPr lang="en-US" altLang="zh-CN" dirty="0"/>
              <a:t>n</a:t>
            </a:r>
            <a:r>
              <a:rPr lang="en-US" altLang="zh-CN"/>
              <a:t>]=f[n-1]+f[n-2</a:t>
            </a:r>
            <a:r>
              <a:rPr lang="en-US" altLang="zh-CN" dirty="0"/>
              <a:t>]+</a:t>
            </a:r>
            <a:r>
              <a:rPr lang="en-US" altLang="zh-CN"/>
              <a:t>f[n-3]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递推算出</a:t>
            </a:r>
            <a:r>
              <a:rPr lang="en-US" altLang="zh-CN" dirty="0"/>
              <a:t>f[n]</a:t>
            </a:r>
            <a:r>
              <a:rPr lang="zh-CN" altLang="en-US"/>
              <a:t>即可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FE5FA2-7B7C-5033-7604-6A1B3D11BE06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AB6D0C-A264-C533-CE77-8989571DFF62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3B6794-8C25-F5C8-BC24-08BA35295B5D}"/>
              </a:ext>
            </a:extLst>
          </p:cNvPr>
          <p:cNvSpPr txBox="1"/>
          <p:nvPr/>
        </p:nvSpPr>
        <p:spPr>
          <a:xfrm>
            <a:off x="6852921" y="354076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020937-3C7E-9855-0AF7-BF95CD780169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3A97EF-262F-97A8-1A48-CBFC525DD6AF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3DB8B9-B9AB-DD65-0C52-B439A90A27B6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35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E441D4-A78B-F2A1-6D2E-B87293FA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题解题一般思路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23238-02A6-878F-7CA1-570F4DFE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当打算使用</a:t>
            </a:r>
            <a:r>
              <a:rPr lang="en-US" altLang="zh-CN" dirty="0" err="1"/>
              <a:t>dp</a:t>
            </a:r>
            <a:r>
              <a:rPr lang="zh-CN" altLang="en-US" dirty="0"/>
              <a:t>解决一道题时，一般有以下步骤：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设计</a:t>
            </a:r>
            <a:r>
              <a:rPr lang="en-US" altLang="zh-CN" dirty="0" err="1"/>
              <a:t>dp</a:t>
            </a:r>
            <a:r>
              <a:rPr lang="zh-CN" altLang="en-US" dirty="0"/>
              <a:t>状态。如，上一题中的</a:t>
            </a:r>
            <a:r>
              <a:rPr lang="en-US" altLang="zh-CN" dirty="0"/>
              <a:t>f[]</a:t>
            </a:r>
            <a:r>
              <a:rPr lang="zh-CN" altLang="en-US" dirty="0"/>
              <a:t>就是一个</a:t>
            </a:r>
            <a:r>
              <a:rPr lang="en-US" altLang="zh-CN" dirty="0" err="1"/>
              <a:t>dp</a:t>
            </a:r>
            <a:r>
              <a:rPr lang="zh-CN" altLang="en-US" dirty="0"/>
              <a:t>状态。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找到状态转移方程（递推式）。如，上题中的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]=f[i-1]+f[i-2]+f[i-3]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递推算出结果。</a:t>
            </a:r>
          </a:p>
        </p:txBody>
      </p:sp>
    </p:spTree>
    <p:extLst>
      <p:ext uri="{BB962C8B-B14F-4D97-AF65-F5344CB8AC3E}">
        <p14:creationId xmlns:p14="http://schemas.microsoft.com/office/powerpoint/2010/main" val="391556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113A7-BD85-2B15-78D5-2FEAFBC9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题的基本要求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3D66B-364B-44C2-8AA0-811CC40A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状态设计需要满足以下的条件：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状态数要全，能包含所有情况。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状态要简单，状态数要少，这样算法设计才能更优秀。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转移方程要满足以下条件：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不重不漏。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无后效性，即当前的决策不会对之后的决策产生影响。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037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54237-8C99-2AA8-3688-938A0CD2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F2B3B-07D0-EC96-26C1-054E714A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596A94-342A-3D9D-000E-9070634B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470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9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A7801-3625-7880-6B48-D07A79BD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05FDA-7311-74CD-3F14-74E016B9F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BB1DD7-2EF5-75FD-B83F-42F57C9E3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55" y="1825625"/>
            <a:ext cx="8983329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4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178CA-6CFD-140B-3B6D-2B6089F7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45A15-3B35-BA13-09FA-BC92B194A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我们上两道题的状态设计、状态转移是否满足了</a:t>
            </a:r>
            <a:r>
              <a:rPr lang="en-US" altLang="zh-CN" dirty="0" err="1"/>
              <a:t>dp</a:t>
            </a:r>
            <a:r>
              <a:rPr lang="zh-CN" altLang="en-US" dirty="0"/>
              <a:t>的要求？</a:t>
            </a:r>
          </a:p>
        </p:txBody>
      </p:sp>
    </p:spTree>
    <p:extLst>
      <p:ext uri="{BB962C8B-B14F-4D97-AF65-F5344CB8AC3E}">
        <p14:creationId xmlns:p14="http://schemas.microsoft.com/office/powerpoint/2010/main" val="412527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7235D-0B6F-0B50-35AD-DFDAEC0A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记忆化搜索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8D728-0C60-9CA4-F94F-D1D41D3B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一些</a:t>
            </a:r>
            <a:r>
              <a:rPr lang="en-US" altLang="zh-CN" dirty="0" err="1"/>
              <a:t>dp</a:t>
            </a:r>
            <a:r>
              <a:rPr lang="zh-CN" altLang="en-US" dirty="0"/>
              <a:t>题除了写成带</a:t>
            </a:r>
            <a:r>
              <a:rPr lang="en-US" altLang="zh-CN" dirty="0"/>
              <a:t>for</a:t>
            </a:r>
            <a:r>
              <a:rPr lang="zh-CN" altLang="en-US" dirty="0"/>
              <a:t>循环的递推形式，也可以写成带</a:t>
            </a:r>
            <a:r>
              <a:rPr lang="zh-CN" altLang="en-US" b="1" dirty="0"/>
              <a:t>记忆化</a:t>
            </a:r>
            <a:r>
              <a:rPr lang="zh-CN" altLang="en-US" dirty="0"/>
              <a:t>的递归</a:t>
            </a:r>
            <a:r>
              <a:rPr lang="zh-CN" altLang="en-US"/>
              <a:t>形式。</a:t>
            </a:r>
            <a:endParaRPr lang="en-US" altLang="zh-CN" dirty="0"/>
          </a:p>
          <a:p>
            <a:r>
              <a:rPr lang="zh-CN" altLang="en-US" dirty="0"/>
              <a:t>如，斐波拉契数列一题也可以写成这样。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692840-E055-3247-F7CF-33772FC9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23" y="3429000"/>
            <a:ext cx="7335274" cy="20195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54BAA8D-F921-920C-BDB3-98F67971F22A}"/>
              </a:ext>
            </a:extLst>
          </p:cNvPr>
          <p:cNvSpPr txBox="1"/>
          <p:nvPr/>
        </p:nvSpPr>
        <p:spPr>
          <a:xfrm>
            <a:off x="8148320" y="2844800"/>
            <a:ext cx="1635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如果不记忆化的话，时间复杂度会爆炸！！</a:t>
            </a:r>
          </a:p>
        </p:txBody>
      </p:sp>
    </p:spTree>
    <p:extLst>
      <p:ext uri="{BB962C8B-B14F-4D97-AF65-F5344CB8AC3E}">
        <p14:creationId xmlns:p14="http://schemas.microsoft.com/office/powerpoint/2010/main" val="196580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9B79B-0D85-4795-AC7B-8419B2B3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8EBF7-7103-6208-4979-FA730165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将最长上升子序列一题用记忆化搜索的写法完成。</a:t>
            </a:r>
          </a:p>
        </p:txBody>
      </p:sp>
    </p:spTree>
    <p:extLst>
      <p:ext uri="{BB962C8B-B14F-4D97-AF65-F5344CB8AC3E}">
        <p14:creationId xmlns:p14="http://schemas.microsoft.com/office/powerpoint/2010/main" val="180925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D2375-1D25-0F37-0B38-2AFF6650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滚动数组优化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2DC89-E736-10FE-CF8D-55299557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数字三角形 </a:t>
            </a:r>
            <a:r>
              <a:rPr lang="en-US" altLang="zh-CN" dirty="0">
                <a:hlinkClick r:id="rId2"/>
              </a:rPr>
              <a:t>Number Triangles - </a:t>
            </a:r>
            <a:r>
              <a:rPr lang="zh-CN" altLang="en-US" dirty="0">
                <a:hlinkClick r:id="rId2"/>
              </a:rPr>
              <a:t>洛谷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10BD8A-2DCD-B921-F88E-9C8DF2650E91}"/>
              </a:ext>
            </a:extLst>
          </p:cNvPr>
          <p:cNvSpPr txBox="1"/>
          <p:nvPr/>
        </p:nvSpPr>
        <p:spPr>
          <a:xfrm>
            <a:off x="998080" y="2702560"/>
            <a:ext cx="103557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状态设计：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表示走到第</a:t>
            </a:r>
            <a:r>
              <a:rPr lang="en-US" altLang="zh-CN" dirty="0" err="1"/>
              <a:t>i</a:t>
            </a:r>
            <a:r>
              <a:rPr lang="zh-CN" altLang="en-US" dirty="0"/>
              <a:t>行第</a:t>
            </a:r>
            <a:r>
              <a:rPr lang="en-US" altLang="zh-CN" dirty="0"/>
              <a:t>j</a:t>
            </a:r>
            <a:r>
              <a:rPr lang="zh-CN" altLang="en-US" dirty="0"/>
              <a:t>个数能得到的最大的数字和。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状态转移：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][j]=max(f[i-1][j],f[i-1][j-1])+a[</a:t>
            </a:r>
            <a:r>
              <a:rPr lang="en-US" altLang="zh-CN" dirty="0" err="1"/>
              <a:t>i</a:t>
            </a:r>
            <a:r>
              <a:rPr lang="en-US" altLang="zh-CN" dirty="0"/>
              <a:t>][j]; </a:t>
            </a:r>
            <a:r>
              <a:rPr lang="zh-CN" altLang="en-US" dirty="0"/>
              <a:t>表示分别考虑最后一步是向左还是向右这两种情况。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A1C61D-DB87-7CB3-803C-0975CD011C2A}"/>
              </a:ext>
            </a:extLst>
          </p:cNvPr>
          <p:cNvSpPr txBox="1"/>
          <p:nvPr/>
        </p:nvSpPr>
        <p:spPr>
          <a:xfrm>
            <a:off x="1168400" y="4328160"/>
            <a:ext cx="5476240" cy="112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213CCA-C4F1-FB8C-3B6D-5E3210DC5466}"/>
              </a:ext>
            </a:extLst>
          </p:cNvPr>
          <p:cNvSpPr txBox="1"/>
          <p:nvPr/>
        </p:nvSpPr>
        <p:spPr>
          <a:xfrm>
            <a:off x="998080" y="4062770"/>
            <a:ext cx="59131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最终我们只需要统计最后一样的</a:t>
            </a:r>
            <a:r>
              <a:rPr lang="en-US" altLang="zh-CN" dirty="0"/>
              <a:t>f[n][1…n]</a:t>
            </a:r>
            <a:r>
              <a:rPr lang="zh-CN" altLang="en-US" dirty="0"/>
              <a:t>中的最大值，第一维小于</a:t>
            </a:r>
            <a:r>
              <a:rPr lang="en-US" altLang="zh-CN" dirty="0"/>
              <a:t>n</a:t>
            </a:r>
            <a:r>
              <a:rPr lang="zh-CN" altLang="en-US" dirty="0"/>
              <a:t>的都没用了。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当我们在计算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][1…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时候，只有</a:t>
            </a:r>
            <a:r>
              <a:rPr lang="en-US" altLang="zh-CN" dirty="0"/>
              <a:t>f[i-1][1…i-1]</a:t>
            </a:r>
            <a:r>
              <a:rPr lang="zh-CN" altLang="en-US" dirty="0"/>
              <a:t>（即第一维为</a:t>
            </a:r>
            <a:r>
              <a:rPr lang="en-US" altLang="zh-CN" dirty="0"/>
              <a:t>n-1</a:t>
            </a:r>
            <a:r>
              <a:rPr lang="zh-CN" altLang="en-US" dirty="0"/>
              <a:t>）的有用。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那么我们在递推的过程中只需要记录最后两行的</a:t>
            </a:r>
            <a:r>
              <a:rPr lang="en-US" altLang="zh-CN" dirty="0"/>
              <a:t>f[][]</a:t>
            </a:r>
            <a:r>
              <a:rPr lang="zh-CN" altLang="en-US" dirty="0"/>
              <a:t>即可。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这就是使用滚动数组来优化空间复杂度的思路。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693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58053-D20A-6424-557B-7F5E16C5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滚动数组优化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6AD00-4255-28FA-A7AB-F125AC72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数字三角形代码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9933C1-529F-C510-5028-06C8DD3E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082" y="1027906"/>
            <a:ext cx="6352518" cy="487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03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D2A20-6830-CF82-642C-82BBA0B6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294DA-043C-D5DB-F51C-518046511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使用滚动数组优化。</a:t>
            </a:r>
            <a:endParaRPr lang="en-US" altLang="zh-CN" dirty="0"/>
          </a:p>
          <a:p>
            <a:r>
              <a:rPr lang="zh-CN" altLang="en-US" dirty="0"/>
              <a:t>得到</a:t>
            </a:r>
            <a:r>
              <a:rPr lang="en-US" altLang="zh-CN" dirty="0"/>
              <a:t>50</a:t>
            </a:r>
            <a:r>
              <a:rPr lang="zh-CN" altLang="en-US" dirty="0"/>
              <a:t>分即可。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F32AC7-D281-AC93-C435-61422B13E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149" y="1089903"/>
            <a:ext cx="7497221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90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8498D-FB5D-A8C8-4A56-6AE5288D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26E38-9EEE-FD6D-FB9D-85D8465C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P1077 [NOIP2012 </a:t>
            </a:r>
            <a:r>
              <a:rPr lang="zh-CN" altLang="en-US" dirty="0">
                <a:hlinkClick r:id="rId2"/>
              </a:rPr>
              <a:t>普及组</a:t>
            </a:r>
            <a:r>
              <a:rPr lang="en-US" altLang="zh-CN" dirty="0">
                <a:hlinkClick r:id="rId2"/>
              </a:rPr>
              <a:t>] </a:t>
            </a:r>
            <a:r>
              <a:rPr lang="zh-CN" altLang="en-US" dirty="0">
                <a:hlinkClick r:id="rId2"/>
              </a:rPr>
              <a:t>摆花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洛谷 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P1233 </a:t>
            </a:r>
            <a:r>
              <a:rPr lang="zh-CN" altLang="en-US" dirty="0">
                <a:hlinkClick r:id="rId3"/>
              </a:rPr>
              <a:t>木棍加工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洛谷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P1095 [NOIP2007 </a:t>
            </a:r>
            <a:r>
              <a:rPr lang="zh-CN" altLang="en-US" dirty="0">
                <a:hlinkClick r:id="rId4"/>
              </a:rPr>
              <a:t>普及组</a:t>
            </a:r>
            <a:r>
              <a:rPr lang="en-US" altLang="zh-CN" dirty="0">
                <a:hlinkClick r:id="rId4"/>
              </a:rPr>
              <a:t>] </a:t>
            </a:r>
            <a:r>
              <a:rPr lang="zh-CN" altLang="en-US" dirty="0">
                <a:hlinkClick r:id="rId4"/>
              </a:rPr>
              <a:t>守望者的逃离 </a:t>
            </a:r>
            <a:r>
              <a:rPr lang="en-US" altLang="zh-CN" dirty="0">
                <a:hlinkClick r:id="rId4"/>
              </a:rPr>
              <a:t>- </a:t>
            </a:r>
            <a:r>
              <a:rPr lang="zh-CN" altLang="en-US" dirty="0">
                <a:hlinkClick r:id="rId4"/>
              </a:rPr>
              <a:t>洛谷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P1541 [NOIP2010 </a:t>
            </a:r>
            <a:r>
              <a:rPr lang="zh-CN" altLang="en-US" dirty="0">
                <a:hlinkClick r:id="rId5"/>
              </a:rPr>
              <a:t>提高组</a:t>
            </a:r>
            <a:r>
              <a:rPr lang="en-US" altLang="zh-CN" dirty="0">
                <a:hlinkClick r:id="rId5"/>
              </a:rPr>
              <a:t>] </a:t>
            </a:r>
            <a:r>
              <a:rPr lang="zh-CN" altLang="en-US" dirty="0">
                <a:hlinkClick r:id="rId5"/>
              </a:rPr>
              <a:t>乌龟棋 </a:t>
            </a:r>
            <a:r>
              <a:rPr lang="en-US" altLang="zh-CN" dirty="0">
                <a:hlinkClick r:id="rId5"/>
              </a:rPr>
              <a:t>- </a:t>
            </a:r>
            <a:r>
              <a:rPr lang="zh-CN" altLang="en-US" dirty="0">
                <a:hlinkClick r:id="rId5"/>
              </a:rPr>
              <a:t>洛谷 </a:t>
            </a:r>
            <a:r>
              <a:rPr lang="en-US" altLang="zh-CN" dirty="0">
                <a:hlinkClick r:id="rId5"/>
              </a:rPr>
              <a:t>|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1501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C7374-0488-718C-7F10-20DE24A4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优化引入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930E6-071C-BCC5-2087-BC6621A3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一道</a:t>
            </a:r>
            <a:r>
              <a:rPr lang="en-US" altLang="zh-CN" dirty="0" err="1"/>
              <a:t>dp</a:t>
            </a:r>
            <a:r>
              <a:rPr lang="zh-CN" altLang="en-US" dirty="0"/>
              <a:t>题，可能会有不同的状态设计方法和及对应的状态转移方法，他们的复杂度常常天差地别。聪明的</a:t>
            </a:r>
            <a:r>
              <a:rPr lang="en-US" altLang="zh-CN" dirty="0" err="1"/>
              <a:t>oier</a:t>
            </a:r>
            <a:r>
              <a:rPr lang="zh-CN" altLang="en-US" dirty="0"/>
              <a:t>总能选出适合的状态设计方法。</a:t>
            </a:r>
            <a:endParaRPr lang="en-US" altLang="zh-CN" dirty="0"/>
          </a:p>
          <a:p>
            <a:r>
              <a:rPr lang="zh-CN" altLang="en-US" dirty="0"/>
              <a:t>对于一类状态转移，常常会有一些固定的优化方法。如，二分优化，决策单调性，数据结构优化等等。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0314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2B36A-0478-E136-134D-49478293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3653E-A798-1B67-506F-55651C0CB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跳跃游戏 </a:t>
            </a:r>
            <a:r>
              <a:rPr lang="en-US" altLang="zh-CN" dirty="0">
                <a:hlinkClick r:id="rId2"/>
              </a:rPr>
              <a:t>II </a:t>
            </a:r>
            <a:r>
              <a:rPr lang="zh-CN" altLang="en-US" dirty="0">
                <a:hlinkClick r:id="rId2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059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690</Words>
  <Application>Microsoft Office PowerPoint</Application>
  <PresentationFormat>宽屏</PresentationFormat>
  <Paragraphs>56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动态规划入门</vt:lpstr>
      <vt:lpstr>PowerPoint 演示文稿</vt:lpstr>
      <vt:lpstr>数列递推</vt:lpstr>
      <vt:lpstr>PowerPoint 演示文稿</vt:lpstr>
      <vt:lpstr>一些问题能转化为数列递推</vt:lpstr>
      <vt:lpstr>dp题解题一般思路</vt:lpstr>
      <vt:lpstr>dp题的基本要求</vt:lpstr>
      <vt:lpstr>小试牛刀1</vt:lpstr>
      <vt:lpstr>小试牛刀2</vt:lpstr>
      <vt:lpstr>思考</vt:lpstr>
      <vt:lpstr>记忆化搜索</vt:lpstr>
      <vt:lpstr>小试牛刀3</vt:lpstr>
      <vt:lpstr>滚动数组优化</vt:lpstr>
      <vt:lpstr>滚动数组优化</vt:lpstr>
      <vt:lpstr>小试牛刀4</vt:lpstr>
      <vt:lpstr>练习</vt:lpstr>
      <vt:lpstr>dp优化引入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4</cp:revision>
  <dcterms:created xsi:type="dcterms:W3CDTF">2024-11-30T04:31:31Z</dcterms:created>
  <dcterms:modified xsi:type="dcterms:W3CDTF">2026-07-20T03:48:08Z</dcterms:modified>
</cp:coreProperties>
</file>