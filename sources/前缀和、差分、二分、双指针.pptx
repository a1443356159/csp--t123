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70" r:id="rId15"/>
    <p:sldId id="268" r:id="rId16"/>
    <p:sldId id="269" r:id="rId17"/>
    <p:sldId id="271" r:id="rId18"/>
    <p:sldId id="274" r:id="rId19"/>
    <p:sldId id="272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8F47701-FE66-415A-979C-D924EE9F9D4E}">
          <p14:sldIdLst>
            <p14:sldId id="256"/>
          </p14:sldIdLst>
        </p14:section>
        <p14:section name="二分" id="{0D8A988F-D978-4426-8241-B1ECEA4AA673}">
          <p14:sldIdLst>
            <p14:sldId id="273"/>
            <p14:sldId id="257"/>
            <p14:sldId id="258"/>
            <p14:sldId id="259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70"/>
            <p14:sldId id="268"/>
            <p14:sldId id="269"/>
            <p14:sldId id="271"/>
            <p14:sldId id="274"/>
          </p14:sldIdLst>
        </p14:section>
        <p14:section name="前缀和与差分" id="{91CF9E21-FCCD-49F8-9260-00C99756C4C8}">
          <p14:sldIdLst>
            <p14:sldId id="272"/>
            <p14:sldId id="275"/>
            <p14:sldId id="276"/>
            <p14:sldId id="277"/>
            <p14:sldId id="279"/>
            <p14:sldId id="280"/>
            <p14:sldId id="278"/>
            <p14:sldId id="281"/>
          </p14:sldIdLst>
        </p14:section>
        <p14:section name="双指针/尺取法" id="{8843306D-B2CB-4A32-8AAD-18283E9892E0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55870-91DF-01A7-3CB7-FE1BB6113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653D43-B137-19B6-5956-57DF9C9A9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C6804A-8126-3436-D934-DBA606027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EDD63-8234-9AF9-3610-78D048F3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D17BD-611F-352C-B0FE-89BA2E75C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75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756C7-9FA1-C120-7E16-42B6E4EA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D6511A-773D-14EB-E8C5-F245B671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108AD-4479-0920-5358-E03E74E8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5510F-D5EA-D0C3-3A59-5FC64EEA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76697E-6ABE-E6AB-BFD9-20D6F376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69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018E9-C957-E445-FD1B-9C849645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8F60A7-5052-E4DD-6267-4ABD2C8C5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CE20C6-7C42-EF26-6985-29B59D78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8E5BE7-C39C-E365-8B92-E487A1D5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CDAFB3-0483-A4DD-1386-CE9C00DD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05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AFEB6-AE1D-77EB-27B2-BF020CFD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91226-D754-4BC9-CBD4-69988E913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17C715-27B9-95EF-CB2A-AE39F0AD6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00D04B-E2E4-BCE5-9985-BD2B553C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AF4BC-7A06-84E7-49CF-E99A1B13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03A556-0C05-B6F5-E4EA-7E927C6A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83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67BE3-1B49-1BEB-10E5-4CBE3CFC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29874B-A721-3EC1-B7C4-1206049D7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A29838-3202-BB8C-7081-A7C873B26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C035BD-7471-A4F5-E61A-F45658534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EE822C-9D72-8279-B400-4E679711C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3A5E2-35DA-963D-B3F7-E95B036C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ADC145-0612-5C75-34ED-EB4BD4F57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1A4AB8-05EB-210E-1BCF-324D9933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369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824A8-6FD9-068E-8B6D-2EEEACCF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59C03C-035C-D782-9279-A654AA60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7DA86A-551E-CD8F-0A6F-2884E54A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767951-12CD-B2BF-5D35-2B819D4D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2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A5AFAC-6E10-BCDC-59BF-DE6BB02A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051EAE-0008-8960-A15F-F0C06EEA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8ECF3-3CE9-A567-88DD-A1232953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87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77955-4D5C-6D05-5CAE-5B8047F1B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2929A-CFED-12B2-C181-5CFD07FE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6C23D8-30A9-1097-AA53-F031A6AF6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A76ED4-4CC0-6CEF-E833-B25EAAB0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8E682-71E4-526A-DDA4-F3D765FB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51E7C6-13D0-5284-978F-E72AFBA2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0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3FE06-9640-0B3A-9B8D-9866FCC1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2413D3-4AF8-5E6B-300D-8223B6776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FA1F7B-D8BD-1C6D-710A-DDB300E86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8E913-1447-49CC-AB83-4ED13314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0B220-AA9F-3E3D-3BA0-7F34647E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9D1D2C-0BDB-B27B-0B20-1C314035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18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66005-EFA8-6775-6898-F2FC7C7E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3C569C-942B-0590-EEE0-24CB098DB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B9D91-EFB6-BD5F-A0B3-F59C5E7B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E07256-C096-B9E6-99A5-36D390FD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ED18F-7796-459A-4EA7-F62AEB0E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8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CD580A-5523-1A6A-9778-E447060DC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4BF52A-828E-4E6A-4A83-AA82E267C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A3659D-6E76-7D68-3BC0-E476A671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74F431-26D7-7BF3-904E-273D0E48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4372B-AAFB-BB98-6059-46EBB55D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42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EBDBA6-700B-972F-E07C-A92A75FF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D66FC7-388E-AF19-8B6A-4B455D8A9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91DB6F-0F3B-559C-E53F-D9A168C6B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C69E6-B7F8-46C2-B365-2AF954B6B80E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63137-1B51-412F-5C51-72B34EEB1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D201A5-0EA7-228C-CD34-A3DF026A1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76AC-50E2-48C4-9F0D-08EEAF01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698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37752413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362126221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89BFE-5074-8662-1432-D3A80543D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常见技巧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8330FE-EFD0-22C1-F4E3-502BFCFAE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4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611CB-E73A-14B4-1D35-2A94930E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81780E-C935-FF7B-2B83-DE0DC0C80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整数域上二分</a:t>
            </a:r>
            <a:endParaRPr lang="en-US" altLang="zh-CN" dirty="0"/>
          </a:p>
          <a:p>
            <a:r>
              <a:rPr lang="zh-CN" altLang="en-US" dirty="0"/>
              <a:t>实数域上二分</a:t>
            </a:r>
            <a:endParaRPr lang="en-US" altLang="zh-CN" dirty="0"/>
          </a:p>
          <a:p>
            <a:r>
              <a:rPr lang="zh-CN" altLang="en-US" dirty="0"/>
              <a:t>二分答案例题</a:t>
            </a:r>
            <a:endParaRPr lang="en-US" altLang="zh-CN" dirty="0"/>
          </a:p>
          <a:p>
            <a:r>
              <a:rPr lang="zh-CN" altLang="en-US" dirty="0"/>
              <a:t>拓展：分数规划，三分、爬山算法、模拟退火</a:t>
            </a:r>
          </a:p>
        </p:txBody>
      </p:sp>
    </p:spTree>
    <p:extLst>
      <p:ext uri="{BB962C8B-B14F-4D97-AF65-F5344CB8AC3E}">
        <p14:creationId xmlns:p14="http://schemas.microsoft.com/office/powerpoint/2010/main" val="416662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019D0-E9A4-68CF-A180-2529F03A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P2249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B7B116-97CC-A0CA-2CD2-7285B1514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CF68C6-056F-8AB5-D50F-CB00768B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512996" cy="302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49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865B9-F463-2C0C-83B6-39A53077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P2249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DEDF32-6B86-5963-3A0B-336C32402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std::</a:t>
            </a:r>
            <a:r>
              <a:rPr lang="en-US" altLang="zh-CN" dirty="0" err="1"/>
              <a:t>lower_bound</a:t>
            </a:r>
            <a:r>
              <a:rPr lang="zh-CN" altLang="en-US" dirty="0"/>
              <a:t>可以快速实现二分查找。</a:t>
            </a:r>
            <a:endParaRPr lang="en-US" altLang="zh-CN" dirty="0"/>
          </a:p>
          <a:p>
            <a:r>
              <a:rPr lang="zh-CN" altLang="en-US" dirty="0"/>
              <a:t>使用二分找到</a:t>
            </a:r>
            <a:r>
              <a:rPr lang="en-US" altLang="zh-CN" dirty="0"/>
              <a:t>&gt;=x</a:t>
            </a:r>
            <a:r>
              <a:rPr lang="zh-CN" altLang="en-US" dirty="0"/>
              <a:t>的最小的数的编号。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D0CFCC-E771-65B8-46C4-005C0C08C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0484"/>
            <a:ext cx="5838551" cy="389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7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DA9BB-3171-7BE4-F907-C5692F03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整数域上的二分的写法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6E73D-A75C-C725-4264-309F879D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第一种情况：找到一个序列满足某一个条件的最小的那个</a:t>
            </a:r>
            <a:r>
              <a:rPr lang="en-US" altLang="zh-CN" dirty="0"/>
              <a:t>x</a:t>
            </a:r>
            <a:r>
              <a:rPr lang="zh-CN" altLang="en-US" dirty="0"/>
              <a:t>，且有大于等于</a:t>
            </a:r>
            <a:r>
              <a:rPr lang="en-US" altLang="zh-CN" dirty="0"/>
              <a:t>x</a:t>
            </a:r>
            <a:r>
              <a:rPr lang="zh-CN" altLang="en-US" dirty="0"/>
              <a:t>都满足，小与</a:t>
            </a:r>
            <a:r>
              <a:rPr lang="en-US" altLang="zh-CN" dirty="0"/>
              <a:t>x</a:t>
            </a:r>
            <a:r>
              <a:rPr lang="zh-CN" altLang="en-US" dirty="0"/>
              <a:t>都不满足。</a:t>
            </a:r>
            <a:endParaRPr lang="en-US" altLang="zh-CN" dirty="0"/>
          </a:p>
          <a:p>
            <a:r>
              <a:rPr lang="zh-CN" altLang="en-US" dirty="0"/>
              <a:t>用一个</a:t>
            </a:r>
            <a:r>
              <a:rPr lang="en-US" altLang="zh-CN" dirty="0" err="1"/>
              <a:t>chk</a:t>
            </a:r>
            <a:r>
              <a:rPr lang="en-US" altLang="zh-CN" dirty="0"/>
              <a:t>(mid)</a:t>
            </a:r>
            <a:r>
              <a:rPr lang="zh-CN" altLang="en-US" dirty="0"/>
              <a:t>来判断是否满足条件。</a:t>
            </a:r>
            <a:endParaRPr lang="en-US" altLang="zh-CN" dirty="0"/>
          </a:p>
          <a:p>
            <a:r>
              <a:rPr lang="zh-CN" altLang="en-US" dirty="0"/>
              <a:t>最后</a:t>
            </a:r>
            <a:r>
              <a:rPr lang="en-US" altLang="zh-CN" dirty="0"/>
              <a:t>l</a:t>
            </a:r>
            <a:r>
              <a:rPr lang="zh-CN" altLang="en-US" dirty="0"/>
              <a:t>就是答案。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BB7A7C-F4B9-B176-F42D-2D1AA4A1B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63170"/>
            <a:ext cx="4332316" cy="241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1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4AEBC-F2FC-C88A-6513-33B2DE74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整数域上的二分的写法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5ADCC-6632-77F7-9945-966D438A8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第一种情况：找到一个序列满足某一个条件的最大的那个</a:t>
            </a:r>
            <a:r>
              <a:rPr lang="en-US" altLang="zh-CN" dirty="0"/>
              <a:t>x</a:t>
            </a:r>
            <a:r>
              <a:rPr lang="zh-CN" altLang="en-US" dirty="0"/>
              <a:t>，且有小于等于</a:t>
            </a:r>
            <a:r>
              <a:rPr lang="en-US" altLang="zh-CN" dirty="0"/>
              <a:t>x</a:t>
            </a:r>
            <a:r>
              <a:rPr lang="zh-CN" altLang="en-US" dirty="0"/>
              <a:t>都满足，大与</a:t>
            </a:r>
            <a:r>
              <a:rPr lang="en-US" altLang="zh-CN" dirty="0"/>
              <a:t>x</a:t>
            </a:r>
            <a:r>
              <a:rPr lang="zh-CN" altLang="en-US" dirty="0"/>
              <a:t>都不满足。</a:t>
            </a:r>
            <a:endParaRPr lang="en-US" altLang="zh-CN" dirty="0"/>
          </a:p>
          <a:p>
            <a:r>
              <a:rPr lang="zh-CN" altLang="en-US" dirty="0"/>
              <a:t>用一个</a:t>
            </a:r>
            <a:r>
              <a:rPr lang="en-US" altLang="zh-CN" dirty="0" err="1"/>
              <a:t>chk</a:t>
            </a:r>
            <a:r>
              <a:rPr lang="en-US" altLang="zh-CN" dirty="0"/>
              <a:t>(mid)</a:t>
            </a:r>
            <a:r>
              <a:rPr lang="zh-CN" altLang="en-US" dirty="0"/>
              <a:t>来判断是否满足条件。</a:t>
            </a:r>
            <a:endParaRPr lang="en-US" altLang="zh-CN" dirty="0"/>
          </a:p>
          <a:p>
            <a:r>
              <a:rPr lang="zh-CN" altLang="en-US" dirty="0"/>
              <a:t>最后</a:t>
            </a:r>
            <a:r>
              <a:rPr lang="en-US" altLang="zh-CN" dirty="0"/>
              <a:t>r</a:t>
            </a:r>
            <a:r>
              <a:rPr lang="zh-CN" altLang="en-US" dirty="0"/>
              <a:t>就是答案。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23B52F-EDDF-0578-7526-9475FB667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47430"/>
            <a:ext cx="5009851" cy="274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35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B6CDF-D269-16FA-6241-4000F47A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P1024 </a:t>
            </a:r>
            <a:r>
              <a:rPr lang="zh-CN" altLang="en-US" b="1" dirty="0"/>
              <a:t>一元三次方程求解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4E3AAB-F94E-EDA9-D081-E12079386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题意：求解一元三次方程，保证答案为</a:t>
            </a:r>
            <a:r>
              <a:rPr lang="en-US" altLang="zh-CN" dirty="0"/>
              <a:t>[-100,100]</a:t>
            </a:r>
            <a:r>
              <a:rPr lang="zh-CN" altLang="en-US" dirty="0"/>
              <a:t>内的实数。满足两个</a:t>
            </a:r>
            <a:r>
              <a:rPr lang="zh-CN" altLang="en-US"/>
              <a:t>根的差的绝对值</a:t>
            </a:r>
            <a:r>
              <a:rPr lang="zh-CN" altLang="en-US" dirty="0"/>
              <a:t>大于等于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3A2EE1-9B84-5600-96B8-8A690827DD13}"/>
              </a:ext>
            </a:extLst>
          </p:cNvPr>
          <p:cNvSpPr txBox="1"/>
          <p:nvPr/>
        </p:nvSpPr>
        <p:spPr>
          <a:xfrm>
            <a:off x="838200" y="3979025"/>
            <a:ext cx="10239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解答：枚举每个大小为</a:t>
            </a:r>
            <a:r>
              <a:rPr lang="en-US" altLang="zh-CN" sz="2800" dirty="0"/>
              <a:t>1</a:t>
            </a:r>
            <a:r>
              <a:rPr lang="zh-CN" altLang="en-US" sz="2800" dirty="0"/>
              <a:t>的区间</a:t>
            </a:r>
            <a:r>
              <a:rPr lang="en-US" altLang="zh-CN" sz="2800" dirty="0"/>
              <a:t>[l,l+1)</a:t>
            </a:r>
            <a:r>
              <a:rPr lang="zh-CN" altLang="en-US" sz="2800" dirty="0"/>
              <a:t>，该区间至多有一个根。在上面利用零点存在性定理进行二分就行。</a:t>
            </a:r>
          </a:p>
        </p:txBody>
      </p:sp>
    </p:spTree>
    <p:extLst>
      <p:ext uri="{BB962C8B-B14F-4D97-AF65-F5344CB8AC3E}">
        <p14:creationId xmlns:p14="http://schemas.microsoft.com/office/powerpoint/2010/main" val="228642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23AB8-446F-4A27-35AD-417CECE5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P1024 </a:t>
            </a:r>
            <a:r>
              <a:rPr lang="zh-CN" altLang="en-US" b="1" dirty="0"/>
              <a:t>一元三次方程求解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4E1272-B40B-F977-3358-1EDD1334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1E2E65-7599-09BD-CE55-281E0900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6863"/>
            <a:ext cx="7232073" cy="395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6D51C-E8A4-A176-FEC7-E7BEDE7E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实数域上的二分写法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AFD448-5ACA-1513-F3D8-B4D5E15E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70BE74-FFA9-C27F-5CF9-204C13875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6090"/>
            <a:ext cx="9537469" cy="228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57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6975C-2366-DA49-DB37-77F9805E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P2440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FFC8D-D3AE-0724-3B6A-3E2A9D6F7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532396-C800-6B23-3F1D-B7F7E6E9E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141527" cy="254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7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0A317-61B1-AFEB-79CE-D4AE6408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P2440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F59786-0577-4F87-3357-E2EEF2C7D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求满足条件的小段木头长度的最大值。</a:t>
            </a:r>
            <a:endParaRPr lang="en-US" altLang="zh-CN" dirty="0"/>
          </a:p>
          <a:p>
            <a:r>
              <a:rPr lang="zh-CN" altLang="en-US" dirty="0"/>
              <a:t>条件是切割的数量要</a:t>
            </a:r>
            <a:r>
              <a:rPr lang="en-US" altLang="zh-CN" dirty="0"/>
              <a:t>&gt;=k</a:t>
            </a:r>
            <a:r>
              <a:rPr lang="zh-CN" altLang="en-US" dirty="0"/>
              <a:t>，是否满足条件有单调性，可以二分查找。</a:t>
            </a:r>
          </a:p>
        </p:txBody>
      </p:sp>
    </p:spTree>
    <p:extLst>
      <p:ext uri="{BB962C8B-B14F-4D97-AF65-F5344CB8AC3E}">
        <p14:creationId xmlns:p14="http://schemas.microsoft.com/office/powerpoint/2010/main" val="2508112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BBF16-A42D-3C77-C578-53E4DEFC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P2678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E3D7A0-3B86-BB20-CE95-CA6640509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042841-BFB7-DCDB-B010-AAC862338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706675" cy="262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4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1AE14-CF8E-978C-D777-F98F306E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P2678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FD6400-454B-ACAB-DAE3-302CA032D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最短的跳跃距离尽量长，这样的语句是二分答案做法的提示词。</a:t>
            </a:r>
            <a:endParaRPr lang="en-US" altLang="zh-CN" dirty="0"/>
          </a:p>
          <a:p>
            <a:r>
              <a:rPr lang="zh-CN" altLang="en-US" dirty="0"/>
              <a:t>假设枚举最短跳跃距离</a:t>
            </a:r>
            <a:r>
              <a:rPr lang="en-US" altLang="zh-CN" dirty="0"/>
              <a:t>x</a:t>
            </a:r>
            <a:r>
              <a:rPr lang="zh-CN" altLang="en-US" dirty="0"/>
              <a:t>，那么此时相邻的石头距离就应该大于等于</a:t>
            </a:r>
            <a:r>
              <a:rPr lang="en-US" altLang="zh-CN" dirty="0"/>
              <a:t>x</a:t>
            </a:r>
            <a:r>
              <a:rPr lang="zh-CN" altLang="en-US" dirty="0"/>
              <a:t>，然后利用贪心求出这时最多能移走的石头数量，记作</a:t>
            </a:r>
            <a:r>
              <a:rPr lang="en-US" altLang="zh-CN" dirty="0"/>
              <a:t>f(x)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注意到</a:t>
            </a:r>
            <a:r>
              <a:rPr lang="en-US" altLang="zh-CN" dirty="0"/>
              <a:t>f(x)</a:t>
            </a:r>
            <a:r>
              <a:rPr lang="zh-CN" altLang="en-US" dirty="0"/>
              <a:t>是单调增加的，于是可以利用二分求出满足</a:t>
            </a:r>
            <a:r>
              <a:rPr lang="en-US" altLang="zh-CN" dirty="0"/>
              <a:t>f(x)&lt;=M</a:t>
            </a:r>
            <a:r>
              <a:rPr lang="zh-CN" altLang="en-US" dirty="0"/>
              <a:t>的最大的那个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09446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3C417-D18E-D36E-B9D5-CC1222BB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1028-3A23-3228-8215-0D9197920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进一步思考二分，发现它的关键之处在于把一个求值的问题转化为了一个判定性问题。</a:t>
            </a:r>
            <a:endParaRPr lang="en-US" altLang="zh-CN" dirty="0"/>
          </a:p>
          <a:p>
            <a:r>
              <a:rPr lang="zh-CN" altLang="en-US" dirty="0"/>
              <a:t>然后根据是否满足总是有单调性的，由此达到求值的目的。</a:t>
            </a:r>
          </a:p>
        </p:txBody>
      </p:sp>
    </p:spTree>
    <p:extLst>
      <p:ext uri="{BB962C8B-B14F-4D97-AF65-F5344CB8AC3E}">
        <p14:creationId xmlns:p14="http://schemas.microsoft.com/office/powerpoint/2010/main" val="209696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AC45C-E186-DD94-0A9B-43C1DE43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</a:t>
            </a:r>
            <a:r>
              <a:rPr lang="en-US" altLang="zh-CN" dirty="0"/>
              <a:t>1</a:t>
            </a:r>
            <a:r>
              <a:rPr lang="zh-CN" altLang="en-US" dirty="0"/>
              <a:t>：分数规划问题（可能会考）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28498DE-CFB2-F59C-2C9F-14000FDA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664931" cy="364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1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9C937-D789-2090-F5C7-743EA8A9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分数规划问题求解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A4D207-5F7D-B6F5-3A0F-8976AC26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089331" cy="357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4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D0A3A-F77A-47FD-C0A7-CC5E1BC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</a:t>
            </a:r>
            <a:r>
              <a:rPr lang="en-US" altLang="zh-CN" dirty="0"/>
              <a:t>2</a:t>
            </a:r>
            <a:r>
              <a:rPr lang="zh-CN" altLang="en-US" dirty="0"/>
              <a:t>：三分（可能会考）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217ED1-9BB1-EF6E-7E21-C98599A0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例题：求一个单峰函数的极值点（不准求导）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7517B0-B1D2-C6D1-C474-34AACC5A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2429"/>
            <a:ext cx="9687098" cy="26656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775DAA2-6090-A461-238A-7BE9F8D4CBC4}"/>
              </a:ext>
            </a:extLst>
          </p:cNvPr>
          <p:cNvSpPr txBox="1"/>
          <p:nvPr/>
        </p:nvSpPr>
        <p:spPr>
          <a:xfrm>
            <a:off x="881148" y="5309062"/>
            <a:ext cx="664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算法学习笔记</a:t>
            </a:r>
            <a:r>
              <a:rPr lang="en-US" altLang="zh-CN" dirty="0">
                <a:hlinkClick r:id="rId3"/>
              </a:rPr>
              <a:t>(62): </a:t>
            </a:r>
            <a:r>
              <a:rPr lang="zh-CN" altLang="en-US" dirty="0">
                <a:hlinkClick r:id="rId3"/>
              </a:rPr>
              <a:t>三分法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知乎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171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3B296-11AF-05FA-6609-B4A93955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</a:t>
            </a:r>
            <a:r>
              <a:rPr lang="en-US" altLang="zh-CN" dirty="0"/>
              <a:t>3</a:t>
            </a:r>
            <a:r>
              <a:rPr lang="zh-CN" altLang="en-US" dirty="0"/>
              <a:t>：爬山算法、模拟退火（不会考）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832B4-24FC-7B96-BE37-0890A5462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如果函数又不单调，又不单峰值（比如两个峰），怎么求极值点？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hlinkClick r:id="rId2"/>
              </a:rPr>
              <a:t>爬山法与模拟退火算法</a:t>
            </a:r>
            <a:r>
              <a:rPr lang="en-US" altLang="zh-CN" dirty="0">
                <a:hlinkClick r:id="rId2"/>
              </a:rPr>
              <a:t>(SA) - </a:t>
            </a:r>
            <a:r>
              <a:rPr lang="zh-CN" altLang="en-US" dirty="0">
                <a:hlinkClick r:id="rId2"/>
              </a:rPr>
              <a:t>知乎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9672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96209-B9A0-83D2-CF34-D91E5025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前缀和与差分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82303-47C6-8F4D-1AEF-FDB3CDD4F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前缀和和差分互为逆运算。</a:t>
            </a:r>
            <a:endParaRPr lang="en-US" altLang="zh-CN" dirty="0"/>
          </a:p>
          <a:p>
            <a:r>
              <a:rPr lang="zh-CN" altLang="en-US" dirty="0"/>
              <a:t>一维前缀和和差分。</a:t>
            </a:r>
            <a:endParaRPr lang="en-US" altLang="zh-CN" dirty="0"/>
          </a:p>
          <a:p>
            <a:r>
              <a:rPr lang="zh-CN" altLang="en-US" dirty="0"/>
              <a:t>二维前缀和和差分。</a:t>
            </a:r>
            <a:endParaRPr lang="en-US" altLang="zh-CN" dirty="0"/>
          </a:p>
          <a:p>
            <a:r>
              <a:rPr lang="zh-CN" altLang="en-US" dirty="0"/>
              <a:t>拓展：高维前缀和。</a:t>
            </a:r>
          </a:p>
        </p:txBody>
      </p:sp>
    </p:spTree>
    <p:extLst>
      <p:ext uri="{BB962C8B-B14F-4D97-AF65-F5344CB8AC3E}">
        <p14:creationId xmlns:p14="http://schemas.microsoft.com/office/powerpoint/2010/main" val="335311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82BE5-92CC-94E5-A273-248F4212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P8218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73640-B032-395B-C517-4A43C0735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静态的区间求和问题。</a:t>
            </a:r>
            <a:endParaRPr lang="en-US" altLang="zh-CN" dirty="0"/>
          </a:p>
          <a:p>
            <a:r>
              <a:rPr lang="zh-CN" altLang="en-US" dirty="0"/>
              <a:t>求个</a:t>
            </a:r>
            <a:r>
              <a:rPr lang="en-US" altLang="zh-CN" dirty="0"/>
              <a:t>pre[n]</a:t>
            </a:r>
            <a:r>
              <a:rPr lang="zh-CN" altLang="en-US" dirty="0"/>
              <a:t>表示</a:t>
            </a:r>
            <a:r>
              <a:rPr lang="en-US" altLang="zh-CN" dirty="0"/>
              <a:t>a[1…n]</a:t>
            </a:r>
            <a:r>
              <a:rPr lang="zh-CN" altLang="en-US" dirty="0"/>
              <a:t>之和，那么</a:t>
            </a:r>
            <a:r>
              <a:rPr lang="en-US" altLang="zh-CN" dirty="0"/>
              <a:t>a[l…r]</a:t>
            </a:r>
            <a:r>
              <a:rPr lang="zh-CN" altLang="en-US" dirty="0"/>
              <a:t>之后就是</a:t>
            </a:r>
            <a:r>
              <a:rPr lang="en-US" altLang="zh-CN" dirty="0"/>
              <a:t>pre[r]-pre[l-1]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这个</a:t>
            </a:r>
            <a:r>
              <a:rPr lang="en-US" altLang="zh-CN" dirty="0"/>
              <a:t>pre[n]</a:t>
            </a:r>
            <a:r>
              <a:rPr lang="zh-CN" altLang="en-US" dirty="0"/>
              <a:t>就称作前缀和，</a:t>
            </a:r>
            <a:r>
              <a:rPr lang="en-US" altLang="zh-CN" dirty="0"/>
              <a:t>pre</a:t>
            </a:r>
            <a:r>
              <a:rPr lang="zh-CN" altLang="en-US" dirty="0"/>
              <a:t>是</a:t>
            </a:r>
            <a:r>
              <a:rPr lang="en-US" altLang="zh-CN" dirty="0"/>
              <a:t>prefix</a:t>
            </a:r>
            <a:r>
              <a:rPr lang="zh-CN" altLang="en-US" dirty="0"/>
              <a:t>缩写。</a:t>
            </a:r>
            <a:endParaRPr lang="en-US" altLang="zh-CN" dirty="0"/>
          </a:p>
          <a:p>
            <a:r>
              <a:rPr lang="zh-CN" altLang="en-US" dirty="0"/>
              <a:t>类似的可以用</a:t>
            </a:r>
            <a:r>
              <a:rPr lang="en-US" altLang="zh-CN" dirty="0" err="1"/>
              <a:t>suf</a:t>
            </a:r>
            <a:r>
              <a:rPr lang="en-US" altLang="zh-CN" dirty="0"/>
              <a:t>[n]</a:t>
            </a:r>
            <a:r>
              <a:rPr lang="zh-CN" altLang="en-US" dirty="0"/>
              <a:t>表示后缀和，</a:t>
            </a:r>
            <a:r>
              <a:rPr lang="en-US" altLang="zh-CN" dirty="0" err="1"/>
              <a:t>suf</a:t>
            </a:r>
            <a:r>
              <a:rPr lang="zh-CN" altLang="en-US" dirty="0"/>
              <a:t>是</a:t>
            </a:r>
            <a:r>
              <a:rPr lang="en-US" altLang="zh-CN" dirty="0"/>
              <a:t>suffix</a:t>
            </a:r>
            <a:r>
              <a:rPr lang="zh-CN" altLang="en-US" dirty="0"/>
              <a:t>缩写。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5F775-C5F4-3134-23B1-9B4093CF0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31" y="1825625"/>
            <a:ext cx="10616738" cy="59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74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7FCC5-8F0E-BCA5-7E74-2CEE5399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P2367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C7AA872-0223-1B74-534E-AB7B4AF6C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8138"/>
            <a:ext cx="10515600" cy="355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54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1F75F-22A5-3785-0292-98E081D6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P2367</a:t>
            </a:r>
            <a:r>
              <a:rPr lang="zh-CN" altLang="en-US" dirty="0"/>
              <a:t>解答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B1377C-199D-9D3D-69D7-6958ED4DC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若干次区间加减操作，求最后每个元素的值。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355ECD-2340-7C59-4EB8-E7775517C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1684"/>
            <a:ext cx="6632171" cy="40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24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7ED10-A7FE-1B8A-0FA1-4BC59223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二维前缀和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F7527A9-2C17-86BB-6ACE-38E70EA7F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5808"/>
            <a:ext cx="9316750" cy="21624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43BCA6-A447-04C8-422E-BBA4A5F77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7" y="3607488"/>
            <a:ext cx="5630487" cy="296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50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89336-80AD-9150-DDC7-F9ED3A46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二维差分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D5855-3D75-CBA9-7FBE-8C99D8037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即给你</a:t>
            </a:r>
            <a:r>
              <a:rPr lang="en-US" altLang="zh-CN" dirty="0"/>
              <a:t>pre[][]</a:t>
            </a:r>
            <a:r>
              <a:rPr lang="zh-CN" altLang="en-US" dirty="0"/>
              <a:t>，让你找到对应的</a:t>
            </a:r>
            <a:r>
              <a:rPr lang="en-US" altLang="zh-CN" dirty="0"/>
              <a:t>a[][]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画画图也能发现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6AF211-B76E-81CE-E1A2-9A7EF442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2354"/>
            <a:ext cx="953585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17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F203E-3A10-3B13-2C29-1A71FE55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P13787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16FDE-71C4-E2C6-7C38-532FC2DB8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多次矩形加操作，最后求每个位置的值。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973622-EB23-8A6A-DF70-B860EB6B0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0299"/>
            <a:ext cx="8007634" cy="40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58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DE12F-F4DA-FAD9-F541-299133D6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拓展：高维前缀和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F56328-D381-55D2-DC20-29AD481D0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0668"/>
            <a:ext cx="10379826" cy="32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67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C477-7FB1-93BA-D18F-B133A3F3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尺取法</a:t>
            </a:r>
            <a:r>
              <a:rPr lang="en-US" altLang="zh-CN" dirty="0"/>
              <a:t>/</a:t>
            </a:r>
            <a:r>
              <a:rPr lang="zh-CN" altLang="en-US" dirty="0"/>
              <a:t>双指针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B449603-48ED-8051-4A55-D0359E691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324" y="1520742"/>
            <a:ext cx="10515600" cy="261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02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6F952-8E3C-98A6-B302-71451AEE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Leetcode</a:t>
            </a:r>
            <a:r>
              <a:rPr lang="en-US" altLang="zh-CN" dirty="0"/>
              <a:t> 713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22C1C8E-995A-31A6-DD25-BB2026851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27993"/>
            <a:ext cx="10515600" cy="125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48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C8A15-DF24-ABDE-9281-257495DA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Leetcode</a:t>
            </a:r>
            <a:r>
              <a:rPr lang="en-US" altLang="zh-CN" dirty="0"/>
              <a:t> 713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B4D88DC-A5D9-6273-B152-049C068CB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17854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C05DA2B-2C46-4308-581D-FB7ED7DB781D}"/>
              </a:ext>
            </a:extLst>
          </p:cNvPr>
          <p:cNvSpPr txBox="1"/>
          <p:nvPr/>
        </p:nvSpPr>
        <p:spPr>
          <a:xfrm>
            <a:off x="838200" y="4267200"/>
            <a:ext cx="578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其本质是：随着枚举的区间</a:t>
            </a:r>
            <a:r>
              <a:rPr lang="en-US" altLang="zh-CN" dirty="0"/>
              <a:t>r</a:t>
            </a:r>
            <a:r>
              <a:rPr lang="zh-CN" altLang="en-US" dirty="0"/>
              <a:t>递增，</a:t>
            </a:r>
            <a:r>
              <a:rPr lang="en-US" altLang="zh-CN" dirty="0"/>
              <a:t>l</a:t>
            </a:r>
            <a:r>
              <a:rPr lang="zh-CN" altLang="en-US" dirty="0"/>
              <a:t>是单调不减的。</a:t>
            </a:r>
          </a:p>
        </p:txBody>
      </p:sp>
    </p:spTree>
    <p:extLst>
      <p:ext uri="{BB962C8B-B14F-4D97-AF65-F5344CB8AC3E}">
        <p14:creationId xmlns:p14="http://schemas.microsoft.com/office/powerpoint/2010/main" val="3513584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C7939-492B-8E31-F171-54E43E38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Leetcode</a:t>
            </a:r>
            <a:r>
              <a:rPr lang="en-US" altLang="zh-CN" dirty="0"/>
              <a:t> 713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678C5-39F7-E17A-4248-63D29E94F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9DA3BE-34A3-41D2-D311-576DB689A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952509" cy="252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85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7B0A9-7218-FC27-5D08-B0C4C994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P1102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6FCD3EB-6B4E-AC55-5E7C-A0BA43077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7599"/>
            <a:ext cx="10515600" cy="101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05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39532-C80D-9686-C36D-408B99CC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P1102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2057AC-F52F-5964-1F75-FFDD0515A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做法</a:t>
            </a:r>
            <a:r>
              <a:rPr lang="en-US" altLang="zh-CN" dirty="0"/>
              <a:t>1</a:t>
            </a:r>
            <a:r>
              <a:rPr lang="zh-CN" altLang="en-US" dirty="0"/>
              <a:t>：使用二分</a:t>
            </a:r>
            <a:endParaRPr lang="en-US" altLang="zh-CN" dirty="0"/>
          </a:p>
          <a:p>
            <a:r>
              <a:rPr lang="zh-CN" altLang="en-US" dirty="0"/>
              <a:t>做法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std::map</a:t>
            </a:r>
          </a:p>
          <a:p>
            <a:r>
              <a:rPr lang="zh-CN" altLang="en-US" dirty="0"/>
              <a:t>做法</a:t>
            </a:r>
            <a:r>
              <a:rPr lang="en-US" altLang="zh-CN" dirty="0"/>
              <a:t>3</a:t>
            </a:r>
            <a:r>
              <a:rPr lang="zh-CN" altLang="en-US" dirty="0"/>
              <a:t>：双指针</a:t>
            </a:r>
          </a:p>
        </p:txBody>
      </p:sp>
    </p:spTree>
    <p:extLst>
      <p:ext uri="{BB962C8B-B14F-4D97-AF65-F5344CB8AC3E}">
        <p14:creationId xmlns:p14="http://schemas.microsoft.com/office/powerpoint/2010/main" val="4030459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DD3A6-A509-53CE-5837-9EC4D1D1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P1102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8F43F0-9920-730C-2180-9EB45F9D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570720" cy="440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12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8DEA8-04E0-18CB-AF1A-BCB1E5F6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P1102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D9E361-D8ED-1D35-650F-ADB1DAAE3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29D0C9-55E8-F5ED-06B0-7F0F14A00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3582"/>
            <a:ext cx="6770716" cy="416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8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732</Words>
  <Application>Microsoft Office PowerPoint</Application>
  <PresentationFormat>宽屏</PresentationFormat>
  <Paragraphs>78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主题​​</vt:lpstr>
      <vt:lpstr>常见技巧</vt:lpstr>
      <vt:lpstr>二分</vt:lpstr>
      <vt:lpstr>P2249</vt:lpstr>
      <vt:lpstr>P2249</vt:lpstr>
      <vt:lpstr>整数域上的二分的写法</vt:lpstr>
      <vt:lpstr>整数域上的二分的写法</vt:lpstr>
      <vt:lpstr>P1024 一元三次方程求解</vt:lpstr>
      <vt:lpstr>P1024 一元三次方程求解</vt:lpstr>
      <vt:lpstr>实数域上的二分写法</vt:lpstr>
      <vt:lpstr>P2440</vt:lpstr>
      <vt:lpstr>P2440</vt:lpstr>
      <vt:lpstr>P2678</vt:lpstr>
      <vt:lpstr>P2678</vt:lpstr>
      <vt:lpstr>小结</vt:lpstr>
      <vt:lpstr>拓展1：分数规划问题（可能会考）</vt:lpstr>
      <vt:lpstr>分数规划问题求解</vt:lpstr>
      <vt:lpstr>拓展2：三分（可能会考）</vt:lpstr>
      <vt:lpstr>拓展3：爬山算法、模拟退火（不会考）</vt:lpstr>
      <vt:lpstr>前缀和与差分</vt:lpstr>
      <vt:lpstr>P8218</vt:lpstr>
      <vt:lpstr>P2367</vt:lpstr>
      <vt:lpstr>P2367解答</vt:lpstr>
      <vt:lpstr>二维前缀和</vt:lpstr>
      <vt:lpstr>二维差分</vt:lpstr>
      <vt:lpstr>P13787</vt:lpstr>
      <vt:lpstr>拓展：高维前缀和</vt:lpstr>
      <vt:lpstr>尺取法/双指针</vt:lpstr>
      <vt:lpstr>Leetcode 713</vt:lpstr>
      <vt:lpstr>Leetcode 713</vt:lpstr>
      <vt:lpstr>Leetcode 713</vt:lpstr>
      <vt:lpstr>P1102</vt:lpstr>
      <vt:lpstr>P1102</vt:lpstr>
      <vt:lpstr>P1102</vt:lpstr>
      <vt:lpstr>P1102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92</cp:revision>
  <dcterms:created xsi:type="dcterms:W3CDTF">2025-09-11T06:32:23Z</dcterms:created>
  <dcterms:modified xsi:type="dcterms:W3CDTF">2025-09-27T06:19:34Z</dcterms:modified>
</cp:coreProperties>
</file>