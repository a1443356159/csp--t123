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4"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2" r:id="rId25"/>
    <p:sldId id="283" r:id="rId26"/>
    <p:sldId id="284" r:id="rId27"/>
    <p:sldId id="279" r:id="rId28"/>
    <p:sldId id="280" r:id="rId29"/>
    <p:sldId id="281"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5" r:id="rId49"/>
    <p:sldId id="303" r:id="rId50"/>
    <p:sldId id="304" r:id="rId51"/>
    <p:sldId id="306" r:id="rId52"/>
    <p:sldId id="307" r:id="rId53"/>
    <p:sldId id="308" r:id="rId5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前言" id="{68C81077-431C-46AF-9EE1-7007E7938ED9}">
          <p14:sldIdLst>
            <p14:sldId id="256"/>
            <p14:sldId id="257"/>
          </p14:sldIdLst>
        </p14:section>
        <p14:section name="01背包" id="{372C580E-6D73-4727-8E1B-020D03941192}">
          <p14:sldIdLst>
            <p14:sldId id="258"/>
            <p14:sldId id="259"/>
            <p14:sldId id="261"/>
            <p14:sldId id="260"/>
            <p14:sldId id="262"/>
            <p14:sldId id="264"/>
          </p14:sldIdLst>
        </p14:section>
        <p14:section name="完全背包" id="{7B40CA15-D2E3-4603-BCF6-E06C26BE8DB6}">
          <p14:sldIdLst>
            <p14:sldId id="263"/>
            <p14:sldId id="265"/>
            <p14:sldId id="266"/>
            <p14:sldId id="267"/>
          </p14:sldIdLst>
        </p14:section>
        <p14:section name="多重背包问题" id="{0785441D-93CA-4067-973F-DCC8A7CB660F}">
          <p14:sldIdLst>
            <p14:sldId id="268"/>
            <p14:sldId id="269"/>
            <p14:sldId id="270"/>
            <p14:sldId id="271"/>
            <p14:sldId id="272"/>
          </p14:sldIdLst>
        </p14:section>
        <p14:section name="习题" id="{175061D1-B035-43CB-90CC-CB97C6D3F3FA}">
          <p14:sldIdLst>
            <p14:sldId id="273"/>
          </p14:sldIdLst>
        </p14:section>
        <p14:section name="作业评讲" id="{BDF88FA3-2CBA-43AD-BDA7-64C6A04E2F2F}">
          <p14:sldIdLst>
            <p14:sldId id="274"/>
            <p14:sldId id="275"/>
            <p14:sldId id="276"/>
            <p14:sldId id="277"/>
            <p14:sldId id="278"/>
          </p14:sldIdLst>
        </p14:section>
        <p14:section name="分组背包" id="{4C069705-552A-49D5-935E-E5F153322C1F}">
          <p14:sldIdLst>
            <p14:sldId id="282"/>
            <p14:sldId id="283"/>
            <p14:sldId id="284"/>
          </p14:sldIdLst>
        </p14:section>
        <p14:section name="混合背包" id="{A5B8E198-962E-4AEE-AB4B-0105ED4909E2}">
          <p14:sldIdLst>
            <p14:sldId id="279"/>
            <p14:sldId id="280"/>
          </p14:sldIdLst>
        </p14:section>
        <p14:section name="多维背包" id="{A3505C89-5C1D-4B0F-A86B-88C4EE198105}">
          <p14:sldIdLst>
            <p14:sldId id="281"/>
            <p14:sldId id="285"/>
          </p14:sldIdLst>
        </p14:section>
        <p14:section name="习题" id="{A067AF98-41AF-4B27-9ABF-5CB44E4F1CAF}">
          <p14:sldIdLst>
            <p14:sldId id="286"/>
          </p14:sldIdLst>
        </p14:section>
        <p14:section name="作业评讲" id="{FC3FD800-C5BB-4037-96CB-B148734BD4EA}">
          <p14:sldIdLst>
            <p14:sldId id="287"/>
            <p14:sldId id="288"/>
            <p14:sldId id="289"/>
            <p14:sldId id="290"/>
            <p14:sldId id="291"/>
            <p14:sldId id="292"/>
            <p14:sldId id="293"/>
            <p14:sldId id="294"/>
            <p14:sldId id="295"/>
          </p14:sldIdLst>
        </p14:section>
        <p14:section name="习题课" id="{34944361-02CD-48B1-B7B7-701A961FD73C}">
          <p14:sldIdLst>
            <p14:sldId id="296"/>
            <p14:sldId id="297"/>
            <p14:sldId id="298"/>
            <p14:sldId id="299"/>
            <p14:sldId id="300"/>
            <p14:sldId id="301"/>
            <p14:sldId id="302"/>
            <p14:sldId id="305"/>
            <p14:sldId id="303"/>
            <p14:sldId id="304"/>
            <p14:sldId id="306"/>
            <p14:sldId id="307"/>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6" d="100"/>
          <a:sy n="96" d="100"/>
        </p:scale>
        <p:origin x="159"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1T08:47:59.605"/>
    </inkml:context>
    <inkml:brush xml:id="br0">
      <inkml:brushProperty name="width" value="0.05" units="cm"/>
      <inkml:brushProperty name="height" value="0.05" units="cm"/>
      <inkml:brushProperty name="color" value="#E71224"/>
    </inkml:brush>
  </inkml:definitions>
  <inkml:trace contextRef="#ctx0" brushRef="#br0">0 1 24575,'8'0'0,"0"1"0,-1 0 0,1 1 0,-1-1 0,0 1 0,1 1 0,-1 0 0,0 0 0,0 0 0,0 1 0,-1 0 0,1 0 0,-1 0 0,7 8 0,-2-2 0,-1 0 0,-1 0 0,0 1 0,-1 0 0,0 0 0,13 25 0,-13-21 0,2 0 0,0 0 0,16 18 0,-14-20 0,-2 1 0,0 0 0,12 22 0,10 24 12,-17-33-311,18 45-1,-26-59 275,0 1 0,0-1 0,1 0 0,11 13-1,-9-11 29,0-1 0,12 25 0,-7-3-385,-8-18 348,1-1 1,0 1-1,1-2 0,1 1 0,1-1 0,0-1 1,15 16-1,-6-9 244,-1 2-1,-2 0 1,25 43 0,-25-41 195,77 101-293,-86-115-231,1 3-193,1 0 1,0-1-1,14 14 1,-11-16-6515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1T08:47:59.974"/>
    </inkml:context>
    <inkml:brush xml:id="br0">
      <inkml:brushProperty name="width" value="0.05" units="cm"/>
      <inkml:brushProperty name="height" value="0.05" units="cm"/>
      <inkml:brushProperty name="color" value="#E71224"/>
    </inkml:brush>
  </inkml:definitions>
  <inkml:trace contextRef="#ctx0" brushRef="#br0">1364 0 24575,'-1'10'0,"0"0"0,0 0 0,-1 0 0,-1 0 0,1 0 0,-2 0 0,1-1 0,-1 0 0,-1 1 0,0-2 0,0 1 0,0 0 0,-11 10 0,-49 94 0,37-63 0,24-41 0,0 1 0,0-1 0,1 1 0,-3 14 0,4-15 0,0-1 0,0 0 0,-1 1 0,0-1 0,-1 0 0,0-1 0,-4 9 0,-45 64-1046,30-43 344,-35 44 0,21-34 414,23-27 295,-1-1 0,-1-1 0,-29 26 0,-96 83-7,11-8 0,-75 53-890,129-124 890,10-7 0,-36 20 1002,78-47-403,-1 0 0,-28 11 0,-5 3-1334,34-15-5920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1T08:48:00.826"/>
    </inkml:context>
    <inkml:brush xml:id="br0">
      <inkml:brushProperty name="width" value="0.05" units="cm"/>
      <inkml:brushProperty name="height" value="0.05" units="cm"/>
      <inkml:brushProperty name="color" value="#E71224"/>
    </inkml:brush>
  </inkml:definitions>
  <inkml:trace contextRef="#ctx0" brushRef="#br0">0 0 24575,'3'0'0,"-1"1"0,0-1 0,0 0 0,1 1 0,-1-1 0,0 1 0,0 0 0,0-1 0,1 1 0,-1 0 0,0 1 0,0-1 0,0 0 0,-1 0 0,1 1 0,0-1 0,2 4 0,0-1 0,-1 1 0,0 0 0,0 0 0,0-1 0,0 2 0,-1-1 0,2 6 0,1 7 0,0 0 0,-2 0 0,3 28 0,-4 246 0,-4-151 0,2-136-1365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1T08:48:01.124"/>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1T08:48:01.601"/>
    </inkml:context>
    <inkml:brush xml:id="br0">
      <inkml:brushProperty name="width" value="0.05" units="cm"/>
      <inkml:brushProperty name="height" value="0.05" units="cm"/>
      <inkml:brushProperty name="color" value="#E71224"/>
    </inkml:brush>
  </inkml:definitions>
  <inkml:trace contextRef="#ctx0" brushRef="#br0">1 1 24575,'5'0'0,"6"0"0,11 0 0,6 0 0,4 0 0,1 0 0,4 0 0,1 0 0,-1 0 0,-2 0 0,-8 9 0,-2 4 0,2-1 0,-1-2-8191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1T08:48:01.958"/>
    </inkml:context>
    <inkml:brush xml:id="br0">
      <inkml:brushProperty name="width" value="0.05" units="cm"/>
      <inkml:brushProperty name="height" value="0.05" units="cm"/>
      <inkml:brushProperty name="color" value="#E71224"/>
    </inkml:brush>
  </inkml:definitions>
  <inkml:trace contextRef="#ctx0" brushRef="#br0">1 0 24575,'0'10'0,"0"7"0,0 6 0,0 4 0,0 2 0,5 6 0,2 2 0,-1-1 0,-1-2 0,-1-1 0,-2 2 0,-1 1 0,-1-1 0,5-2 0,1-1 0,0 3 0,-1 0 0,-2-6-8191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1T08:48:02.644"/>
    </inkml:context>
    <inkml:brush xml:id="br0">
      <inkml:brushProperty name="width" value="0.05" units="cm"/>
      <inkml:brushProperty name="height" value="0.05" units="cm"/>
      <inkml:brushProperty name="color" value="#E71224"/>
    </inkml:brush>
  </inkml:definitions>
  <inkml:trace contextRef="#ctx0" brushRef="#br0">1 18 24575,'4'0'0,"12"0"0,8 0 0,4 0 0,3 0 0,0 0 0,-4-5 0,2-1 0,1 0 0,-4 11 0,-7 4-8191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1T08:48:03.125"/>
    </inkml:context>
    <inkml:brush xml:id="br0">
      <inkml:brushProperty name="width" value="0.05" units="cm"/>
      <inkml:brushProperty name="height" value="0.05" units="cm"/>
      <inkml:brushProperty name="color" value="#E71224"/>
    </inkml:brush>
  </inkml:definitions>
  <inkml:trace contextRef="#ctx0" brushRef="#br0">28 0 24575,'0'769'0,"-1"-743"0,-2 0 0,-7 34 0,5-38 0,2 1 0,0 0 0,0 34 0,4-54 0,-1 1 0,1-1 0,-1 0 0,1 0 0,0 0 0,0 0 0,1 0 0,-1 0 0,1 0 0,-1 0 0,1 0 0,0-1 0,0 1 0,0-1 0,0 1 0,0-1 0,1 0 0,-1 0 0,1 0 0,0 0 0,-1 0 0,1-1 0,0 1 0,0-1 0,0 0 0,0 0 0,0 0 0,0 0 0,0 0 0,7 0 0,10 2 0,0-2 0,0 0 0,39-3 0,-34 0 0,213-2-1365,-212 4-5461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1T08:48:04.038"/>
    </inkml:context>
    <inkml:brush xml:id="br0">
      <inkml:brushProperty name="width" value="0.05" units="cm"/>
      <inkml:brushProperty name="height" value="0.05" units="cm"/>
      <inkml:brushProperty name="color" value="#E71224"/>
    </inkml:brush>
  </inkml:definitions>
  <inkml:trace contextRef="#ctx0" brushRef="#br0">1 1 24575,'35'0'0,"117"4"0,-131-1 0,0 0 0,0 1 0,0 1 0,-1 1 0,24 10 0,-39-14 0,-1 1 0,0-1 0,0 1 0,0 1 0,0-1 0,-1 0 0,1 1 0,-1 0 0,0 0 0,0 0 0,0 0 0,0 0 0,-1 1 0,0-1 0,0 1 0,0 0 0,0-1 0,-1 1 0,0 0 0,0 0 0,1 8 0,0 13 0,0 0 0,-4 52 0,0-43 0,-3 11 0,-1 0 0,-3-1 0,-1 0 0,-21 55 0,9-28 0,-10 56 0,26-99 0,-2-1 0,-2 0 0,-21 45 0,20-50 0,2-1 0,0 2 0,1-1 0,1 1 0,-7 47 0,1 45 0,-3 72 0,17-128 0,-2 48 0,0-104-36,1-1 0,-1 0 0,0 0 1,0 1-1,0-1 0,0 0 0,0 0 0,-1 0 0,0 0 0,1 0 0,-1-1 0,0 1 0,0 0 0,-1-1 0,1 1 0,0-1 0,-1 0 1,0 0-1,1 0 0,-1 0 0,0 0 0,0-1 0,0 1 0,0-1 0,0 0 0,0 0 0,-1 0 0,1 0 0,0-1 0,-1 1 0,1-1 1,0 0-1,-1 0 0,1 0 0,0 0 0,-1 0 0,-5-2 0,-12-4-6790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91E303-C934-8BD1-2D32-71910027EA7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FC01BD6-FC33-8FD9-6198-3FC51D0567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BC3E444-9322-585C-4475-AC2E0C009FA5}"/>
              </a:ext>
            </a:extLst>
          </p:cNvPr>
          <p:cNvSpPr>
            <a:spLocks noGrp="1"/>
          </p:cNvSpPr>
          <p:nvPr>
            <p:ph type="dt" sz="half" idx="10"/>
          </p:nvPr>
        </p:nvSpPr>
        <p:spPr/>
        <p:txBody>
          <a:bodyPr/>
          <a:lstStyle/>
          <a:p>
            <a:fld id="{9FBBA832-AE5B-4E72-804E-9A6C893C5CA3}" type="datetimeFigureOut">
              <a:rPr lang="zh-CN" altLang="en-US" smtClean="0"/>
              <a:t>2025/9/14</a:t>
            </a:fld>
            <a:endParaRPr lang="zh-CN" altLang="en-US"/>
          </a:p>
        </p:txBody>
      </p:sp>
      <p:sp>
        <p:nvSpPr>
          <p:cNvPr id="5" name="页脚占位符 4">
            <a:extLst>
              <a:ext uri="{FF2B5EF4-FFF2-40B4-BE49-F238E27FC236}">
                <a16:creationId xmlns:a16="http://schemas.microsoft.com/office/drawing/2014/main" id="{54846F13-5BAC-D9D5-60CB-9227919FFDE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E96D2BF-18E1-3A53-AAB9-782A134818FD}"/>
              </a:ext>
            </a:extLst>
          </p:cNvPr>
          <p:cNvSpPr>
            <a:spLocks noGrp="1"/>
          </p:cNvSpPr>
          <p:nvPr>
            <p:ph type="sldNum" sz="quarter" idx="12"/>
          </p:nvPr>
        </p:nvSpPr>
        <p:spPr/>
        <p:txBody>
          <a:bodyPr/>
          <a:lstStyle/>
          <a:p>
            <a:fld id="{26AB8CFB-242F-4E47-831A-73421F75241C}" type="slidenum">
              <a:rPr lang="zh-CN" altLang="en-US" smtClean="0"/>
              <a:t>‹#›</a:t>
            </a:fld>
            <a:endParaRPr lang="zh-CN" altLang="en-US"/>
          </a:p>
        </p:txBody>
      </p:sp>
    </p:spTree>
    <p:extLst>
      <p:ext uri="{BB962C8B-B14F-4D97-AF65-F5344CB8AC3E}">
        <p14:creationId xmlns:p14="http://schemas.microsoft.com/office/powerpoint/2010/main" val="2004232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90AC48-56DF-B4DF-0358-1528BBC9964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B26635-418E-22D7-DE49-A226EB9483E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3A3C27D-7C03-C5CB-5F04-7E64169F96A2}"/>
              </a:ext>
            </a:extLst>
          </p:cNvPr>
          <p:cNvSpPr>
            <a:spLocks noGrp="1"/>
          </p:cNvSpPr>
          <p:nvPr>
            <p:ph type="dt" sz="half" idx="10"/>
          </p:nvPr>
        </p:nvSpPr>
        <p:spPr/>
        <p:txBody>
          <a:bodyPr/>
          <a:lstStyle/>
          <a:p>
            <a:fld id="{9FBBA832-AE5B-4E72-804E-9A6C893C5CA3}" type="datetimeFigureOut">
              <a:rPr lang="zh-CN" altLang="en-US" smtClean="0"/>
              <a:t>2025/9/14</a:t>
            </a:fld>
            <a:endParaRPr lang="zh-CN" altLang="en-US"/>
          </a:p>
        </p:txBody>
      </p:sp>
      <p:sp>
        <p:nvSpPr>
          <p:cNvPr id="5" name="页脚占位符 4">
            <a:extLst>
              <a:ext uri="{FF2B5EF4-FFF2-40B4-BE49-F238E27FC236}">
                <a16:creationId xmlns:a16="http://schemas.microsoft.com/office/drawing/2014/main" id="{789210CE-C9F2-64E6-94A4-02143EE47BA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15B932B-C6FB-F6B3-F48A-1C2185CC5489}"/>
              </a:ext>
            </a:extLst>
          </p:cNvPr>
          <p:cNvSpPr>
            <a:spLocks noGrp="1"/>
          </p:cNvSpPr>
          <p:nvPr>
            <p:ph type="sldNum" sz="quarter" idx="12"/>
          </p:nvPr>
        </p:nvSpPr>
        <p:spPr/>
        <p:txBody>
          <a:bodyPr/>
          <a:lstStyle/>
          <a:p>
            <a:fld id="{26AB8CFB-242F-4E47-831A-73421F75241C}" type="slidenum">
              <a:rPr lang="zh-CN" altLang="en-US" smtClean="0"/>
              <a:t>‹#›</a:t>
            </a:fld>
            <a:endParaRPr lang="zh-CN" altLang="en-US"/>
          </a:p>
        </p:txBody>
      </p:sp>
    </p:spTree>
    <p:extLst>
      <p:ext uri="{BB962C8B-B14F-4D97-AF65-F5344CB8AC3E}">
        <p14:creationId xmlns:p14="http://schemas.microsoft.com/office/powerpoint/2010/main" val="3852469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4557F2-23E6-7262-6097-52972F8CF42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8579700-6609-2C83-19DA-3E1551CB4B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4BBDD31-9054-85F3-CE17-012B7EABD0BA}"/>
              </a:ext>
            </a:extLst>
          </p:cNvPr>
          <p:cNvSpPr>
            <a:spLocks noGrp="1"/>
          </p:cNvSpPr>
          <p:nvPr>
            <p:ph type="dt" sz="half" idx="10"/>
          </p:nvPr>
        </p:nvSpPr>
        <p:spPr/>
        <p:txBody>
          <a:bodyPr/>
          <a:lstStyle/>
          <a:p>
            <a:fld id="{9FBBA832-AE5B-4E72-804E-9A6C893C5CA3}" type="datetimeFigureOut">
              <a:rPr lang="zh-CN" altLang="en-US" smtClean="0"/>
              <a:t>2025/9/14</a:t>
            </a:fld>
            <a:endParaRPr lang="zh-CN" altLang="en-US"/>
          </a:p>
        </p:txBody>
      </p:sp>
      <p:sp>
        <p:nvSpPr>
          <p:cNvPr id="5" name="页脚占位符 4">
            <a:extLst>
              <a:ext uri="{FF2B5EF4-FFF2-40B4-BE49-F238E27FC236}">
                <a16:creationId xmlns:a16="http://schemas.microsoft.com/office/drawing/2014/main" id="{DAA14DEE-C44D-9247-E514-FFC667733DE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392C3C2-79BC-FE40-BAC2-31BF76F5C8CD}"/>
              </a:ext>
            </a:extLst>
          </p:cNvPr>
          <p:cNvSpPr>
            <a:spLocks noGrp="1"/>
          </p:cNvSpPr>
          <p:nvPr>
            <p:ph type="sldNum" sz="quarter" idx="12"/>
          </p:nvPr>
        </p:nvSpPr>
        <p:spPr/>
        <p:txBody>
          <a:bodyPr/>
          <a:lstStyle/>
          <a:p>
            <a:fld id="{26AB8CFB-242F-4E47-831A-73421F75241C}" type="slidenum">
              <a:rPr lang="zh-CN" altLang="en-US" smtClean="0"/>
              <a:t>‹#›</a:t>
            </a:fld>
            <a:endParaRPr lang="zh-CN" altLang="en-US"/>
          </a:p>
        </p:txBody>
      </p:sp>
    </p:spTree>
    <p:extLst>
      <p:ext uri="{BB962C8B-B14F-4D97-AF65-F5344CB8AC3E}">
        <p14:creationId xmlns:p14="http://schemas.microsoft.com/office/powerpoint/2010/main" val="1306426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00F1C3-5A15-AA5F-268E-FDC72FC2A9C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49A383-9E23-FB0D-00B6-D4B16CE1219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AA5CD1A-CFD0-32B4-F406-227A3EF5CDF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81722C0-8908-BCBC-8F5A-81961657E94C}"/>
              </a:ext>
            </a:extLst>
          </p:cNvPr>
          <p:cNvSpPr>
            <a:spLocks noGrp="1"/>
          </p:cNvSpPr>
          <p:nvPr>
            <p:ph type="dt" sz="half" idx="10"/>
          </p:nvPr>
        </p:nvSpPr>
        <p:spPr/>
        <p:txBody>
          <a:bodyPr/>
          <a:lstStyle/>
          <a:p>
            <a:fld id="{9FBBA832-AE5B-4E72-804E-9A6C893C5CA3}" type="datetimeFigureOut">
              <a:rPr lang="zh-CN" altLang="en-US" smtClean="0"/>
              <a:t>2025/9/14</a:t>
            </a:fld>
            <a:endParaRPr lang="zh-CN" altLang="en-US"/>
          </a:p>
        </p:txBody>
      </p:sp>
      <p:sp>
        <p:nvSpPr>
          <p:cNvPr id="6" name="页脚占位符 5">
            <a:extLst>
              <a:ext uri="{FF2B5EF4-FFF2-40B4-BE49-F238E27FC236}">
                <a16:creationId xmlns:a16="http://schemas.microsoft.com/office/drawing/2014/main" id="{44950E5A-C250-CF91-75CC-D3D18FDEB38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236B3C5-CE5A-5ED5-F72A-139064E98EC9}"/>
              </a:ext>
            </a:extLst>
          </p:cNvPr>
          <p:cNvSpPr>
            <a:spLocks noGrp="1"/>
          </p:cNvSpPr>
          <p:nvPr>
            <p:ph type="sldNum" sz="quarter" idx="12"/>
          </p:nvPr>
        </p:nvSpPr>
        <p:spPr/>
        <p:txBody>
          <a:bodyPr/>
          <a:lstStyle/>
          <a:p>
            <a:fld id="{26AB8CFB-242F-4E47-831A-73421F75241C}" type="slidenum">
              <a:rPr lang="zh-CN" altLang="en-US" smtClean="0"/>
              <a:t>‹#›</a:t>
            </a:fld>
            <a:endParaRPr lang="zh-CN" altLang="en-US"/>
          </a:p>
        </p:txBody>
      </p:sp>
    </p:spTree>
    <p:extLst>
      <p:ext uri="{BB962C8B-B14F-4D97-AF65-F5344CB8AC3E}">
        <p14:creationId xmlns:p14="http://schemas.microsoft.com/office/powerpoint/2010/main" val="3323101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DAC0A0-B4CC-796A-6AFE-7C794E70FBF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6286807-C615-3E44-6A79-D8EEC685FA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F6EE048-BC78-28FC-24C2-C16BB10E78C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26D22E4-AE25-C8E4-E523-8B29D9BA06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208CB75-3DAA-DB0D-BD2B-37AA20EA545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187364B-3166-B951-190E-C5129A84506B}"/>
              </a:ext>
            </a:extLst>
          </p:cNvPr>
          <p:cNvSpPr>
            <a:spLocks noGrp="1"/>
          </p:cNvSpPr>
          <p:nvPr>
            <p:ph type="dt" sz="half" idx="10"/>
          </p:nvPr>
        </p:nvSpPr>
        <p:spPr/>
        <p:txBody>
          <a:bodyPr/>
          <a:lstStyle/>
          <a:p>
            <a:fld id="{9FBBA832-AE5B-4E72-804E-9A6C893C5CA3}" type="datetimeFigureOut">
              <a:rPr lang="zh-CN" altLang="en-US" smtClean="0"/>
              <a:t>2025/9/14</a:t>
            </a:fld>
            <a:endParaRPr lang="zh-CN" altLang="en-US"/>
          </a:p>
        </p:txBody>
      </p:sp>
      <p:sp>
        <p:nvSpPr>
          <p:cNvPr id="8" name="页脚占位符 7">
            <a:extLst>
              <a:ext uri="{FF2B5EF4-FFF2-40B4-BE49-F238E27FC236}">
                <a16:creationId xmlns:a16="http://schemas.microsoft.com/office/drawing/2014/main" id="{4900D6CC-7CFA-043C-30EB-E039D9BF24D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AF3CF78-09DB-08D3-349A-61D98091DF79}"/>
              </a:ext>
            </a:extLst>
          </p:cNvPr>
          <p:cNvSpPr>
            <a:spLocks noGrp="1"/>
          </p:cNvSpPr>
          <p:nvPr>
            <p:ph type="sldNum" sz="quarter" idx="12"/>
          </p:nvPr>
        </p:nvSpPr>
        <p:spPr/>
        <p:txBody>
          <a:bodyPr/>
          <a:lstStyle/>
          <a:p>
            <a:fld id="{26AB8CFB-242F-4E47-831A-73421F75241C}" type="slidenum">
              <a:rPr lang="zh-CN" altLang="en-US" smtClean="0"/>
              <a:t>‹#›</a:t>
            </a:fld>
            <a:endParaRPr lang="zh-CN" altLang="en-US"/>
          </a:p>
        </p:txBody>
      </p:sp>
    </p:spTree>
    <p:extLst>
      <p:ext uri="{BB962C8B-B14F-4D97-AF65-F5344CB8AC3E}">
        <p14:creationId xmlns:p14="http://schemas.microsoft.com/office/powerpoint/2010/main" val="12768619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935CD7-04DD-EE17-560B-45848F6F768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FF973C1-083C-359C-9F6A-01273F169370}"/>
              </a:ext>
            </a:extLst>
          </p:cNvPr>
          <p:cNvSpPr>
            <a:spLocks noGrp="1"/>
          </p:cNvSpPr>
          <p:nvPr>
            <p:ph type="dt" sz="half" idx="10"/>
          </p:nvPr>
        </p:nvSpPr>
        <p:spPr/>
        <p:txBody>
          <a:bodyPr/>
          <a:lstStyle/>
          <a:p>
            <a:fld id="{9FBBA832-AE5B-4E72-804E-9A6C893C5CA3}" type="datetimeFigureOut">
              <a:rPr lang="zh-CN" altLang="en-US" smtClean="0"/>
              <a:t>2025/9/14</a:t>
            </a:fld>
            <a:endParaRPr lang="zh-CN" altLang="en-US"/>
          </a:p>
        </p:txBody>
      </p:sp>
      <p:sp>
        <p:nvSpPr>
          <p:cNvPr id="4" name="页脚占位符 3">
            <a:extLst>
              <a:ext uri="{FF2B5EF4-FFF2-40B4-BE49-F238E27FC236}">
                <a16:creationId xmlns:a16="http://schemas.microsoft.com/office/drawing/2014/main" id="{FDD5A94A-F551-61A9-EAB2-34198675400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9235BA1-1D82-D115-BDB7-4108EDB7CC38}"/>
              </a:ext>
            </a:extLst>
          </p:cNvPr>
          <p:cNvSpPr>
            <a:spLocks noGrp="1"/>
          </p:cNvSpPr>
          <p:nvPr>
            <p:ph type="sldNum" sz="quarter" idx="12"/>
          </p:nvPr>
        </p:nvSpPr>
        <p:spPr/>
        <p:txBody>
          <a:bodyPr/>
          <a:lstStyle/>
          <a:p>
            <a:fld id="{26AB8CFB-242F-4E47-831A-73421F75241C}" type="slidenum">
              <a:rPr lang="zh-CN" altLang="en-US" smtClean="0"/>
              <a:t>‹#›</a:t>
            </a:fld>
            <a:endParaRPr lang="zh-CN" altLang="en-US"/>
          </a:p>
        </p:txBody>
      </p:sp>
    </p:spTree>
    <p:extLst>
      <p:ext uri="{BB962C8B-B14F-4D97-AF65-F5344CB8AC3E}">
        <p14:creationId xmlns:p14="http://schemas.microsoft.com/office/powerpoint/2010/main" val="852524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42583D5-C2C9-85B8-686A-ED56CF1E0346}"/>
              </a:ext>
            </a:extLst>
          </p:cNvPr>
          <p:cNvSpPr>
            <a:spLocks noGrp="1"/>
          </p:cNvSpPr>
          <p:nvPr>
            <p:ph type="dt" sz="half" idx="10"/>
          </p:nvPr>
        </p:nvSpPr>
        <p:spPr/>
        <p:txBody>
          <a:bodyPr/>
          <a:lstStyle/>
          <a:p>
            <a:fld id="{9FBBA832-AE5B-4E72-804E-9A6C893C5CA3}" type="datetimeFigureOut">
              <a:rPr lang="zh-CN" altLang="en-US" smtClean="0"/>
              <a:t>2025/9/14</a:t>
            </a:fld>
            <a:endParaRPr lang="zh-CN" altLang="en-US"/>
          </a:p>
        </p:txBody>
      </p:sp>
      <p:sp>
        <p:nvSpPr>
          <p:cNvPr id="3" name="页脚占位符 2">
            <a:extLst>
              <a:ext uri="{FF2B5EF4-FFF2-40B4-BE49-F238E27FC236}">
                <a16:creationId xmlns:a16="http://schemas.microsoft.com/office/drawing/2014/main" id="{7E907DF3-8144-DA3E-9F3D-E4451C3497B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38552FB-E45D-0122-A304-886D9BD1DFC6}"/>
              </a:ext>
            </a:extLst>
          </p:cNvPr>
          <p:cNvSpPr>
            <a:spLocks noGrp="1"/>
          </p:cNvSpPr>
          <p:nvPr>
            <p:ph type="sldNum" sz="quarter" idx="12"/>
          </p:nvPr>
        </p:nvSpPr>
        <p:spPr/>
        <p:txBody>
          <a:bodyPr/>
          <a:lstStyle/>
          <a:p>
            <a:fld id="{26AB8CFB-242F-4E47-831A-73421F75241C}" type="slidenum">
              <a:rPr lang="zh-CN" altLang="en-US" smtClean="0"/>
              <a:t>‹#›</a:t>
            </a:fld>
            <a:endParaRPr lang="zh-CN" altLang="en-US"/>
          </a:p>
        </p:txBody>
      </p:sp>
    </p:spTree>
    <p:extLst>
      <p:ext uri="{BB962C8B-B14F-4D97-AF65-F5344CB8AC3E}">
        <p14:creationId xmlns:p14="http://schemas.microsoft.com/office/powerpoint/2010/main" val="740615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7E5010-7EDF-7BBB-2A56-151465A3FF0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0EB78C3-3B2F-57CE-732A-111029F424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12C33C6-A150-9CB1-8E65-46F905129E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E77BFAB-B8F9-68EF-4D9D-944BC8CA4272}"/>
              </a:ext>
            </a:extLst>
          </p:cNvPr>
          <p:cNvSpPr>
            <a:spLocks noGrp="1"/>
          </p:cNvSpPr>
          <p:nvPr>
            <p:ph type="dt" sz="half" idx="10"/>
          </p:nvPr>
        </p:nvSpPr>
        <p:spPr/>
        <p:txBody>
          <a:bodyPr/>
          <a:lstStyle/>
          <a:p>
            <a:fld id="{9FBBA832-AE5B-4E72-804E-9A6C893C5CA3}" type="datetimeFigureOut">
              <a:rPr lang="zh-CN" altLang="en-US" smtClean="0"/>
              <a:t>2025/9/14</a:t>
            </a:fld>
            <a:endParaRPr lang="zh-CN" altLang="en-US"/>
          </a:p>
        </p:txBody>
      </p:sp>
      <p:sp>
        <p:nvSpPr>
          <p:cNvPr id="6" name="页脚占位符 5">
            <a:extLst>
              <a:ext uri="{FF2B5EF4-FFF2-40B4-BE49-F238E27FC236}">
                <a16:creationId xmlns:a16="http://schemas.microsoft.com/office/drawing/2014/main" id="{1CBA6781-A594-022B-71A6-A779CF826A0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98A6B84-2227-B07F-AA0F-4C92510D4295}"/>
              </a:ext>
            </a:extLst>
          </p:cNvPr>
          <p:cNvSpPr>
            <a:spLocks noGrp="1"/>
          </p:cNvSpPr>
          <p:nvPr>
            <p:ph type="sldNum" sz="quarter" idx="12"/>
          </p:nvPr>
        </p:nvSpPr>
        <p:spPr/>
        <p:txBody>
          <a:bodyPr/>
          <a:lstStyle/>
          <a:p>
            <a:fld id="{26AB8CFB-242F-4E47-831A-73421F75241C}" type="slidenum">
              <a:rPr lang="zh-CN" altLang="en-US" smtClean="0"/>
              <a:t>‹#›</a:t>
            </a:fld>
            <a:endParaRPr lang="zh-CN" altLang="en-US"/>
          </a:p>
        </p:txBody>
      </p:sp>
    </p:spTree>
    <p:extLst>
      <p:ext uri="{BB962C8B-B14F-4D97-AF65-F5344CB8AC3E}">
        <p14:creationId xmlns:p14="http://schemas.microsoft.com/office/powerpoint/2010/main" val="2137787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F94D3B-D043-EDC9-E11D-D5439C931D1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E20BC3-E099-9EA2-2457-C7AE696287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9D6A523-036E-32B8-20D5-F19A72BA21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1898288-2200-DB41-365C-767C962C1B2E}"/>
              </a:ext>
            </a:extLst>
          </p:cNvPr>
          <p:cNvSpPr>
            <a:spLocks noGrp="1"/>
          </p:cNvSpPr>
          <p:nvPr>
            <p:ph type="dt" sz="half" idx="10"/>
          </p:nvPr>
        </p:nvSpPr>
        <p:spPr/>
        <p:txBody>
          <a:bodyPr/>
          <a:lstStyle/>
          <a:p>
            <a:fld id="{9FBBA832-AE5B-4E72-804E-9A6C893C5CA3}" type="datetimeFigureOut">
              <a:rPr lang="zh-CN" altLang="en-US" smtClean="0"/>
              <a:t>2025/9/14</a:t>
            </a:fld>
            <a:endParaRPr lang="zh-CN" altLang="en-US"/>
          </a:p>
        </p:txBody>
      </p:sp>
      <p:sp>
        <p:nvSpPr>
          <p:cNvPr id="6" name="页脚占位符 5">
            <a:extLst>
              <a:ext uri="{FF2B5EF4-FFF2-40B4-BE49-F238E27FC236}">
                <a16:creationId xmlns:a16="http://schemas.microsoft.com/office/drawing/2014/main" id="{B624BCE0-1AFA-9A94-677E-2CA1C3B7C82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D08B20D-421A-46A4-A940-9F3BAF711C27}"/>
              </a:ext>
            </a:extLst>
          </p:cNvPr>
          <p:cNvSpPr>
            <a:spLocks noGrp="1"/>
          </p:cNvSpPr>
          <p:nvPr>
            <p:ph type="sldNum" sz="quarter" idx="12"/>
          </p:nvPr>
        </p:nvSpPr>
        <p:spPr/>
        <p:txBody>
          <a:bodyPr/>
          <a:lstStyle/>
          <a:p>
            <a:fld id="{26AB8CFB-242F-4E47-831A-73421F75241C}" type="slidenum">
              <a:rPr lang="zh-CN" altLang="en-US" smtClean="0"/>
              <a:t>‹#›</a:t>
            </a:fld>
            <a:endParaRPr lang="zh-CN" altLang="en-US"/>
          </a:p>
        </p:txBody>
      </p:sp>
    </p:spTree>
    <p:extLst>
      <p:ext uri="{BB962C8B-B14F-4D97-AF65-F5344CB8AC3E}">
        <p14:creationId xmlns:p14="http://schemas.microsoft.com/office/powerpoint/2010/main" val="1953424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BF7234-8CC8-E8A6-D749-7A9013C4ECC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E88A306-3A81-EC93-B294-BB4CDC06573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AFFA6FB-45B8-9344-06B0-9928F9BA7E46}"/>
              </a:ext>
            </a:extLst>
          </p:cNvPr>
          <p:cNvSpPr>
            <a:spLocks noGrp="1"/>
          </p:cNvSpPr>
          <p:nvPr>
            <p:ph type="dt" sz="half" idx="10"/>
          </p:nvPr>
        </p:nvSpPr>
        <p:spPr/>
        <p:txBody>
          <a:bodyPr/>
          <a:lstStyle/>
          <a:p>
            <a:fld id="{9FBBA832-AE5B-4E72-804E-9A6C893C5CA3}" type="datetimeFigureOut">
              <a:rPr lang="zh-CN" altLang="en-US" smtClean="0"/>
              <a:t>2025/9/14</a:t>
            </a:fld>
            <a:endParaRPr lang="zh-CN" altLang="en-US"/>
          </a:p>
        </p:txBody>
      </p:sp>
      <p:sp>
        <p:nvSpPr>
          <p:cNvPr id="5" name="页脚占位符 4">
            <a:extLst>
              <a:ext uri="{FF2B5EF4-FFF2-40B4-BE49-F238E27FC236}">
                <a16:creationId xmlns:a16="http://schemas.microsoft.com/office/drawing/2014/main" id="{9E75B11B-86BE-DEBC-6873-8E86A68E304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18460C0-EBEB-31E3-F34B-00DACB7929E0}"/>
              </a:ext>
            </a:extLst>
          </p:cNvPr>
          <p:cNvSpPr>
            <a:spLocks noGrp="1"/>
          </p:cNvSpPr>
          <p:nvPr>
            <p:ph type="sldNum" sz="quarter" idx="12"/>
          </p:nvPr>
        </p:nvSpPr>
        <p:spPr/>
        <p:txBody>
          <a:bodyPr/>
          <a:lstStyle/>
          <a:p>
            <a:fld id="{26AB8CFB-242F-4E47-831A-73421F75241C}" type="slidenum">
              <a:rPr lang="zh-CN" altLang="en-US" smtClean="0"/>
              <a:t>‹#›</a:t>
            </a:fld>
            <a:endParaRPr lang="zh-CN" altLang="en-US"/>
          </a:p>
        </p:txBody>
      </p:sp>
    </p:spTree>
    <p:extLst>
      <p:ext uri="{BB962C8B-B14F-4D97-AF65-F5344CB8AC3E}">
        <p14:creationId xmlns:p14="http://schemas.microsoft.com/office/powerpoint/2010/main" val="1279150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22BC4C5-0438-694D-3EA0-BC6CAE97857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8688533-942A-FB5C-58DB-0C33F5C5873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38E1F3-276C-B6F4-5481-C9E7D3954725}"/>
              </a:ext>
            </a:extLst>
          </p:cNvPr>
          <p:cNvSpPr>
            <a:spLocks noGrp="1"/>
          </p:cNvSpPr>
          <p:nvPr>
            <p:ph type="dt" sz="half" idx="10"/>
          </p:nvPr>
        </p:nvSpPr>
        <p:spPr/>
        <p:txBody>
          <a:bodyPr/>
          <a:lstStyle/>
          <a:p>
            <a:fld id="{9FBBA832-AE5B-4E72-804E-9A6C893C5CA3}" type="datetimeFigureOut">
              <a:rPr lang="zh-CN" altLang="en-US" smtClean="0"/>
              <a:t>2025/9/14</a:t>
            </a:fld>
            <a:endParaRPr lang="zh-CN" altLang="en-US"/>
          </a:p>
        </p:txBody>
      </p:sp>
      <p:sp>
        <p:nvSpPr>
          <p:cNvPr id="5" name="页脚占位符 4">
            <a:extLst>
              <a:ext uri="{FF2B5EF4-FFF2-40B4-BE49-F238E27FC236}">
                <a16:creationId xmlns:a16="http://schemas.microsoft.com/office/drawing/2014/main" id="{7D91AFE7-F328-489C-0F64-A0C36A396B7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C03DCC3-EDB6-B2D8-E20E-C17160C95935}"/>
              </a:ext>
            </a:extLst>
          </p:cNvPr>
          <p:cNvSpPr>
            <a:spLocks noGrp="1"/>
          </p:cNvSpPr>
          <p:nvPr>
            <p:ph type="sldNum" sz="quarter" idx="12"/>
          </p:nvPr>
        </p:nvSpPr>
        <p:spPr/>
        <p:txBody>
          <a:bodyPr/>
          <a:lstStyle/>
          <a:p>
            <a:fld id="{26AB8CFB-242F-4E47-831A-73421F75241C}" type="slidenum">
              <a:rPr lang="zh-CN" altLang="en-US" smtClean="0"/>
              <a:t>‹#›</a:t>
            </a:fld>
            <a:endParaRPr lang="zh-CN" altLang="en-US"/>
          </a:p>
        </p:txBody>
      </p:sp>
    </p:spTree>
    <p:extLst>
      <p:ext uri="{BB962C8B-B14F-4D97-AF65-F5344CB8AC3E}">
        <p14:creationId xmlns:p14="http://schemas.microsoft.com/office/powerpoint/2010/main" val="3014265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6DE6FE2-777A-3762-0AD5-A3F1EF6089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F1E2E6-4153-0DE3-3C87-C189009010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E13D7F4-0785-DCBC-0CA3-A889DC849E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BBA832-AE5B-4E72-804E-9A6C893C5CA3}" type="datetimeFigureOut">
              <a:rPr lang="zh-CN" altLang="en-US" smtClean="0"/>
              <a:t>2025/9/14</a:t>
            </a:fld>
            <a:endParaRPr lang="zh-CN" altLang="en-US"/>
          </a:p>
        </p:txBody>
      </p:sp>
      <p:sp>
        <p:nvSpPr>
          <p:cNvPr id="5" name="页脚占位符 4">
            <a:extLst>
              <a:ext uri="{FF2B5EF4-FFF2-40B4-BE49-F238E27FC236}">
                <a16:creationId xmlns:a16="http://schemas.microsoft.com/office/drawing/2014/main" id="{22FB8134-5637-5E0D-DEF1-C38A3B32FD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02EA4D5-B7BD-E4C1-940F-94682C1FCF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AB8CFB-242F-4E47-831A-73421F75241C}" type="slidenum">
              <a:rPr lang="zh-CN" altLang="en-US" smtClean="0"/>
              <a:t>‹#›</a:t>
            </a:fld>
            <a:endParaRPr lang="zh-CN" altLang="en-US"/>
          </a:p>
        </p:txBody>
      </p:sp>
    </p:spTree>
    <p:extLst>
      <p:ext uri="{BB962C8B-B14F-4D97-AF65-F5344CB8AC3E}">
        <p14:creationId xmlns:p14="http://schemas.microsoft.com/office/powerpoint/2010/main" val="567395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luogu.com.cn/problem/P1048"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luogu.com.cn/problem/P1616"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luogu.com.cn/problem/P1776"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luogu.com.cn/problem/P1833" TargetMode="External"/><Relationship Id="rId2" Type="http://schemas.openxmlformats.org/officeDocument/2006/relationships/hyperlink" Target="https://www.luogu.com.cn/problem/P2340"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luogu.com.cn/problem/P5365"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luogu.com.cn/problem/P1853"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luogu.com.cn/problem/B4070"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luogu.com.cn/problem/B4071"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luogu.com.cn/problem/P11376"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luogu.com.cn/problem/P1757"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customXml" Target="../ink/ink6.xml"/><Relationship Id="rId18" Type="http://schemas.openxmlformats.org/officeDocument/2006/relationships/image" Target="../media/image17.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4.png"/><Relationship Id="rId17" Type="http://schemas.openxmlformats.org/officeDocument/2006/relationships/customXml" Target="../ink/ink8.xml"/><Relationship Id="rId2" Type="http://schemas.openxmlformats.org/officeDocument/2006/relationships/image" Target="../media/image9.png"/><Relationship Id="rId16" Type="http://schemas.openxmlformats.org/officeDocument/2006/relationships/image" Target="../media/image16.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13.png"/><Relationship Id="rId19" Type="http://schemas.openxmlformats.org/officeDocument/2006/relationships/customXml" Target="../ink/ink9.xml"/><Relationship Id="rId4" Type="http://schemas.openxmlformats.org/officeDocument/2006/relationships/image" Target="../media/image10.png"/><Relationship Id="rId9" Type="http://schemas.openxmlformats.org/officeDocument/2006/relationships/customXml" Target="../ink/ink4.xml"/><Relationship Id="rId14"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luogu.com.cn/problem/P1507"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luogu.com.cn/problem/P1474" TargetMode="External"/><Relationship Id="rId2" Type="http://schemas.openxmlformats.org/officeDocument/2006/relationships/hyperlink" Target="https://www.luogu.com.cn/problem/P2732" TargetMode="External"/><Relationship Id="rId1" Type="http://schemas.openxmlformats.org/officeDocument/2006/relationships/slideLayout" Target="../slideLayouts/slideLayout2.xml"/><Relationship Id="rId4" Type="http://schemas.openxmlformats.org/officeDocument/2006/relationships/hyperlink" Target="https://www.luogu.com.cn/problem/P4141" TargetMode="External"/></Relationships>
</file>

<file path=ppt/slides/_rels/slide32.xml.rels><?xml version="1.0" encoding="UTF-8" standalone="yes"?>
<Relationships xmlns="http://schemas.openxmlformats.org/package/2006/relationships"><Relationship Id="rId2" Type="http://schemas.openxmlformats.org/officeDocument/2006/relationships/hyperlink" Target="https://www.luogu.com.cn/problem/P4141"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luogu.com.cn/problem/P4141"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luogu.com.cn/problem/P4141"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luogu.com.cn/problem/P4141"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www.luogu.com.cn/problem/P5322"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luogu.com.cn/problem/P2732"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luogu.com.cn/problem/P2732"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www.luogu.com.cn/problem/P2732"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luogu.com.cn/problem/P2732"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www.luogu.com.cn/problem/P1385"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www.luogu.com.cn/problem/P1385"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www.luogu.com.cn/problem/P2066"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www.luogu.com.cn/problem/P2851"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www.luogu.com.cn/problem/P2851"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www.luogu.com.cn/problem/P5020"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www.luogu.com.cn/problem/P1858"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luogu.com.cn/problem/P1858"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luogu.com.cn/problem/CF19B"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www.luogu.com.cn/problem/CF19B"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www.luogu.com.cn/problem/P1064"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s://www.luogu.com.cn/problem/P1064"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www.luogu.com.cn/problem/P3985"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7A6498-C748-4DCF-FEE1-04D1873991DC}"/>
              </a:ext>
            </a:extLst>
          </p:cNvPr>
          <p:cNvSpPr>
            <a:spLocks noGrp="1"/>
          </p:cNvSpPr>
          <p:nvPr>
            <p:ph type="ctrTitle"/>
          </p:nvPr>
        </p:nvSpPr>
        <p:spPr/>
        <p:txBody>
          <a:bodyPr/>
          <a:lstStyle/>
          <a:p>
            <a:r>
              <a:rPr lang="zh-CN" altLang="en-US" dirty="0"/>
              <a:t>动态规划之背包问题</a:t>
            </a:r>
          </a:p>
        </p:txBody>
      </p:sp>
      <p:sp>
        <p:nvSpPr>
          <p:cNvPr id="3" name="副标题 2">
            <a:extLst>
              <a:ext uri="{FF2B5EF4-FFF2-40B4-BE49-F238E27FC236}">
                <a16:creationId xmlns:a16="http://schemas.microsoft.com/office/drawing/2014/main" id="{B0007503-4803-5323-AED6-6BC9D6D0CE77}"/>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696230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912B97-CA58-A10E-9E70-AF8F0333BDBA}"/>
              </a:ext>
            </a:extLst>
          </p:cNvPr>
          <p:cNvSpPr>
            <a:spLocks noGrp="1"/>
          </p:cNvSpPr>
          <p:nvPr>
            <p:ph type="title"/>
          </p:nvPr>
        </p:nvSpPr>
        <p:spPr/>
        <p:txBody>
          <a:bodyPr/>
          <a:lstStyle/>
          <a:p>
            <a:r>
              <a:rPr lang="zh-CN" altLang="en-US" dirty="0"/>
              <a:t>前言</a:t>
            </a:r>
          </a:p>
        </p:txBody>
      </p:sp>
      <p:sp>
        <p:nvSpPr>
          <p:cNvPr id="3" name="内容占位符 2">
            <a:extLst>
              <a:ext uri="{FF2B5EF4-FFF2-40B4-BE49-F238E27FC236}">
                <a16:creationId xmlns:a16="http://schemas.microsoft.com/office/drawing/2014/main" id="{1003A650-D6FC-7477-B208-679090AB65DB}"/>
              </a:ext>
            </a:extLst>
          </p:cNvPr>
          <p:cNvSpPr>
            <a:spLocks noGrp="1"/>
          </p:cNvSpPr>
          <p:nvPr>
            <p:ph idx="1"/>
          </p:nvPr>
        </p:nvSpPr>
        <p:spPr/>
        <p:txBody>
          <a:bodyPr/>
          <a:lstStyle/>
          <a:p>
            <a:r>
              <a:rPr lang="zh-CN" altLang="en-US" dirty="0">
                <a:latin typeface="Consolas" panose="020B0609020204030204" pitchFamily="49" charset="0"/>
              </a:rPr>
              <a:t>背包问题是经典问题，其相关内容很多：从基础的</a:t>
            </a:r>
            <a:r>
              <a:rPr lang="en-US" altLang="zh-CN" dirty="0">
                <a:latin typeface="Consolas" panose="020B0609020204030204" pitchFamily="49" charset="0"/>
              </a:rPr>
              <a:t>01</a:t>
            </a:r>
            <a:r>
              <a:rPr lang="zh-CN" altLang="en-US" dirty="0">
                <a:latin typeface="Consolas" panose="020B0609020204030204" pitchFamily="49" charset="0"/>
              </a:rPr>
              <a:t>背包、完全背包，到分组背包、树形背包等，再到后来涉及到利用多项式解决背包问题。</a:t>
            </a:r>
            <a:endParaRPr lang="en-US" altLang="zh-CN" dirty="0">
              <a:latin typeface="Consolas" panose="020B0609020204030204" pitchFamily="49" charset="0"/>
            </a:endParaRPr>
          </a:p>
          <a:p>
            <a:endParaRPr lang="en-US" altLang="zh-CN" dirty="0">
              <a:latin typeface="Consolas" panose="020B0609020204030204" pitchFamily="49" charset="0"/>
            </a:endParaRPr>
          </a:p>
          <a:p>
            <a:r>
              <a:rPr lang="zh-CN" altLang="en-US" dirty="0">
                <a:latin typeface="Consolas" panose="020B0609020204030204" pitchFamily="49" charset="0"/>
              </a:rPr>
              <a:t>本次授课将详细讲解如何用动态规划解决</a:t>
            </a:r>
            <a:r>
              <a:rPr lang="en-US" altLang="zh-CN" dirty="0">
                <a:latin typeface="Consolas" panose="020B0609020204030204" pitchFamily="49" charset="0"/>
              </a:rPr>
              <a:t>01</a:t>
            </a:r>
            <a:r>
              <a:rPr lang="zh-CN" altLang="en-US" dirty="0">
                <a:latin typeface="Consolas" panose="020B0609020204030204" pitchFamily="49" charset="0"/>
              </a:rPr>
              <a:t>背包、完全背包、分组背包问题。</a:t>
            </a:r>
            <a:endParaRPr lang="en-US" altLang="zh-CN" dirty="0">
              <a:latin typeface="Consolas" panose="020B0609020204030204" pitchFamily="49" charset="0"/>
            </a:endParaRPr>
          </a:p>
        </p:txBody>
      </p:sp>
    </p:spTree>
    <p:extLst>
      <p:ext uri="{BB962C8B-B14F-4D97-AF65-F5344CB8AC3E}">
        <p14:creationId xmlns:p14="http://schemas.microsoft.com/office/powerpoint/2010/main" val="3784201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DD8227-5CFC-5782-5274-A9375A2A3B3C}"/>
              </a:ext>
            </a:extLst>
          </p:cNvPr>
          <p:cNvSpPr>
            <a:spLocks noGrp="1"/>
          </p:cNvSpPr>
          <p:nvPr>
            <p:ph type="title"/>
          </p:nvPr>
        </p:nvSpPr>
        <p:spPr/>
        <p:txBody>
          <a:bodyPr/>
          <a:lstStyle/>
          <a:p>
            <a:r>
              <a:rPr lang="en-US" altLang="zh-CN" dirty="0"/>
              <a:t>01</a:t>
            </a:r>
            <a:r>
              <a:rPr lang="zh-CN" altLang="en-US" dirty="0"/>
              <a:t>背包问题</a:t>
            </a:r>
          </a:p>
        </p:txBody>
      </p:sp>
      <p:sp>
        <p:nvSpPr>
          <p:cNvPr id="3" name="内容占位符 2">
            <a:extLst>
              <a:ext uri="{FF2B5EF4-FFF2-40B4-BE49-F238E27FC236}">
                <a16:creationId xmlns:a16="http://schemas.microsoft.com/office/drawing/2014/main" id="{588EA1E9-2616-FD4C-444D-9CD5C6F89B32}"/>
              </a:ext>
            </a:extLst>
          </p:cNvPr>
          <p:cNvSpPr>
            <a:spLocks noGrp="1"/>
          </p:cNvSpPr>
          <p:nvPr>
            <p:ph idx="1"/>
          </p:nvPr>
        </p:nvSpPr>
        <p:spPr/>
        <p:txBody>
          <a:bodyPr/>
          <a:lstStyle/>
          <a:p>
            <a:r>
              <a:rPr lang="zh-CN" altLang="en-US" b="0" i="0" dirty="0">
                <a:effectLst/>
                <a:latin typeface="Consolas" panose="020B0609020204030204" pitchFamily="49" charset="0"/>
              </a:rPr>
              <a:t>有</a:t>
            </a:r>
            <a:r>
              <a:rPr lang="en-US" altLang="zh-CN" dirty="0">
                <a:latin typeface="Consolas" panose="020B0609020204030204" pitchFamily="49" charset="0"/>
              </a:rPr>
              <a:t>n</a:t>
            </a:r>
            <a:r>
              <a:rPr lang="zh-CN" altLang="en-US" b="0" i="0" dirty="0">
                <a:effectLst/>
                <a:latin typeface="Consolas" panose="020B0609020204030204" pitchFamily="49" charset="0"/>
              </a:rPr>
              <a:t>件物品和一个容量为</a:t>
            </a:r>
            <a:r>
              <a:rPr lang="en-US" altLang="zh-CN" b="0" i="0" dirty="0">
                <a:effectLst/>
                <a:latin typeface="Consolas" panose="020B0609020204030204" pitchFamily="49" charset="0"/>
              </a:rPr>
              <a:t>V</a:t>
            </a:r>
            <a:r>
              <a:rPr lang="zh-CN" altLang="en-US" b="0" i="0" dirty="0">
                <a:effectLst/>
                <a:latin typeface="Consolas" panose="020B0609020204030204" pitchFamily="49" charset="0"/>
              </a:rPr>
              <a:t>的背包。第</a:t>
            </a:r>
            <a:r>
              <a:rPr lang="en-US" altLang="zh-CN" dirty="0" err="1">
                <a:latin typeface="Consolas" panose="020B0609020204030204" pitchFamily="49" charset="0"/>
              </a:rPr>
              <a:t>i</a:t>
            </a:r>
            <a:r>
              <a:rPr lang="zh-CN" altLang="en-US" b="0" i="0" dirty="0">
                <a:effectLst/>
                <a:latin typeface="Consolas" panose="020B0609020204030204" pitchFamily="49" charset="0"/>
              </a:rPr>
              <a:t>件物品的</a:t>
            </a:r>
            <a:r>
              <a:rPr lang="zh-CN" altLang="en-US" dirty="0">
                <a:latin typeface="Consolas" panose="020B0609020204030204" pitchFamily="49" charset="0"/>
              </a:rPr>
              <a:t>体积</a:t>
            </a:r>
            <a:r>
              <a:rPr lang="zh-CN" altLang="en-US" b="0" i="0" dirty="0">
                <a:effectLst/>
                <a:latin typeface="Consolas" panose="020B0609020204030204" pitchFamily="49" charset="0"/>
              </a:rPr>
              <a:t>是</a:t>
            </a:r>
            <a:r>
              <a:rPr lang="en-US" altLang="zh-CN" b="0" i="0" dirty="0">
                <a:effectLst/>
                <a:latin typeface="Consolas" panose="020B0609020204030204" pitchFamily="49" charset="0"/>
              </a:rPr>
              <a:t>c[</a:t>
            </a:r>
            <a:r>
              <a:rPr lang="en-US" altLang="zh-CN" b="0" i="0" dirty="0" err="1">
                <a:effectLst/>
                <a:latin typeface="Consolas" panose="020B0609020204030204" pitchFamily="49" charset="0"/>
              </a:rPr>
              <a:t>i</a:t>
            </a:r>
            <a:r>
              <a:rPr lang="en-US" altLang="zh-CN" b="0" i="0" dirty="0">
                <a:effectLst/>
                <a:latin typeface="Consolas" panose="020B0609020204030204" pitchFamily="49" charset="0"/>
              </a:rPr>
              <a:t>]</a:t>
            </a:r>
            <a:r>
              <a:rPr lang="zh-CN" altLang="en-US" b="0" i="0" dirty="0">
                <a:effectLst/>
                <a:latin typeface="Consolas" panose="020B0609020204030204" pitchFamily="49" charset="0"/>
              </a:rPr>
              <a:t>价值是</a:t>
            </a:r>
            <a:r>
              <a:rPr lang="en-US" altLang="zh-CN" b="0" i="0" dirty="0">
                <a:effectLst/>
                <a:latin typeface="Consolas" panose="020B0609020204030204" pitchFamily="49" charset="0"/>
              </a:rPr>
              <a:t>w[</a:t>
            </a:r>
            <a:r>
              <a:rPr lang="en-US" altLang="zh-CN" b="0" i="0" dirty="0" err="1">
                <a:effectLst/>
                <a:latin typeface="Consolas" panose="020B0609020204030204" pitchFamily="49" charset="0"/>
              </a:rPr>
              <a:t>i</a:t>
            </a:r>
            <a:r>
              <a:rPr lang="en-US" altLang="zh-CN" b="0" i="0" dirty="0">
                <a:effectLst/>
                <a:latin typeface="Consolas" panose="020B0609020204030204" pitchFamily="49" charset="0"/>
              </a:rPr>
              <a:t>]</a:t>
            </a:r>
            <a:r>
              <a:rPr lang="zh-CN" altLang="en-US" b="0" i="0" dirty="0">
                <a:effectLst/>
                <a:latin typeface="Consolas" panose="020B0609020204030204" pitchFamily="49" charset="0"/>
              </a:rPr>
              <a:t>。求解将哪些物品装入背包可使价值总和最大。</a:t>
            </a:r>
            <a:endParaRPr lang="en-US" altLang="zh-CN" b="0" i="0" dirty="0">
              <a:effectLst/>
              <a:latin typeface="Consolas" panose="020B0609020204030204" pitchFamily="49" charset="0"/>
            </a:endParaRPr>
          </a:p>
          <a:p>
            <a:pPr marL="0" indent="0">
              <a:buNone/>
            </a:pPr>
            <a:endParaRPr lang="en-US" altLang="zh-CN" dirty="0">
              <a:latin typeface="Consolas" panose="020B0609020204030204" pitchFamily="49" charset="0"/>
            </a:endParaRPr>
          </a:p>
          <a:p>
            <a:r>
              <a:rPr lang="zh-CN" altLang="en-US" dirty="0">
                <a:latin typeface="Consolas" panose="020B0609020204030204" pitchFamily="49" charset="0"/>
              </a:rPr>
              <a:t>注：每个物品只能选一次，且物品不可划分。</a:t>
            </a:r>
            <a:endParaRPr lang="en-US" altLang="zh-CN" dirty="0">
              <a:latin typeface="Consolas" panose="020B0609020204030204" pitchFamily="49" charset="0"/>
            </a:endParaRPr>
          </a:p>
          <a:p>
            <a:endParaRPr lang="en-US" altLang="zh-CN" dirty="0">
              <a:solidFill>
                <a:srgbClr val="525252"/>
              </a:solidFill>
              <a:latin typeface="Helvetica Neue"/>
            </a:endParaRPr>
          </a:p>
          <a:p>
            <a:r>
              <a:rPr lang="en-US" altLang="zh-CN" dirty="0">
                <a:hlinkClick r:id="rId2"/>
              </a:rPr>
              <a:t>P1048 </a:t>
            </a:r>
            <a:r>
              <a:rPr lang="zh-CN" altLang="en-US" dirty="0">
                <a:hlinkClick r:id="rId2"/>
              </a:rPr>
              <a:t>采药</a:t>
            </a:r>
            <a:endParaRPr lang="zh-CN" altLang="en-US" dirty="0"/>
          </a:p>
        </p:txBody>
      </p:sp>
    </p:spTree>
    <p:extLst>
      <p:ext uri="{BB962C8B-B14F-4D97-AF65-F5344CB8AC3E}">
        <p14:creationId xmlns:p14="http://schemas.microsoft.com/office/powerpoint/2010/main" val="2788746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7268D1-5A55-B526-8732-0A5955434FA4}"/>
              </a:ext>
            </a:extLst>
          </p:cNvPr>
          <p:cNvSpPr>
            <a:spLocks noGrp="1"/>
          </p:cNvSpPr>
          <p:nvPr>
            <p:ph type="title"/>
          </p:nvPr>
        </p:nvSpPr>
        <p:spPr/>
        <p:txBody>
          <a:bodyPr/>
          <a:lstStyle/>
          <a:p>
            <a:r>
              <a:rPr lang="en-US" altLang="zh-CN" dirty="0"/>
              <a:t>01</a:t>
            </a:r>
            <a:r>
              <a:rPr lang="zh-CN" altLang="en-US" dirty="0"/>
              <a:t>背包问题</a:t>
            </a:r>
          </a:p>
        </p:txBody>
      </p:sp>
      <p:sp>
        <p:nvSpPr>
          <p:cNvPr id="3" name="内容占位符 2">
            <a:extLst>
              <a:ext uri="{FF2B5EF4-FFF2-40B4-BE49-F238E27FC236}">
                <a16:creationId xmlns:a16="http://schemas.microsoft.com/office/drawing/2014/main" id="{71E1229E-429E-5A56-5C75-BC57AD39B0C5}"/>
              </a:ext>
            </a:extLst>
          </p:cNvPr>
          <p:cNvSpPr>
            <a:spLocks noGrp="1"/>
          </p:cNvSpPr>
          <p:nvPr>
            <p:ph idx="1"/>
          </p:nvPr>
        </p:nvSpPr>
        <p:spPr/>
        <p:txBody>
          <a:bodyPr/>
          <a:lstStyle/>
          <a:p>
            <a:r>
              <a:rPr lang="zh-CN" altLang="en-US" b="0" i="0" dirty="0">
                <a:effectLst/>
                <a:latin typeface="Consolas" panose="020B0609020204030204" pitchFamily="49" charset="0"/>
              </a:rPr>
              <a:t>用子问题定义状态：</a:t>
            </a:r>
            <a:r>
              <a:rPr lang="en-US" altLang="zh-CN" b="0" i="0" dirty="0">
                <a:effectLst/>
                <a:latin typeface="Consolas" panose="020B0609020204030204" pitchFamily="49" charset="0"/>
              </a:rPr>
              <a:t> f[</a:t>
            </a:r>
            <a:r>
              <a:rPr lang="en-US" altLang="zh-CN" b="0" i="0" dirty="0" err="1">
                <a:effectLst/>
                <a:latin typeface="Consolas" panose="020B0609020204030204" pitchFamily="49" charset="0"/>
              </a:rPr>
              <a:t>i</a:t>
            </a:r>
            <a:r>
              <a:rPr lang="en-US" altLang="zh-CN" b="0" i="0" dirty="0">
                <a:effectLst/>
                <a:latin typeface="Consolas" panose="020B0609020204030204" pitchFamily="49" charset="0"/>
              </a:rPr>
              <a:t>][v]</a:t>
            </a:r>
            <a:r>
              <a:rPr lang="zh-CN" altLang="en-US" b="0" i="0" dirty="0">
                <a:effectLst/>
                <a:latin typeface="Consolas" panose="020B0609020204030204" pitchFamily="49" charset="0"/>
              </a:rPr>
              <a:t>即表示</a:t>
            </a:r>
            <a:r>
              <a:rPr lang="en-US" altLang="zh-CN" b="0" i="0" dirty="0">
                <a:effectLst/>
                <a:latin typeface="Consolas" panose="020B0609020204030204" pitchFamily="49" charset="0"/>
              </a:rPr>
              <a:t>:</a:t>
            </a:r>
            <a:r>
              <a:rPr lang="zh-CN" altLang="en-US" b="0" i="0" dirty="0">
                <a:effectLst/>
                <a:latin typeface="Consolas" panose="020B0609020204030204" pitchFamily="49" charset="0"/>
              </a:rPr>
              <a:t>考虑了前</a:t>
            </a:r>
            <a:r>
              <a:rPr lang="en-US" altLang="zh-CN" b="0" i="0" dirty="0" err="1">
                <a:effectLst/>
                <a:latin typeface="Consolas" panose="020B0609020204030204" pitchFamily="49" charset="0"/>
              </a:rPr>
              <a:t>i</a:t>
            </a:r>
            <a:r>
              <a:rPr lang="zh-CN" altLang="en-US" b="0" i="0" dirty="0">
                <a:effectLst/>
                <a:latin typeface="Consolas" panose="020B0609020204030204" pitchFamily="49" charset="0"/>
              </a:rPr>
              <a:t>件物品，当前选择的物品的体积和为</a:t>
            </a:r>
            <a:r>
              <a:rPr lang="en-US" altLang="zh-CN" b="0" i="0" dirty="0">
                <a:effectLst/>
                <a:latin typeface="Consolas" panose="020B0609020204030204" pitchFamily="49" charset="0"/>
              </a:rPr>
              <a:t>v</a:t>
            </a:r>
            <a:r>
              <a:rPr lang="zh-CN" altLang="en-US" b="0" i="0" dirty="0">
                <a:effectLst/>
                <a:latin typeface="Consolas" panose="020B0609020204030204" pitchFamily="49" charset="0"/>
              </a:rPr>
              <a:t>的情况</a:t>
            </a:r>
            <a:r>
              <a:rPr lang="zh-CN" altLang="en-US" b="0" i="0">
                <a:effectLst/>
                <a:latin typeface="Consolas" panose="020B0609020204030204" pitchFamily="49" charset="0"/>
              </a:rPr>
              <a:t>下，可以</a:t>
            </a:r>
            <a:r>
              <a:rPr lang="zh-CN" altLang="en-US" b="0" i="0" dirty="0">
                <a:effectLst/>
                <a:latin typeface="Consolas" panose="020B0609020204030204" pitchFamily="49" charset="0"/>
              </a:rPr>
              <a:t>获得的最大价值。则其状态转移方程便是：</a:t>
            </a:r>
            <a:endParaRPr lang="en-US" altLang="zh-CN" b="0" i="0" dirty="0">
              <a:effectLst/>
              <a:latin typeface="Consolas" panose="020B0609020204030204" pitchFamily="49" charset="0"/>
            </a:endParaRPr>
          </a:p>
          <a:p>
            <a:r>
              <a:rPr lang="en-US" altLang="zh-CN" b="0" i="0" dirty="0">
                <a:effectLst/>
                <a:latin typeface="Consolas" panose="020B0609020204030204" pitchFamily="49" charset="0"/>
              </a:rPr>
              <a:t>f[</a:t>
            </a:r>
            <a:r>
              <a:rPr lang="en-US" altLang="zh-CN" b="0" i="0" dirty="0" err="1">
                <a:effectLst/>
                <a:latin typeface="Consolas" panose="020B0609020204030204" pitchFamily="49" charset="0"/>
              </a:rPr>
              <a:t>i</a:t>
            </a:r>
            <a:r>
              <a:rPr lang="en-US" altLang="zh-CN" b="0" i="0" dirty="0">
                <a:effectLst/>
                <a:latin typeface="Consolas" panose="020B0609020204030204" pitchFamily="49" charset="0"/>
              </a:rPr>
              <a:t>][v]=max{f[i-1][v],f[i-1][v-c[</a:t>
            </a:r>
            <a:r>
              <a:rPr lang="en-US" altLang="zh-CN" b="0" i="0" dirty="0" err="1">
                <a:effectLst/>
                <a:latin typeface="Consolas" panose="020B0609020204030204" pitchFamily="49" charset="0"/>
              </a:rPr>
              <a:t>i</a:t>
            </a:r>
            <a:r>
              <a:rPr lang="en-US" altLang="zh-CN" b="0" i="0" dirty="0">
                <a:effectLst/>
                <a:latin typeface="Consolas" panose="020B0609020204030204" pitchFamily="49" charset="0"/>
              </a:rPr>
              <a:t>]]+w[</a:t>
            </a:r>
            <a:r>
              <a:rPr lang="en-US" altLang="zh-CN" b="0" i="0" dirty="0" err="1">
                <a:effectLst/>
                <a:latin typeface="Consolas" panose="020B0609020204030204" pitchFamily="49" charset="0"/>
              </a:rPr>
              <a:t>i</a:t>
            </a:r>
            <a:r>
              <a:rPr lang="en-US" altLang="zh-CN" b="0" i="0" dirty="0">
                <a:effectLst/>
                <a:latin typeface="Consolas" panose="020B0609020204030204" pitchFamily="49" charset="0"/>
              </a:rPr>
              <a:t>]}</a:t>
            </a:r>
          </a:p>
          <a:p>
            <a:r>
              <a:rPr lang="en-US" altLang="zh-CN" dirty="0">
                <a:latin typeface="Consolas" panose="020B0609020204030204" pitchFamily="49" charset="0"/>
              </a:rPr>
              <a:t>max</a:t>
            </a:r>
            <a:r>
              <a:rPr lang="zh-CN" altLang="en-US" dirty="0">
                <a:latin typeface="Consolas" panose="020B0609020204030204" pitchFamily="49" charset="0"/>
              </a:rPr>
              <a:t>中的两项分别代表第</a:t>
            </a:r>
            <a:r>
              <a:rPr lang="en-US" altLang="zh-CN" dirty="0" err="1">
                <a:latin typeface="Consolas" panose="020B0609020204030204" pitchFamily="49" charset="0"/>
              </a:rPr>
              <a:t>i</a:t>
            </a:r>
            <a:r>
              <a:rPr lang="zh-CN" altLang="en-US" dirty="0">
                <a:latin typeface="Consolas" panose="020B0609020204030204" pitchFamily="49" charset="0"/>
              </a:rPr>
              <a:t>个物品选或者不选。</a:t>
            </a:r>
            <a:endParaRPr lang="en-US" altLang="zh-CN" dirty="0">
              <a:latin typeface="Consolas" panose="020B0609020204030204" pitchFamily="49" charset="0"/>
            </a:endParaRPr>
          </a:p>
          <a:p>
            <a:endParaRPr lang="en-US" altLang="zh-CN" dirty="0">
              <a:latin typeface="Consolas" panose="020B0609020204030204" pitchFamily="49" charset="0"/>
            </a:endParaRPr>
          </a:p>
          <a:p>
            <a:r>
              <a:rPr lang="zh-CN" altLang="en-US" dirty="0">
                <a:latin typeface="Consolas" panose="020B0609020204030204" pitchFamily="49" charset="0"/>
              </a:rPr>
              <a:t>这样设计</a:t>
            </a:r>
            <a:r>
              <a:rPr lang="en-US" altLang="zh-CN" dirty="0" err="1">
                <a:latin typeface="Consolas" panose="020B0609020204030204" pitchFamily="49" charset="0"/>
              </a:rPr>
              <a:t>dp</a:t>
            </a:r>
            <a:r>
              <a:rPr lang="zh-CN" altLang="en-US" dirty="0">
                <a:latin typeface="Consolas" panose="020B0609020204030204" pitchFamily="49" charset="0"/>
              </a:rPr>
              <a:t>，时间复杂度与空间复杂度均为</a:t>
            </a:r>
            <a:r>
              <a:rPr lang="en-US" altLang="zh-CN" dirty="0">
                <a:latin typeface="Consolas" panose="020B0609020204030204" pitchFamily="49" charset="0"/>
              </a:rPr>
              <a:t>O(</a:t>
            </a:r>
            <a:r>
              <a:rPr lang="en-US" altLang="zh-CN" dirty="0" err="1">
                <a:latin typeface="Consolas" panose="020B0609020204030204" pitchFamily="49" charset="0"/>
              </a:rPr>
              <a:t>nV</a:t>
            </a:r>
            <a:r>
              <a:rPr lang="en-US" altLang="zh-CN" dirty="0">
                <a:latin typeface="Consolas" panose="020B0609020204030204" pitchFamily="49" charset="0"/>
              </a:rPr>
              <a:t>)</a:t>
            </a:r>
          </a:p>
          <a:p>
            <a:r>
              <a:rPr lang="zh-CN" altLang="en-US" dirty="0">
                <a:latin typeface="Consolas" panose="020B0609020204030204" pitchFamily="49" charset="0"/>
              </a:rPr>
              <a:t>注意到</a:t>
            </a:r>
            <a:r>
              <a:rPr lang="en-US" altLang="zh-CN" dirty="0" err="1">
                <a:latin typeface="Consolas" panose="020B0609020204030204" pitchFamily="49" charset="0"/>
              </a:rPr>
              <a:t>dp</a:t>
            </a:r>
            <a:r>
              <a:rPr lang="zh-CN" altLang="en-US" dirty="0">
                <a:latin typeface="Consolas" panose="020B0609020204030204" pitchFamily="49" charset="0"/>
              </a:rPr>
              <a:t>数组</a:t>
            </a:r>
            <a:r>
              <a:rPr lang="en-US" altLang="zh-CN" dirty="0">
                <a:latin typeface="Consolas" panose="020B0609020204030204" pitchFamily="49" charset="0"/>
              </a:rPr>
              <a:t>f[</a:t>
            </a:r>
            <a:r>
              <a:rPr lang="en-US" altLang="zh-CN" dirty="0" err="1">
                <a:latin typeface="Consolas" panose="020B0609020204030204" pitchFamily="49" charset="0"/>
              </a:rPr>
              <a:t>i</a:t>
            </a:r>
            <a:r>
              <a:rPr lang="en-US" altLang="zh-CN" dirty="0">
                <a:latin typeface="Consolas" panose="020B0609020204030204" pitchFamily="49" charset="0"/>
              </a:rPr>
              <a:t>][v]</a:t>
            </a:r>
            <a:r>
              <a:rPr lang="zh-CN" altLang="en-US" dirty="0">
                <a:latin typeface="Consolas" panose="020B0609020204030204" pitchFamily="49" charset="0"/>
              </a:rPr>
              <a:t>可以用滚动数组优化。</a:t>
            </a:r>
            <a:endParaRPr lang="en-US" altLang="zh-CN" dirty="0">
              <a:latin typeface="Consolas" panose="020B0609020204030204" pitchFamily="49" charset="0"/>
            </a:endParaRPr>
          </a:p>
        </p:txBody>
      </p:sp>
    </p:spTree>
    <p:extLst>
      <p:ext uri="{BB962C8B-B14F-4D97-AF65-F5344CB8AC3E}">
        <p14:creationId xmlns:p14="http://schemas.microsoft.com/office/powerpoint/2010/main" val="318796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5D6907-8777-3600-C76A-02904956FB82}"/>
              </a:ext>
            </a:extLst>
          </p:cNvPr>
          <p:cNvSpPr>
            <a:spLocks noGrp="1"/>
          </p:cNvSpPr>
          <p:nvPr>
            <p:ph type="title"/>
          </p:nvPr>
        </p:nvSpPr>
        <p:spPr/>
        <p:txBody>
          <a:bodyPr/>
          <a:lstStyle/>
          <a:p>
            <a:r>
              <a:rPr lang="en-US" altLang="zh-CN" dirty="0"/>
              <a:t>01</a:t>
            </a:r>
            <a:r>
              <a:rPr lang="zh-CN" altLang="en-US" dirty="0"/>
              <a:t>背包问题</a:t>
            </a:r>
          </a:p>
        </p:txBody>
      </p:sp>
      <p:sp>
        <p:nvSpPr>
          <p:cNvPr id="3" name="内容占位符 2">
            <a:extLst>
              <a:ext uri="{FF2B5EF4-FFF2-40B4-BE49-F238E27FC236}">
                <a16:creationId xmlns:a16="http://schemas.microsoft.com/office/drawing/2014/main" id="{64C40C09-F7B2-A4B2-FCD0-93027E6D5237}"/>
              </a:ext>
            </a:extLst>
          </p:cNvPr>
          <p:cNvSpPr>
            <a:spLocks noGrp="1"/>
          </p:cNvSpPr>
          <p:nvPr>
            <p:ph idx="1"/>
          </p:nvPr>
        </p:nvSpPr>
        <p:spPr/>
        <p:txBody>
          <a:bodyPr/>
          <a:lstStyle/>
          <a:p>
            <a:r>
              <a:rPr lang="zh-CN" altLang="en-US" dirty="0">
                <a:latin typeface="Consolas" panose="020B0609020204030204" pitchFamily="49" charset="0"/>
              </a:rPr>
              <a:t>给出用滚动数组优化后的代码</a:t>
            </a:r>
          </a:p>
        </p:txBody>
      </p:sp>
      <p:pic>
        <p:nvPicPr>
          <p:cNvPr id="5" name="图片 4">
            <a:extLst>
              <a:ext uri="{FF2B5EF4-FFF2-40B4-BE49-F238E27FC236}">
                <a16:creationId xmlns:a16="http://schemas.microsoft.com/office/drawing/2014/main" id="{1F1D2C8F-4C82-CB94-B38B-9B8A2CF03338}"/>
              </a:ext>
            </a:extLst>
          </p:cNvPr>
          <p:cNvPicPr>
            <a:picLocks noChangeAspect="1"/>
          </p:cNvPicPr>
          <p:nvPr/>
        </p:nvPicPr>
        <p:blipFill>
          <a:blip r:embed="rId2"/>
          <a:stretch>
            <a:fillRect/>
          </a:stretch>
        </p:blipFill>
        <p:spPr>
          <a:xfrm>
            <a:off x="838200" y="2413157"/>
            <a:ext cx="7125694" cy="2295845"/>
          </a:xfrm>
          <a:prstGeom prst="rect">
            <a:avLst/>
          </a:prstGeom>
        </p:spPr>
      </p:pic>
    </p:spTree>
    <p:extLst>
      <p:ext uri="{BB962C8B-B14F-4D97-AF65-F5344CB8AC3E}">
        <p14:creationId xmlns:p14="http://schemas.microsoft.com/office/powerpoint/2010/main" val="2596204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D13218-BE62-9A1E-5EF3-3A4B6F067BCA}"/>
              </a:ext>
            </a:extLst>
          </p:cNvPr>
          <p:cNvSpPr>
            <a:spLocks noGrp="1"/>
          </p:cNvSpPr>
          <p:nvPr>
            <p:ph type="title"/>
          </p:nvPr>
        </p:nvSpPr>
        <p:spPr/>
        <p:txBody>
          <a:bodyPr/>
          <a:lstStyle/>
          <a:p>
            <a:r>
              <a:rPr lang="en-US" altLang="zh-CN" dirty="0"/>
              <a:t>01</a:t>
            </a:r>
            <a:r>
              <a:rPr lang="zh-CN" altLang="en-US" dirty="0"/>
              <a:t>背包问题</a:t>
            </a:r>
          </a:p>
        </p:txBody>
      </p:sp>
      <p:sp>
        <p:nvSpPr>
          <p:cNvPr id="3" name="内容占位符 2">
            <a:extLst>
              <a:ext uri="{FF2B5EF4-FFF2-40B4-BE49-F238E27FC236}">
                <a16:creationId xmlns:a16="http://schemas.microsoft.com/office/drawing/2014/main" id="{C65C158F-B81F-BABD-6DDC-F21D1CE39395}"/>
              </a:ext>
            </a:extLst>
          </p:cNvPr>
          <p:cNvSpPr>
            <a:spLocks noGrp="1"/>
          </p:cNvSpPr>
          <p:nvPr>
            <p:ph idx="1"/>
          </p:nvPr>
        </p:nvSpPr>
        <p:spPr/>
        <p:txBody>
          <a:bodyPr/>
          <a:lstStyle/>
          <a:p>
            <a:r>
              <a:rPr lang="zh-CN" altLang="en-US" dirty="0">
                <a:latin typeface="Consolas" panose="020B0609020204030204" pitchFamily="49" charset="0"/>
              </a:rPr>
              <a:t>实际上，</a:t>
            </a:r>
            <a:r>
              <a:rPr lang="en-US" altLang="zh-CN" dirty="0">
                <a:latin typeface="Consolas" panose="020B0609020204030204" pitchFamily="49" charset="0"/>
              </a:rPr>
              <a:t>01</a:t>
            </a:r>
            <a:r>
              <a:rPr lang="zh-CN" altLang="en-US" dirty="0">
                <a:latin typeface="Consolas" panose="020B0609020204030204" pitchFamily="49" charset="0"/>
              </a:rPr>
              <a:t>背包问题可以直接写成这样：</a:t>
            </a:r>
            <a:endParaRPr lang="en-US" altLang="zh-CN" dirty="0">
              <a:latin typeface="Consolas" panose="020B0609020204030204" pitchFamily="49" charset="0"/>
            </a:endParaRPr>
          </a:p>
          <a:p>
            <a:endParaRPr lang="en-US" altLang="zh-CN" dirty="0">
              <a:latin typeface="Consolas" panose="020B0609020204030204" pitchFamily="49" charset="0"/>
            </a:endParaRPr>
          </a:p>
          <a:p>
            <a:endParaRPr lang="en-US" altLang="zh-CN" dirty="0">
              <a:latin typeface="Consolas" panose="020B0609020204030204" pitchFamily="49" charset="0"/>
            </a:endParaRPr>
          </a:p>
          <a:p>
            <a:endParaRPr lang="en-US" altLang="zh-CN" dirty="0">
              <a:latin typeface="Consolas" panose="020B0609020204030204" pitchFamily="49" charset="0"/>
            </a:endParaRPr>
          </a:p>
          <a:p>
            <a:r>
              <a:rPr lang="zh-CN" altLang="en-US" dirty="0">
                <a:latin typeface="Consolas" panose="020B0609020204030204" pitchFamily="49" charset="0"/>
              </a:rPr>
              <a:t>我们直接将二维数组优化成了一维数组</a:t>
            </a:r>
            <a:endParaRPr lang="en-US" altLang="zh-CN" dirty="0">
              <a:latin typeface="Consolas" panose="020B0609020204030204" pitchFamily="49" charset="0"/>
            </a:endParaRPr>
          </a:p>
        </p:txBody>
      </p:sp>
      <p:pic>
        <p:nvPicPr>
          <p:cNvPr id="7" name="图片 6">
            <a:extLst>
              <a:ext uri="{FF2B5EF4-FFF2-40B4-BE49-F238E27FC236}">
                <a16:creationId xmlns:a16="http://schemas.microsoft.com/office/drawing/2014/main" id="{9AFF7987-2080-F470-87B3-7EF79483DFE9}"/>
              </a:ext>
            </a:extLst>
          </p:cNvPr>
          <p:cNvPicPr>
            <a:picLocks noChangeAspect="1"/>
          </p:cNvPicPr>
          <p:nvPr/>
        </p:nvPicPr>
        <p:blipFill>
          <a:blip r:embed="rId2"/>
          <a:stretch>
            <a:fillRect/>
          </a:stretch>
        </p:blipFill>
        <p:spPr>
          <a:xfrm>
            <a:off x="838200" y="2477719"/>
            <a:ext cx="4544059" cy="724001"/>
          </a:xfrm>
          <a:prstGeom prst="rect">
            <a:avLst/>
          </a:prstGeom>
        </p:spPr>
      </p:pic>
    </p:spTree>
    <p:extLst>
      <p:ext uri="{BB962C8B-B14F-4D97-AF65-F5344CB8AC3E}">
        <p14:creationId xmlns:p14="http://schemas.microsoft.com/office/powerpoint/2010/main" val="3383293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3647BC-73C1-A72E-3F46-AECCC88E5DE7}"/>
              </a:ext>
            </a:extLst>
          </p:cNvPr>
          <p:cNvSpPr>
            <a:spLocks noGrp="1"/>
          </p:cNvSpPr>
          <p:nvPr>
            <p:ph type="title"/>
          </p:nvPr>
        </p:nvSpPr>
        <p:spPr/>
        <p:txBody>
          <a:bodyPr/>
          <a:lstStyle/>
          <a:p>
            <a:r>
              <a:rPr lang="en-US" altLang="zh-CN" dirty="0"/>
              <a:t>01</a:t>
            </a:r>
            <a:r>
              <a:rPr lang="zh-CN" altLang="en-US" dirty="0"/>
              <a:t>背包问题</a:t>
            </a:r>
          </a:p>
        </p:txBody>
      </p:sp>
      <p:sp>
        <p:nvSpPr>
          <p:cNvPr id="3" name="内容占位符 2">
            <a:extLst>
              <a:ext uri="{FF2B5EF4-FFF2-40B4-BE49-F238E27FC236}">
                <a16:creationId xmlns:a16="http://schemas.microsoft.com/office/drawing/2014/main" id="{2DDF88C6-F10B-CF29-1E2F-631684687A72}"/>
              </a:ext>
            </a:extLst>
          </p:cNvPr>
          <p:cNvSpPr>
            <a:spLocks noGrp="1"/>
          </p:cNvSpPr>
          <p:nvPr>
            <p:ph idx="1"/>
          </p:nvPr>
        </p:nvSpPr>
        <p:spPr/>
        <p:txBody>
          <a:bodyPr/>
          <a:lstStyle/>
          <a:p>
            <a:pPr marL="0" indent="0">
              <a:buNone/>
            </a:pPr>
            <a:endParaRPr lang="en-US" altLang="zh-CN" dirty="0"/>
          </a:p>
          <a:p>
            <a:pPr marL="0" indent="0">
              <a:buNone/>
            </a:pPr>
            <a:endParaRPr lang="en-US" altLang="zh-CN" dirty="0"/>
          </a:p>
          <a:p>
            <a:pPr marL="0" indent="0">
              <a:buNone/>
            </a:pPr>
            <a:r>
              <a:rPr lang="zh-CN" altLang="en-US" dirty="0">
                <a:latin typeface="Consolas" panose="020B0609020204030204" pitchFamily="49" charset="0"/>
              </a:rPr>
              <a:t>来看看这为什么是对的：</a:t>
            </a:r>
            <a:endParaRPr lang="en-US" altLang="zh-CN" dirty="0">
              <a:latin typeface="Consolas" panose="020B0609020204030204" pitchFamily="49" charset="0"/>
            </a:endParaRPr>
          </a:p>
          <a:p>
            <a:pPr marL="514350" indent="-514350">
              <a:buAutoNum type="arabicPeriod"/>
            </a:pPr>
            <a:r>
              <a:rPr lang="zh-CN" altLang="en-US" dirty="0">
                <a:latin typeface="Consolas" panose="020B0609020204030204" pitchFamily="49" charset="0"/>
              </a:rPr>
              <a:t>当</a:t>
            </a:r>
            <a:r>
              <a:rPr lang="en-US" altLang="zh-CN" dirty="0">
                <a:latin typeface="Consolas" panose="020B0609020204030204" pitchFamily="49" charset="0"/>
              </a:rPr>
              <a:t>v&lt;c[</a:t>
            </a:r>
            <a:r>
              <a:rPr lang="en-US" altLang="zh-CN" dirty="0" err="1">
                <a:latin typeface="Consolas" panose="020B0609020204030204" pitchFamily="49" charset="0"/>
              </a:rPr>
              <a:t>i</a:t>
            </a:r>
            <a:r>
              <a:rPr lang="en-US" altLang="zh-CN" dirty="0">
                <a:latin typeface="Consolas" panose="020B0609020204030204" pitchFamily="49" charset="0"/>
              </a:rPr>
              <a:t>]</a:t>
            </a:r>
            <a:r>
              <a:rPr lang="zh-CN" altLang="en-US" dirty="0">
                <a:latin typeface="Consolas" panose="020B0609020204030204" pitchFamily="49" charset="0"/>
              </a:rPr>
              <a:t>：不作改变，等价于 </a:t>
            </a:r>
            <a:r>
              <a:rPr lang="en-US" altLang="zh-CN" b="0" i="0" dirty="0">
                <a:effectLst/>
                <a:latin typeface="Consolas" panose="020B0609020204030204" pitchFamily="49" charset="0"/>
              </a:rPr>
              <a:t>f[</a:t>
            </a:r>
            <a:r>
              <a:rPr lang="en-US" altLang="zh-CN" b="0" i="0" dirty="0" err="1">
                <a:effectLst/>
                <a:latin typeface="Consolas" panose="020B0609020204030204" pitchFamily="49" charset="0"/>
              </a:rPr>
              <a:t>i</a:t>
            </a:r>
            <a:r>
              <a:rPr lang="en-US" altLang="zh-CN" b="0" i="0" dirty="0">
                <a:effectLst/>
                <a:latin typeface="Consolas" panose="020B0609020204030204" pitchFamily="49" charset="0"/>
              </a:rPr>
              <a:t>][v]=f[i-1][v].</a:t>
            </a:r>
            <a:endParaRPr lang="en-US" altLang="zh-CN" dirty="0">
              <a:latin typeface="Consolas" panose="020B0609020204030204" pitchFamily="49" charset="0"/>
            </a:endParaRPr>
          </a:p>
          <a:p>
            <a:pPr marL="514350" indent="-514350">
              <a:buAutoNum type="arabicPeriod"/>
            </a:pPr>
            <a:r>
              <a:rPr lang="zh-CN" altLang="en-US" dirty="0">
                <a:latin typeface="Consolas" panose="020B0609020204030204" pitchFamily="49" charset="0"/>
              </a:rPr>
              <a:t>当</a:t>
            </a:r>
            <a:r>
              <a:rPr lang="en-US" altLang="zh-CN" dirty="0">
                <a:latin typeface="Consolas" panose="020B0609020204030204" pitchFamily="49" charset="0"/>
              </a:rPr>
              <a:t>v&gt;=c[</a:t>
            </a:r>
            <a:r>
              <a:rPr lang="en-US" altLang="zh-CN" dirty="0" err="1">
                <a:latin typeface="Consolas" panose="020B0609020204030204" pitchFamily="49" charset="0"/>
              </a:rPr>
              <a:t>i</a:t>
            </a:r>
            <a:r>
              <a:rPr lang="en-US" altLang="zh-CN" dirty="0">
                <a:latin typeface="Consolas" panose="020B0609020204030204" pitchFamily="49" charset="0"/>
              </a:rPr>
              <a:t>]</a:t>
            </a:r>
            <a:r>
              <a:rPr lang="zh-CN" altLang="en-US" dirty="0">
                <a:latin typeface="Consolas" panose="020B0609020204030204" pitchFamily="49" charset="0"/>
              </a:rPr>
              <a:t>：</a:t>
            </a:r>
            <a:endParaRPr lang="en-US" altLang="zh-CN" dirty="0">
              <a:latin typeface="Consolas" panose="020B0609020204030204" pitchFamily="49" charset="0"/>
            </a:endParaRPr>
          </a:p>
          <a:p>
            <a:pPr marL="0" indent="0">
              <a:buNone/>
            </a:pPr>
            <a:r>
              <a:rPr lang="en-US" altLang="zh-CN" dirty="0">
                <a:latin typeface="Consolas" panose="020B0609020204030204" pitchFamily="49" charset="0"/>
              </a:rPr>
              <a:t>	a. </a:t>
            </a:r>
            <a:r>
              <a:rPr lang="zh-CN" altLang="en-US" dirty="0">
                <a:latin typeface="Consolas" panose="020B0609020204030204" pitchFamily="49" charset="0"/>
              </a:rPr>
              <a:t>注意我们是倒着枚举</a:t>
            </a:r>
            <a:r>
              <a:rPr lang="en-US" altLang="zh-CN" dirty="0">
                <a:latin typeface="Consolas" panose="020B0609020204030204" pitchFamily="49" charset="0"/>
              </a:rPr>
              <a:t>v</a:t>
            </a:r>
            <a:r>
              <a:rPr lang="zh-CN" altLang="en-US" dirty="0">
                <a:latin typeface="Consolas" panose="020B0609020204030204" pitchFamily="49" charset="0"/>
              </a:rPr>
              <a:t>的！</a:t>
            </a:r>
            <a:r>
              <a:rPr lang="en-US" altLang="zh-CN" dirty="0">
                <a:latin typeface="Consolas" panose="020B0609020204030204" pitchFamily="49" charset="0"/>
              </a:rPr>
              <a:t>f[]</a:t>
            </a:r>
            <a:r>
              <a:rPr lang="zh-CN" altLang="en-US" dirty="0">
                <a:latin typeface="Consolas" panose="020B0609020204030204" pitchFamily="49" charset="0"/>
              </a:rPr>
              <a:t>从大到小更新！</a:t>
            </a:r>
            <a:endParaRPr lang="en-US" altLang="zh-CN" dirty="0">
              <a:latin typeface="Consolas" panose="020B0609020204030204" pitchFamily="49" charset="0"/>
            </a:endParaRPr>
          </a:p>
          <a:p>
            <a:pPr marL="0" indent="0">
              <a:buNone/>
            </a:pPr>
            <a:r>
              <a:rPr lang="en-US" altLang="zh-CN" b="0" i="0" dirty="0">
                <a:effectLst/>
                <a:latin typeface="Consolas" panose="020B0609020204030204" pitchFamily="49" charset="0"/>
              </a:rPr>
              <a:t>	b. </a:t>
            </a:r>
            <a:r>
              <a:rPr lang="en-US" altLang="zh-CN" dirty="0">
                <a:latin typeface="Consolas" panose="020B0609020204030204" pitchFamily="49" charset="0"/>
              </a:rPr>
              <a:t>max</a:t>
            </a:r>
            <a:r>
              <a:rPr lang="zh-CN" altLang="en-US" dirty="0">
                <a:latin typeface="Consolas" panose="020B0609020204030204" pitchFamily="49" charset="0"/>
              </a:rPr>
              <a:t>中的</a:t>
            </a:r>
            <a:r>
              <a:rPr lang="en-US" altLang="zh-CN" dirty="0">
                <a:latin typeface="Consolas" panose="020B0609020204030204" pitchFamily="49" charset="0"/>
              </a:rPr>
              <a:t>f[v]</a:t>
            </a:r>
            <a:r>
              <a:rPr lang="zh-CN" altLang="en-US" dirty="0">
                <a:latin typeface="Consolas" panose="020B0609020204030204" pitchFamily="49" charset="0"/>
              </a:rPr>
              <a:t>的值等价于</a:t>
            </a:r>
            <a:r>
              <a:rPr lang="en-US" altLang="zh-CN" dirty="0">
                <a:latin typeface="Consolas" panose="020B0609020204030204" pitchFamily="49" charset="0"/>
              </a:rPr>
              <a:t>f[i-1][v]</a:t>
            </a:r>
            <a:r>
              <a:rPr lang="zh-CN" altLang="en-US" dirty="0">
                <a:latin typeface="Consolas" panose="020B0609020204030204" pitchFamily="49" charset="0"/>
              </a:rPr>
              <a:t>，</a:t>
            </a:r>
            <a:r>
              <a:rPr lang="en-US" altLang="zh-CN" dirty="0">
                <a:latin typeface="Consolas" panose="020B0609020204030204" pitchFamily="49" charset="0"/>
              </a:rPr>
              <a:t>max</a:t>
            </a:r>
            <a:r>
              <a:rPr lang="zh-CN" altLang="en-US" dirty="0">
                <a:latin typeface="Consolas" panose="020B0609020204030204" pitchFamily="49" charset="0"/>
              </a:rPr>
              <a:t>中的</a:t>
            </a:r>
            <a:endParaRPr lang="en-US" altLang="zh-CN" dirty="0">
              <a:latin typeface="Consolas" panose="020B0609020204030204" pitchFamily="49" charset="0"/>
            </a:endParaRPr>
          </a:p>
          <a:p>
            <a:pPr marL="0" indent="0">
              <a:buNone/>
            </a:pPr>
            <a:r>
              <a:rPr lang="en-US" altLang="zh-CN" dirty="0">
                <a:latin typeface="Consolas" panose="020B0609020204030204" pitchFamily="49" charset="0"/>
              </a:rPr>
              <a:t>	f[v-c[</a:t>
            </a:r>
            <a:r>
              <a:rPr lang="en-US" altLang="zh-CN" dirty="0" err="1">
                <a:latin typeface="Consolas" panose="020B0609020204030204" pitchFamily="49" charset="0"/>
              </a:rPr>
              <a:t>i</a:t>
            </a:r>
            <a:r>
              <a:rPr lang="en-US" altLang="zh-CN" dirty="0">
                <a:latin typeface="Consolas" panose="020B0609020204030204" pitchFamily="49" charset="0"/>
              </a:rPr>
              <a:t>]]</a:t>
            </a:r>
            <a:r>
              <a:rPr lang="zh-CN" altLang="en-US" dirty="0">
                <a:latin typeface="Consolas" panose="020B0609020204030204" pitchFamily="49" charset="0"/>
              </a:rPr>
              <a:t>等价于</a:t>
            </a:r>
            <a:r>
              <a:rPr lang="en-US" altLang="zh-CN" dirty="0">
                <a:latin typeface="Consolas" panose="020B0609020204030204" pitchFamily="49" charset="0"/>
              </a:rPr>
              <a:t>f[i-1][v-c[</a:t>
            </a:r>
            <a:r>
              <a:rPr lang="en-US" altLang="zh-CN" dirty="0" err="1">
                <a:latin typeface="Consolas" panose="020B0609020204030204" pitchFamily="49" charset="0"/>
              </a:rPr>
              <a:t>i</a:t>
            </a:r>
            <a:r>
              <a:rPr lang="en-US" altLang="zh-CN" dirty="0">
                <a:latin typeface="Consolas" panose="020B0609020204030204" pitchFamily="49" charset="0"/>
              </a:rPr>
              <a:t>]]</a:t>
            </a:r>
            <a:r>
              <a:rPr lang="zh-CN" altLang="en-US" dirty="0">
                <a:latin typeface="Consolas" panose="020B0609020204030204" pitchFamily="49" charset="0"/>
              </a:rPr>
              <a:t>。</a:t>
            </a:r>
            <a:endParaRPr lang="en-US" altLang="zh-CN" b="0" i="0" dirty="0">
              <a:effectLst/>
              <a:latin typeface="Consolas" panose="020B0609020204030204" pitchFamily="49" charset="0"/>
            </a:endParaRPr>
          </a:p>
        </p:txBody>
      </p:sp>
      <p:pic>
        <p:nvPicPr>
          <p:cNvPr id="8" name="图片 7">
            <a:extLst>
              <a:ext uri="{FF2B5EF4-FFF2-40B4-BE49-F238E27FC236}">
                <a16:creationId xmlns:a16="http://schemas.microsoft.com/office/drawing/2014/main" id="{4A67AA56-EB39-0ED6-25DE-2B33470CFDCD}"/>
              </a:ext>
            </a:extLst>
          </p:cNvPr>
          <p:cNvPicPr>
            <a:picLocks noChangeAspect="1"/>
          </p:cNvPicPr>
          <p:nvPr/>
        </p:nvPicPr>
        <p:blipFill>
          <a:blip r:embed="rId2"/>
          <a:stretch>
            <a:fillRect/>
          </a:stretch>
        </p:blipFill>
        <p:spPr>
          <a:xfrm>
            <a:off x="838200" y="1690688"/>
            <a:ext cx="4544059" cy="724001"/>
          </a:xfrm>
          <a:prstGeom prst="rect">
            <a:avLst/>
          </a:prstGeom>
        </p:spPr>
      </p:pic>
    </p:spTree>
    <p:extLst>
      <p:ext uri="{BB962C8B-B14F-4D97-AF65-F5344CB8AC3E}">
        <p14:creationId xmlns:p14="http://schemas.microsoft.com/office/powerpoint/2010/main" val="346581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9AEFD1-E4BE-E914-A887-9ACF68A57AED}"/>
              </a:ext>
            </a:extLst>
          </p:cNvPr>
          <p:cNvSpPr>
            <a:spLocks noGrp="1"/>
          </p:cNvSpPr>
          <p:nvPr>
            <p:ph type="title"/>
          </p:nvPr>
        </p:nvSpPr>
        <p:spPr/>
        <p:txBody>
          <a:bodyPr/>
          <a:lstStyle/>
          <a:p>
            <a:r>
              <a:rPr lang="zh-CN" altLang="en-US" dirty="0"/>
              <a:t>初始化细节</a:t>
            </a:r>
          </a:p>
        </p:txBody>
      </p:sp>
      <p:sp>
        <p:nvSpPr>
          <p:cNvPr id="3" name="内容占位符 2">
            <a:extLst>
              <a:ext uri="{FF2B5EF4-FFF2-40B4-BE49-F238E27FC236}">
                <a16:creationId xmlns:a16="http://schemas.microsoft.com/office/drawing/2014/main" id="{1E09EB3B-3D36-7110-91C8-7B2BF77FB2B8}"/>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7B23C630-1EC2-01A9-664F-75D16A9064EC}"/>
              </a:ext>
            </a:extLst>
          </p:cNvPr>
          <p:cNvPicPr>
            <a:picLocks noChangeAspect="1"/>
          </p:cNvPicPr>
          <p:nvPr/>
        </p:nvPicPr>
        <p:blipFill>
          <a:blip r:embed="rId2"/>
          <a:stretch>
            <a:fillRect/>
          </a:stretch>
        </p:blipFill>
        <p:spPr>
          <a:xfrm>
            <a:off x="369672" y="1825625"/>
            <a:ext cx="11452655" cy="3169852"/>
          </a:xfrm>
          <a:prstGeom prst="rect">
            <a:avLst/>
          </a:prstGeom>
        </p:spPr>
      </p:pic>
    </p:spTree>
    <p:extLst>
      <p:ext uri="{BB962C8B-B14F-4D97-AF65-F5344CB8AC3E}">
        <p14:creationId xmlns:p14="http://schemas.microsoft.com/office/powerpoint/2010/main" val="648714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A89B11-B248-9FA7-4A57-98299C536D70}"/>
              </a:ext>
            </a:extLst>
          </p:cNvPr>
          <p:cNvSpPr>
            <a:spLocks noGrp="1"/>
          </p:cNvSpPr>
          <p:nvPr>
            <p:ph type="title"/>
          </p:nvPr>
        </p:nvSpPr>
        <p:spPr/>
        <p:txBody>
          <a:bodyPr/>
          <a:lstStyle/>
          <a:p>
            <a:r>
              <a:rPr lang="zh-CN" altLang="en-US" dirty="0"/>
              <a:t>完全背包问题</a:t>
            </a:r>
          </a:p>
        </p:txBody>
      </p:sp>
      <p:sp>
        <p:nvSpPr>
          <p:cNvPr id="3" name="内容占位符 2">
            <a:extLst>
              <a:ext uri="{FF2B5EF4-FFF2-40B4-BE49-F238E27FC236}">
                <a16:creationId xmlns:a16="http://schemas.microsoft.com/office/drawing/2014/main" id="{E4F67218-CB6C-824E-9E27-D2CCC0AE33FA}"/>
              </a:ext>
            </a:extLst>
          </p:cNvPr>
          <p:cNvSpPr>
            <a:spLocks noGrp="1"/>
          </p:cNvSpPr>
          <p:nvPr>
            <p:ph idx="1"/>
          </p:nvPr>
        </p:nvSpPr>
        <p:spPr/>
        <p:txBody>
          <a:bodyPr/>
          <a:lstStyle/>
          <a:p>
            <a:r>
              <a:rPr lang="zh-CN" altLang="en-US" b="0" i="0" dirty="0">
                <a:effectLst/>
                <a:latin typeface="Consolas" panose="020B0609020204030204" pitchFamily="49" charset="0"/>
              </a:rPr>
              <a:t>有</a:t>
            </a:r>
            <a:r>
              <a:rPr lang="en-US" altLang="zh-CN" dirty="0">
                <a:latin typeface="Consolas" panose="020B0609020204030204" pitchFamily="49" charset="0"/>
              </a:rPr>
              <a:t>n</a:t>
            </a:r>
            <a:r>
              <a:rPr lang="zh-CN" altLang="en-US" b="0" i="0" dirty="0">
                <a:effectLst/>
                <a:latin typeface="Consolas" panose="020B0609020204030204" pitchFamily="49" charset="0"/>
              </a:rPr>
              <a:t>种物品和一个容量为</a:t>
            </a:r>
            <a:r>
              <a:rPr lang="en-US" altLang="zh-CN" b="0" i="0" dirty="0">
                <a:effectLst/>
                <a:latin typeface="Consolas" panose="020B0609020204030204" pitchFamily="49" charset="0"/>
              </a:rPr>
              <a:t>V</a:t>
            </a:r>
            <a:r>
              <a:rPr lang="zh-CN" altLang="en-US" b="0" i="0" dirty="0">
                <a:effectLst/>
                <a:latin typeface="Consolas" panose="020B0609020204030204" pitchFamily="49" charset="0"/>
              </a:rPr>
              <a:t>的背包，</a:t>
            </a:r>
            <a:r>
              <a:rPr lang="zh-CN" altLang="en-US" b="1" i="0" dirty="0">
                <a:effectLst/>
                <a:latin typeface="Consolas" panose="020B0609020204030204" pitchFamily="49" charset="0"/>
              </a:rPr>
              <a:t>每种物品都有无限件可用</a:t>
            </a:r>
            <a:r>
              <a:rPr lang="zh-CN" altLang="en-US" b="0" i="0" dirty="0">
                <a:effectLst/>
                <a:latin typeface="Consolas" panose="020B0609020204030204" pitchFamily="49" charset="0"/>
              </a:rPr>
              <a:t>。第</a:t>
            </a:r>
            <a:r>
              <a:rPr lang="en-US" altLang="zh-CN" b="0" i="0" dirty="0" err="1">
                <a:effectLst/>
                <a:latin typeface="Consolas" panose="020B0609020204030204" pitchFamily="49" charset="0"/>
              </a:rPr>
              <a:t>i</a:t>
            </a:r>
            <a:r>
              <a:rPr lang="zh-CN" altLang="en-US" b="0" i="0" dirty="0">
                <a:effectLst/>
                <a:latin typeface="Consolas" panose="020B0609020204030204" pitchFamily="49" charset="0"/>
              </a:rPr>
              <a:t>种物品的费用是</a:t>
            </a:r>
            <a:r>
              <a:rPr lang="en-US" altLang="zh-CN" b="0" i="0" dirty="0">
                <a:effectLst/>
                <a:latin typeface="Consolas" panose="020B0609020204030204" pitchFamily="49" charset="0"/>
              </a:rPr>
              <a:t>c[</a:t>
            </a:r>
            <a:r>
              <a:rPr lang="en-US" altLang="zh-CN" b="0" i="0" dirty="0" err="1">
                <a:effectLst/>
                <a:latin typeface="Consolas" panose="020B0609020204030204" pitchFamily="49" charset="0"/>
              </a:rPr>
              <a:t>i</a:t>
            </a:r>
            <a:r>
              <a:rPr lang="en-US" altLang="zh-CN" b="0" i="0" dirty="0">
                <a:effectLst/>
                <a:latin typeface="Consolas" panose="020B0609020204030204" pitchFamily="49" charset="0"/>
              </a:rPr>
              <a:t>]</a:t>
            </a:r>
            <a:r>
              <a:rPr lang="zh-CN" altLang="en-US" b="0" i="0" dirty="0">
                <a:effectLst/>
                <a:latin typeface="Consolas" panose="020B0609020204030204" pitchFamily="49" charset="0"/>
              </a:rPr>
              <a:t>，价值是</a:t>
            </a:r>
            <a:r>
              <a:rPr lang="en-US" altLang="zh-CN" b="0" i="0" dirty="0">
                <a:effectLst/>
                <a:latin typeface="Consolas" panose="020B0609020204030204" pitchFamily="49" charset="0"/>
              </a:rPr>
              <a:t>w[</a:t>
            </a:r>
            <a:r>
              <a:rPr lang="en-US" altLang="zh-CN" b="0" i="0" dirty="0" err="1">
                <a:effectLst/>
                <a:latin typeface="Consolas" panose="020B0609020204030204" pitchFamily="49" charset="0"/>
              </a:rPr>
              <a:t>i</a:t>
            </a:r>
            <a:r>
              <a:rPr lang="en-US" altLang="zh-CN" b="0" i="0" dirty="0">
                <a:effectLst/>
                <a:latin typeface="Consolas" panose="020B0609020204030204" pitchFamily="49" charset="0"/>
              </a:rPr>
              <a:t>]</a:t>
            </a:r>
            <a:r>
              <a:rPr lang="zh-CN" altLang="en-US" b="0" i="0" dirty="0">
                <a:effectLst/>
                <a:latin typeface="Consolas" panose="020B0609020204030204" pitchFamily="49" charset="0"/>
              </a:rPr>
              <a:t>。求解将哪些物品装入背包可使这些物品的费用总和不超过背包容量，且价值总和最大。</a:t>
            </a:r>
            <a:endParaRPr lang="en-US" altLang="zh-CN" b="0" i="0" dirty="0">
              <a:effectLst/>
              <a:latin typeface="Consolas" panose="020B0609020204030204" pitchFamily="49" charset="0"/>
            </a:endParaRPr>
          </a:p>
          <a:p>
            <a:endParaRPr lang="en-US" altLang="zh-CN" dirty="0">
              <a:latin typeface="Consolas" panose="020B0609020204030204" pitchFamily="49" charset="0"/>
            </a:endParaRPr>
          </a:p>
          <a:p>
            <a:r>
              <a:rPr lang="en-US" altLang="zh-CN" dirty="0">
                <a:hlinkClick r:id="rId2"/>
              </a:rPr>
              <a:t>P1616 </a:t>
            </a:r>
            <a:r>
              <a:rPr lang="zh-CN" altLang="en-US" dirty="0">
                <a:hlinkClick r:id="rId2"/>
              </a:rPr>
              <a:t>疯狂的采药</a:t>
            </a:r>
            <a:endParaRPr lang="zh-CN" altLang="en-US" dirty="0">
              <a:latin typeface="Consolas" panose="020B0609020204030204" pitchFamily="49" charset="0"/>
            </a:endParaRPr>
          </a:p>
        </p:txBody>
      </p:sp>
    </p:spTree>
    <p:extLst>
      <p:ext uri="{BB962C8B-B14F-4D97-AF65-F5344CB8AC3E}">
        <p14:creationId xmlns:p14="http://schemas.microsoft.com/office/powerpoint/2010/main" val="1169555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70FE34-E954-A5C4-75C8-742DF0D704A7}"/>
              </a:ext>
            </a:extLst>
          </p:cNvPr>
          <p:cNvSpPr>
            <a:spLocks noGrp="1"/>
          </p:cNvSpPr>
          <p:nvPr>
            <p:ph type="title"/>
          </p:nvPr>
        </p:nvSpPr>
        <p:spPr/>
        <p:txBody>
          <a:bodyPr/>
          <a:lstStyle/>
          <a:p>
            <a:r>
              <a:rPr lang="zh-CN" altLang="en-US" dirty="0"/>
              <a:t>完全背包问题</a:t>
            </a:r>
          </a:p>
        </p:txBody>
      </p:sp>
      <p:sp>
        <p:nvSpPr>
          <p:cNvPr id="3" name="内容占位符 2">
            <a:extLst>
              <a:ext uri="{FF2B5EF4-FFF2-40B4-BE49-F238E27FC236}">
                <a16:creationId xmlns:a16="http://schemas.microsoft.com/office/drawing/2014/main" id="{0201052A-3C06-6191-C3D5-62E1A34D3E0C}"/>
              </a:ext>
            </a:extLst>
          </p:cNvPr>
          <p:cNvSpPr>
            <a:spLocks noGrp="1"/>
          </p:cNvSpPr>
          <p:nvPr>
            <p:ph idx="1"/>
          </p:nvPr>
        </p:nvSpPr>
        <p:spPr/>
        <p:txBody>
          <a:bodyPr/>
          <a:lstStyle/>
          <a:p>
            <a:r>
              <a:rPr lang="zh-CN" altLang="en-US" dirty="0"/>
              <a:t>一种简单的解决办法是：转移时枚举枚举物品的选择个数，此办法时间复杂度太高，不能接受。</a:t>
            </a:r>
          </a:p>
        </p:txBody>
      </p:sp>
    </p:spTree>
    <p:extLst>
      <p:ext uri="{BB962C8B-B14F-4D97-AF65-F5344CB8AC3E}">
        <p14:creationId xmlns:p14="http://schemas.microsoft.com/office/powerpoint/2010/main" val="3467228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1E47A7-4F3E-0EA9-A510-02ACC38F1354}"/>
              </a:ext>
            </a:extLst>
          </p:cNvPr>
          <p:cNvSpPr>
            <a:spLocks noGrp="1"/>
          </p:cNvSpPr>
          <p:nvPr>
            <p:ph type="title"/>
          </p:nvPr>
        </p:nvSpPr>
        <p:spPr/>
        <p:txBody>
          <a:bodyPr/>
          <a:lstStyle/>
          <a:p>
            <a:r>
              <a:rPr lang="zh-CN" altLang="en-US" dirty="0"/>
              <a:t>完全背包问题</a:t>
            </a:r>
          </a:p>
        </p:txBody>
      </p:sp>
      <p:sp>
        <p:nvSpPr>
          <p:cNvPr id="3" name="内容占位符 2">
            <a:extLst>
              <a:ext uri="{FF2B5EF4-FFF2-40B4-BE49-F238E27FC236}">
                <a16:creationId xmlns:a16="http://schemas.microsoft.com/office/drawing/2014/main" id="{B95670CF-3232-5082-E897-035BEDC99E59}"/>
              </a:ext>
            </a:extLst>
          </p:cNvPr>
          <p:cNvSpPr>
            <a:spLocks noGrp="1"/>
          </p:cNvSpPr>
          <p:nvPr>
            <p:ph idx="1"/>
          </p:nvPr>
        </p:nvSpPr>
        <p:spPr/>
        <p:txBody>
          <a:bodyPr/>
          <a:lstStyle/>
          <a:p>
            <a:r>
              <a:rPr lang="zh-CN" altLang="en-US" dirty="0">
                <a:latin typeface="Consolas" panose="020B0609020204030204" pitchFamily="49" charset="0"/>
              </a:rPr>
              <a:t>实际上，完全背包问题只需要将</a:t>
            </a:r>
            <a:r>
              <a:rPr lang="en-US" altLang="zh-CN" dirty="0">
                <a:latin typeface="Consolas" panose="020B0609020204030204" pitchFamily="49" charset="0"/>
              </a:rPr>
              <a:t>01</a:t>
            </a:r>
            <a:r>
              <a:rPr lang="zh-CN" altLang="en-US" dirty="0">
                <a:latin typeface="Consolas" panose="020B0609020204030204" pitchFamily="49" charset="0"/>
              </a:rPr>
              <a:t>背包中的第二重循环中的从大到小枚举体积改为从小到大枚举体积即可。</a:t>
            </a:r>
          </a:p>
        </p:txBody>
      </p:sp>
      <p:pic>
        <p:nvPicPr>
          <p:cNvPr id="5" name="图片 4">
            <a:extLst>
              <a:ext uri="{FF2B5EF4-FFF2-40B4-BE49-F238E27FC236}">
                <a16:creationId xmlns:a16="http://schemas.microsoft.com/office/drawing/2014/main" id="{F40261D6-9F8F-834A-9925-FEE72D273503}"/>
              </a:ext>
            </a:extLst>
          </p:cNvPr>
          <p:cNvPicPr>
            <a:picLocks noChangeAspect="1"/>
          </p:cNvPicPr>
          <p:nvPr/>
        </p:nvPicPr>
        <p:blipFill>
          <a:blip r:embed="rId2"/>
          <a:stretch>
            <a:fillRect/>
          </a:stretch>
        </p:blipFill>
        <p:spPr>
          <a:xfrm>
            <a:off x="838200" y="2686622"/>
            <a:ext cx="4572638" cy="895475"/>
          </a:xfrm>
          <a:prstGeom prst="rect">
            <a:avLst/>
          </a:prstGeom>
        </p:spPr>
      </p:pic>
    </p:spTree>
    <p:extLst>
      <p:ext uri="{BB962C8B-B14F-4D97-AF65-F5344CB8AC3E}">
        <p14:creationId xmlns:p14="http://schemas.microsoft.com/office/powerpoint/2010/main" val="291416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F07634-4CC4-9AF4-B1FA-C082F14DEDB0}"/>
              </a:ext>
            </a:extLst>
          </p:cNvPr>
          <p:cNvSpPr>
            <a:spLocks noGrp="1"/>
          </p:cNvSpPr>
          <p:nvPr>
            <p:ph type="title"/>
          </p:nvPr>
        </p:nvSpPr>
        <p:spPr/>
        <p:txBody>
          <a:bodyPr/>
          <a:lstStyle/>
          <a:p>
            <a:r>
              <a:rPr lang="zh-CN" altLang="en-US" dirty="0"/>
              <a:t>完全背包问题</a:t>
            </a:r>
          </a:p>
        </p:txBody>
      </p:sp>
      <p:sp>
        <p:nvSpPr>
          <p:cNvPr id="3" name="内容占位符 2">
            <a:extLst>
              <a:ext uri="{FF2B5EF4-FFF2-40B4-BE49-F238E27FC236}">
                <a16:creationId xmlns:a16="http://schemas.microsoft.com/office/drawing/2014/main" id="{DA13CD2B-DEC0-324E-CBB5-1AA38AC6661C}"/>
              </a:ext>
            </a:extLst>
          </p:cNvPr>
          <p:cNvSpPr>
            <a:spLocks noGrp="1"/>
          </p:cNvSpPr>
          <p:nvPr>
            <p:ph idx="1"/>
          </p:nvPr>
        </p:nvSpPr>
        <p:spPr/>
        <p:txBody>
          <a:bodyPr/>
          <a:lstStyle/>
          <a:p>
            <a:endParaRPr lang="en-US" altLang="zh-CN" dirty="0"/>
          </a:p>
          <a:p>
            <a:endParaRPr lang="en-US" altLang="zh-CN" dirty="0"/>
          </a:p>
          <a:p>
            <a:r>
              <a:rPr lang="zh-CN" altLang="en-US" dirty="0"/>
              <a:t>思考一下正确性：</a:t>
            </a:r>
            <a:endParaRPr lang="en-US" altLang="zh-CN" dirty="0"/>
          </a:p>
          <a:p>
            <a:r>
              <a:rPr lang="en-US" altLang="zh-CN" dirty="0">
                <a:latin typeface="Consolas" panose="020B0609020204030204" pitchFamily="49" charset="0"/>
              </a:rPr>
              <a:t>1.</a:t>
            </a:r>
            <a:r>
              <a:rPr lang="zh-CN" altLang="en-US" dirty="0"/>
              <a:t>当</a:t>
            </a:r>
            <a:r>
              <a:rPr lang="en-US" altLang="zh-CN" dirty="0">
                <a:latin typeface="Consolas" panose="020B0609020204030204" pitchFamily="49" charset="0"/>
              </a:rPr>
              <a:t>v&lt;c[</a:t>
            </a:r>
            <a:r>
              <a:rPr lang="en-US" altLang="zh-CN" dirty="0" err="1">
                <a:latin typeface="Consolas" panose="020B0609020204030204" pitchFamily="49" charset="0"/>
              </a:rPr>
              <a:t>i</a:t>
            </a:r>
            <a:r>
              <a:rPr lang="en-US" altLang="zh-CN" dirty="0">
                <a:latin typeface="Consolas" panose="020B0609020204030204" pitchFamily="49" charset="0"/>
              </a:rPr>
              <a:t>]</a:t>
            </a:r>
            <a:r>
              <a:rPr lang="zh-CN" altLang="en-US" dirty="0">
                <a:latin typeface="Consolas" panose="020B0609020204030204" pitchFamily="49" charset="0"/>
              </a:rPr>
              <a:t>：体积太小，不能选第</a:t>
            </a:r>
            <a:r>
              <a:rPr lang="en-US" altLang="zh-CN" dirty="0" err="1">
                <a:latin typeface="Consolas" panose="020B0609020204030204" pitchFamily="49" charset="0"/>
              </a:rPr>
              <a:t>i</a:t>
            </a:r>
            <a:r>
              <a:rPr lang="zh-CN" altLang="en-US" dirty="0">
                <a:latin typeface="Consolas" panose="020B0609020204030204" pitchFamily="49" charset="0"/>
              </a:rPr>
              <a:t>个物品，</a:t>
            </a:r>
            <a:r>
              <a:rPr lang="en-US" altLang="zh-CN" dirty="0">
                <a:latin typeface="Consolas" panose="020B0609020204030204" pitchFamily="49" charset="0"/>
              </a:rPr>
              <a:t>f[v]</a:t>
            </a:r>
            <a:r>
              <a:rPr lang="zh-CN" altLang="en-US" dirty="0">
                <a:latin typeface="Consolas" panose="020B0609020204030204" pitchFamily="49" charset="0"/>
              </a:rPr>
              <a:t>直接继承，表示</a:t>
            </a:r>
            <a:r>
              <a:rPr lang="en-US" altLang="zh-CN" dirty="0">
                <a:latin typeface="Consolas" panose="020B0609020204030204" pitchFamily="49" charset="0"/>
              </a:rPr>
              <a:t>f[</a:t>
            </a:r>
            <a:r>
              <a:rPr lang="en-US" altLang="zh-CN" dirty="0" err="1">
                <a:latin typeface="Consolas" panose="020B0609020204030204" pitchFamily="49" charset="0"/>
              </a:rPr>
              <a:t>i</a:t>
            </a:r>
            <a:r>
              <a:rPr lang="en-US" altLang="zh-CN" dirty="0">
                <a:latin typeface="Consolas" panose="020B0609020204030204" pitchFamily="49" charset="0"/>
              </a:rPr>
              <a:t>][v]=f[i-1][v].</a:t>
            </a:r>
          </a:p>
          <a:p>
            <a:r>
              <a:rPr lang="en-US" altLang="zh-CN" dirty="0">
                <a:latin typeface="Consolas" panose="020B0609020204030204" pitchFamily="49" charset="0"/>
              </a:rPr>
              <a:t>2.</a:t>
            </a:r>
            <a:r>
              <a:rPr lang="zh-CN" altLang="en-US" dirty="0">
                <a:latin typeface="Consolas" panose="020B0609020204030204" pitchFamily="49" charset="0"/>
              </a:rPr>
              <a:t>当</a:t>
            </a:r>
            <a:r>
              <a:rPr lang="en-US" altLang="zh-CN" dirty="0">
                <a:latin typeface="Consolas" panose="020B0609020204030204" pitchFamily="49" charset="0"/>
              </a:rPr>
              <a:t>v&gt;=c[</a:t>
            </a:r>
            <a:r>
              <a:rPr lang="en-US" altLang="zh-CN" dirty="0" err="1">
                <a:latin typeface="Consolas" panose="020B0609020204030204" pitchFamily="49" charset="0"/>
              </a:rPr>
              <a:t>i</a:t>
            </a:r>
            <a:r>
              <a:rPr lang="en-US" altLang="zh-CN" dirty="0">
                <a:latin typeface="Consolas" panose="020B0609020204030204" pitchFamily="49" charset="0"/>
              </a:rPr>
              <a:t>]</a:t>
            </a:r>
            <a:r>
              <a:rPr lang="zh-CN" altLang="en-US" dirty="0">
                <a:latin typeface="Consolas" panose="020B0609020204030204" pitchFamily="49" charset="0"/>
              </a:rPr>
              <a:t>：因为我们体积正向枚举的，所以</a:t>
            </a:r>
            <a:r>
              <a:rPr lang="en-US" altLang="zh-CN" dirty="0">
                <a:latin typeface="Consolas" panose="020B0609020204030204" pitchFamily="49" charset="0"/>
              </a:rPr>
              <a:t>f[v-c[</a:t>
            </a:r>
            <a:r>
              <a:rPr lang="en-US" altLang="zh-CN" dirty="0" err="1">
                <a:latin typeface="Consolas" panose="020B0609020204030204" pitchFamily="49" charset="0"/>
              </a:rPr>
              <a:t>i</a:t>
            </a:r>
            <a:r>
              <a:rPr lang="en-US" altLang="zh-CN" dirty="0">
                <a:latin typeface="Consolas" panose="020B0609020204030204" pitchFamily="49" charset="0"/>
              </a:rPr>
              <a:t>]]</a:t>
            </a:r>
            <a:r>
              <a:rPr lang="zh-CN" altLang="en-US" dirty="0">
                <a:latin typeface="Consolas" panose="020B0609020204030204" pitchFamily="49" charset="0"/>
              </a:rPr>
              <a:t>其实已经考虑过是否选择第</a:t>
            </a:r>
            <a:r>
              <a:rPr lang="en-US" altLang="zh-CN" dirty="0" err="1">
                <a:latin typeface="Consolas" panose="020B0609020204030204" pitchFamily="49" charset="0"/>
              </a:rPr>
              <a:t>i</a:t>
            </a:r>
            <a:r>
              <a:rPr lang="zh-CN" altLang="en-US" dirty="0">
                <a:latin typeface="Consolas" panose="020B0609020204030204" pitchFamily="49" charset="0"/>
              </a:rPr>
              <a:t>个物品了，而我们在更新</a:t>
            </a:r>
            <a:r>
              <a:rPr lang="en-US" altLang="zh-CN" dirty="0">
                <a:latin typeface="Consolas" panose="020B0609020204030204" pitchFamily="49" charset="0"/>
              </a:rPr>
              <a:t>f[v]</a:t>
            </a:r>
            <a:r>
              <a:rPr lang="zh-CN" altLang="en-US" dirty="0">
                <a:latin typeface="Consolas" panose="020B0609020204030204" pitchFamily="49" charset="0"/>
              </a:rPr>
              <a:t>的时候又考虑了是否选择第</a:t>
            </a:r>
            <a:r>
              <a:rPr lang="en-US" altLang="zh-CN" dirty="0" err="1">
                <a:latin typeface="Consolas" panose="020B0609020204030204" pitchFamily="49" charset="0"/>
              </a:rPr>
              <a:t>i</a:t>
            </a:r>
            <a:r>
              <a:rPr lang="zh-CN" altLang="en-US" dirty="0">
                <a:latin typeface="Consolas" panose="020B0609020204030204" pitchFamily="49" charset="0"/>
              </a:rPr>
              <a:t>个物品，于是就达到了第</a:t>
            </a:r>
            <a:r>
              <a:rPr lang="en-US" altLang="zh-CN" dirty="0" err="1">
                <a:latin typeface="Consolas" panose="020B0609020204030204" pitchFamily="49" charset="0"/>
              </a:rPr>
              <a:t>i</a:t>
            </a:r>
            <a:r>
              <a:rPr lang="zh-CN" altLang="en-US" dirty="0">
                <a:latin typeface="Consolas" panose="020B0609020204030204" pitchFamily="49" charset="0"/>
              </a:rPr>
              <a:t>个物品可以无限次重复选择的目的</a:t>
            </a:r>
            <a:r>
              <a:rPr lang="en-US" altLang="zh-CN" dirty="0">
                <a:latin typeface="Consolas" panose="020B0609020204030204" pitchFamily="49" charset="0"/>
              </a:rPr>
              <a:t>.</a:t>
            </a:r>
          </a:p>
        </p:txBody>
      </p:sp>
      <p:pic>
        <p:nvPicPr>
          <p:cNvPr id="4" name="图片 3">
            <a:extLst>
              <a:ext uri="{FF2B5EF4-FFF2-40B4-BE49-F238E27FC236}">
                <a16:creationId xmlns:a16="http://schemas.microsoft.com/office/drawing/2014/main" id="{C2223794-08B8-F17E-D2C0-F1AD4CB0B9F5}"/>
              </a:ext>
            </a:extLst>
          </p:cNvPr>
          <p:cNvPicPr>
            <a:picLocks noChangeAspect="1"/>
          </p:cNvPicPr>
          <p:nvPr/>
        </p:nvPicPr>
        <p:blipFill>
          <a:blip r:embed="rId2"/>
          <a:stretch>
            <a:fillRect/>
          </a:stretch>
        </p:blipFill>
        <p:spPr>
          <a:xfrm>
            <a:off x="838200" y="1825625"/>
            <a:ext cx="4572638" cy="895475"/>
          </a:xfrm>
          <a:prstGeom prst="rect">
            <a:avLst/>
          </a:prstGeom>
        </p:spPr>
      </p:pic>
    </p:spTree>
    <p:extLst>
      <p:ext uri="{BB962C8B-B14F-4D97-AF65-F5344CB8AC3E}">
        <p14:creationId xmlns:p14="http://schemas.microsoft.com/office/powerpoint/2010/main" val="3785486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DA08B0-FCC0-965F-C9EF-CD7EA1920755}"/>
              </a:ext>
            </a:extLst>
          </p:cNvPr>
          <p:cNvSpPr>
            <a:spLocks noGrp="1"/>
          </p:cNvSpPr>
          <p:nvPr>
            <p:ph type="title"/>
          </p:nvPr>
        </p:nvSpPr>
        <p:spPr/>
        <p:txBody>
          <a:bodyPr/>
          <a:lstStyle/>
          <a:p>
            <a:r>
              <a:rPr lang="zh-CN" altLang="en-US" dirty="0"/>
              <a:t>多重背包问题</a:t>
            </a:r>
          </a:p>
        </p:txBody>
      </p:sp>
      <p:sp>
        <p:nvSpPr>
          <p:cNvPr id="3" name="内容占位符 2">
            <a:extLst>
              <a:ext uri="{FF2B5EF4-FFF2-40B4-BE49-F238E27FC236}">
                <a16:creationId xmlns:a16="http://schemas.microsoft.com/office/drawing/2014/main" id="{CE58239A-DD44-B04D-F274-36401BD2D4C6}"/>
              </a:ext>
            </a:extLst>
          </p:cNvPr>
          <p:cNvSpPr>
            <a:spLocks noGrp="1"/>
          </p:cNvSpPr>
          <p:nvPr>
            <p:ph idx="1"/>
          </p:nvPr>
        </p:nvSpPr>
        <p:spPr/>
        <p:txBody>
          <a:bodyPr/>
          <a:lstStyle/>
          <a:p>
            <a:r>
              <a:rPr lang="zh-CN" altLang="en-US" b="0" i="0" dirty="0">
                <a:effectLst/>
                <a:latin typeface="Consolas" panose="020B0609020204030204" pitchFamily="49" charset="0"/>
              </a:rPr>
              <a:t>有</a:t>
            </a:r>
            <a:r>
              <a:rPr lang="en-US" altLang="zh-CN" b="0" i="0" dirty="0">
                <a:effectLst/>
                <a:latin typeface="Consolas" panose="020B0609020204030204" pitchFamily="49" charset="0"/>
              </a:rPr>
              <a:t>N</a:t>
            </a:r>
            <a:r>
              <a:rPr lang="zh-CN" altLang="en-US" b="0" i="0" dirty="0">
                <a:effectLst/>
                <a:latin typeface="Consolas" panose="020B0609020204030204" pitchFamily="49" charset="0"/>
              </a:rPr>
              <a:t>种物品和一个容量为</a:t>
            </a:r>
            <a:r>
              <a:rPr lang="en-US" altLang="zh-CN" b="0" i="0" dirty="0">
                <a:effectLst/>
                <a:latin typeface="Consolas" panose="020B0609020204030204" pitchFamily="49" charset="0"/>
              </a:rPr>
              <a:t>V</a:t>
            </a:r>
            <a:r>
              <a:rPr lang="zh-CN" altLang="en-US" b="0" i="0" dirty="0">
                <a:effectLst/>
                <a:latin typeface="Consolas" panose="020B0609020204030204" pitchFamily="49" charset="0"/>
              </a:rPr>
              <a:t>的背包。</a:t>
            </a:r>
            <a:r>
              <a:rPr lang="zh-CN" altLang="en-US" b="1" i="0" dirty="0">
                <a:effectLst/>
                <a:latin typeface="Consolas" panose="020B0609020204030204" pitchFamily="49" charset="0"/>
              </a:rPr>
              <a:t>第</a:t>
            </a:r>
            <a:r>
              <a:rPr lang="en-US" altLang="zh-CN" b="1" i="0" dirty="0" err="1">
                <a:effectLst/>
                <a:latin typeface="Consolas" panose="020B0609020204030204" pitchFamily="49" charset="0"/>
              </a:rPr>
              <a:t>i</a:t>
            </a:r>
            <a:r>
              <a:rPr lang="zh-CN" altLang="en-US" b="1" i="0" dirty="0">
                <a:effectLst/>
                <a:latin typeface="Consolas" panose="020B0609020204030204" pitchFamily="49" charset="0"/>
              </a:rPr>
              <a:t>种物品最多有</a:t>
            </a:r>
            <a:r>
              <a:rPr lang="en-US" altLang="zh-CN" b="1" i="0" dirty="0">
                <a:effectLst/>
                <a:latin typeface="Consolas" panose="020B0609020204030204" pitchFamily="49" charset="0"/>
              </a:rPr>
              <a:t>n[</a:t>
            </a:r>
            <a:r>
              <a:rPr lang="en-US" altLang="zh-CN" b="1" i="0" dirty="0" err="1">
                <a:effectLst/>
                <a:latin typeface="Consolas" panose="020B0609020204030204" pitchFamily="49" charset="0"/>
              </a:rPr>
              <a:t>i</a:t>
            </a:r>
            <a:r>
              <a:rPr lang="en-US" altLang="zh-CN" b="1" i="0" dirty="0">
                <a:effectLst/>
                <a:latin typeface="Consolas" panose="020B0609020204030204" pitchFamily="49" charset="0"/>
              </a:rPr>
              <a:t>]</a:t>
            </a:r>
            <a:r>
              <a:rPr lang="zh-CN" altLang="en-US" b="1" i="0" dirty="0">
                <a:effectLst/>
                <a:latin typeface="Consolas" panose="020B0609020204030204" pitchFamily="49" charset="0"/>
              </a:rPr>
              <a:t>件可用</a:t>
            </a:r>
            <a:r>
              <a:rPr lang="zh-CN" altLang="en-US" b="0" i="0" dirty="0">
                <a:effectLst/>
                <a:latin typeface="Consolas" panose="020B0609020204030204" pitchFamily="49" charset="0"/>
              </a:rPr>
              <a:t>，每件费用是</a:t>
            </a:r>
            <a:r>
              <a:rPr lang="en-US" altLang="zh-CN" b="0" i="0" dirty="0">
                <a:effectLst/>
                <a:latin typeface="Consolas" panose="020B0609020204030204" pitchFamily="49" charset="0"/>
              </a:rPr>
              <a:t>c[</a:t>
            </a:r>
            <a:r>
              <a:rPr lang="en-US" altLang="zh-CN" b="0" i="0" dirty="0" err="1">
                <a:effectLst/>
                <a:latin typeface="Consolas" panose="020B0609020204030204" pitchFamily="49" charset="0"/>
              </a:rPr>
              <a:t>i</a:t>
            </a:r>
            <a:r>
              <a:rPr lang="en-US" altLang="zh-CN" b="0" i="0" dirty="0">
                <a:effectLst/>
                <a:latin typeface="Consolas" panose="020B0609020204030204" pitchFamily="49" charset="0"/>
              </a:rPr>
              <a:t>]</a:t>
            </a:r>
            <a:r>
              <a:rPr lang="zh-CN" altLang="en-US" b="0" i="0" dirty="0">
                <a:effectLst/>
                <a:latin typeface="Consolas" panose="020B0609020204030204" pitchFamily="49" charset="0"/>
              </a:rPr>
              <a:t>，价值是</a:t>
            </a:r>
            <a:r>
              <a:rPr lang="en-US" altLang="zh-CN" b="0" i="0" dirty="0">
                <a:effectLst/>
                <a:latin typeface="Consolas" panose="020B0609020204030204" pitchFamily="49" charset="0"/>
              </a:rPr>
              <a:t>w[</a:t>
            </a:r>
            <a:r>
              <a:rPr lang="en-US" altLang="zh-CN" b="0" i="0" dirty="0" err="1">
                <a:effectLst/>
                <a:latin typeface="Consolas" panose="020B0609020204030204" pitchFamily="49" charset="0"/>
              </a:rPr>
              <a:t>i</a:t>
            </a:r>
            <a:r>
              <a:rPr lang="en-US" altLang="zh-CN" b="0" i="0" dirty="0">
                <a:effectLst/>
                <a:latin typeface="Consolas" panose="020B0609020204030204" pitchFamily="49" charset="0"/>
              </a:rPr>
              <a:t>]</a:t>
            </a:r>
            <a:r>
              <a:rPr lang="zh-CN" altLang="en-US" b="0" i="0" dirty="0">
                <a:effectLst/>
                <a:latin typeface="Consolas" panose="020B0609020204030204" pitchFamily="49" charset="0"/>
              </a:rPr>
              <a:t>。求解将哪些物品装入背包可使这些物品的费用总和不超过背包容量，且价值总和最大。</a:t>
            </a:r>
            <a:endParaRPr lang="en-US" altLang="zh-CN" b="0" i="0" dirty="0">
              <a:effectLst/>
              <a:latin typeface="Consolas" panose="020B0609020204030204" pitchFamily="49" charset="0"/>
            </a:endParaRPr>
          </a:p>
          <a:p>
            <a:endParaRPr lang="en-US" altLang="zh-CN" dirty="0">
              <a:latin typeface="Consolas" panose="020B0609020204030204" pitchFamily="49" charset="0"/>
            </a:endParaRPr>
          </a:p>
          <a:p>
            <a:r>
              <a:rPr lang="en-US" altLang="zh-CN" dirty="0">
                <a:hlinkClick r:id="rId2"/>
              </a:rPr>
              <a:t>P1776 </a:t>
            </a:r>
            <a:r>
              <a:rPr lang="zh-CN" altLang="en-US" dirty="0">
                <a:hlinkClick r:id="rId2"/>
              </a:rPr>
              <a:t>宝物筛选</a:t>
            </a:r>
            <a:endParaRPr lang="zh-CN" altLang="en-US" dirty="0">
              <a:latin typeface="Consolas" panose="020B0609020204030204" pitchFamily="49" charset="0"/>
            </a:endParaRPr>
          </a:p>
        </p:txBody>
      </p:sp>
    </p:spTree>
    <p:extLst>
      <p:ext uri="{BB962C8B-B14F-4D97-AF65-F5344CB8AC3E}">
        <p14:creationId xmlns:p14="http://schemas.microsoft.com/office/powerpoint/2010/main" val="2976599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19A5BF-3EA1-EC16-A813-F4BDA9696962}"/>
              </a:ext>
            </a:extLst>
          </p:cNvPr>
          <p:cNvSpPr>
            <a:spLocks noGrp="1"/>
          </p:cNvSpPr>
          <p:nvPr>
            <p:ph type="title"/>
          </p:nvPr>
        </p:nvSpPr>
        <p:spPr/>
        <p:txBody>
          <a:bodyPr/>
          <a:lstStyle/>
          <a:p>
            <a:r>
              <a:rPr lang="zh-CN" altLang="en-US" dirty="0"/>
              <a:t>多重背包问题</a:t>
            </a:r>
          </a:p>
        </p:txBody>
      </p:sp>
      <p:sp>
        <p:nvSpPr>
          <p:cNvPr id="3" name="内容占位符 2">
            <a:extLst>
              <a:ext uri="{FF2B5EF4-FFF2-40B4-BE49-F238E27FC236}">
                <a16:creationId xmlns:a16="http://schemas.microsoft.com/office/drawing/2014/main" id="{82AD70FB-5B03-784D-34B3-6D4B2A246E34}"/>
              </a:ext>
            </a:extLst>
          </p:cNvPr>
          <p:cNvSpPr>
            <a:spLocks noGrp="1"/>
          </p:cNvSpPr>
          <p:nvPr>
            <p:ph idx="1"/>
          </p:nvPr>
        </p:nvSpPr>
        <p:spPr/>
        <p:txBody>
          <a:bodyPr/>
          <a:lstStyle/>
          <a:p>
            <a:r>
              <a:rPr lang="zh-CN" altLang="en-US" dirty="0"/>
              <a:t>一种简单的做法是枚举每种物品的选择个数。</a:t>
            </a:r>
            <a:endParaRPr lang="en-US" altLang="zh-CN" dirty="0"/>
          </a:p>
          <a:p>
            <a:endParaRPr lang="en-US" altLang="zh-CN" dirty="0"/>
          </a:p>
          <a:p>
            <a:endParaRPr lang="en-US" altLang="zh-CN" dirty="0"/>
          </a:p>
          <a:p>
            <a:endParaRPr lang="en-US" altLang="zh-CN" dirty="0"/>
          </a:p>
          <a:p>
            <a:r>
              <a:rPr lang="zh-CN" altLang="en-US" dirty="0"/>
              <a:t>思考：第二重循环和第三重循环的顺序可以交换吗？</a:t>
            </a:r>
          </a:p>
        </p:txBody>
      </p:sp>
      <p:pic>
        <p:nvPicPr>
          <p:cNvPr id="5" name="图片 4">
            <a:extLst>
              <a:ext uri="{FF2B5EF4-FFF2-40B4-BE49-F238E27FC236}">
                <a16:creationId xmlns:a16="http://schemas.microsoft.com/office/drawing/2014/main" id="{4902AAA3-8993-BAB5-1254-2C177ECD233A}"/>
              </a:ext>
            </a:extLst>
          </p:cNvPr>
          <p:cNvPicPr>
            <a:picLocks noChangeAspect="1"/>
          </p:cNvPicPr>
          <p:nvPr/>
        </p:nvPicPr>
        <p:blipFill>
          <a:blip r:embed="rId2"/>
          <a:stretch>
            <a:fillRect/>
          </a:stretch>
        </p:blipFill>
        <p:spPr>
          <a:xfrm>
            <a:off x="838200" y="2333472"/>
            <a:ext cx="5363323" cy="1095528"/>
          </a:xfrm>
          <a:prstGeom prst="rect">
            <a:avLst/>
          </a:prstGeom>
        </p:spPr>
      </p:pic>
    </p:spTree>
    <p:extLst>
      <p:ext uri="{BB962C8B-B14F-4D97-AF65-F5344CB8AC3E}">
        <p14:creationId xmlns:p14="http://schemas.microsoft.com/office/powerpoint/2010/main" val="1527175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57AF11-F47B-E058-FBD0-49644933536C}"/>
              </a:ext>
            </a:extLst>
          </p:cNvPr>
          <p:cNvSpPr>
            <a:spLocks noGrp="1"/>
          </p:cNvSpPr>
          <p:nvPr>
            <p:ph type="title"/>
          </p:nvPr>
        </p:nvSpPr>
        <p:spPr/>
        <p:txBody>
          <a:bodyPr/>
          <a:lstStyle/>
          <a:p>
            <a:r>
              <a:rPr lang="zh-CN" altLang="en-US" dirty="0"/>
              <a:t>多重背包问题转化为</a:t>
            </a:r>
            <a:r>
              <a:rPr lang="en-US" altLang="zh-CN" dirty="0"/>
              <a:t>01</a:t>
            </a:r>
            <a:r>
              <a:rPr lang="zh-CN" altLang="en-US" dirty="0"/>
              <a:t>背包问题</a:t>
            </a:r>
          </a:p>
        </p:txBody>
      </p:sp>
      <p:sp>
        <p:nvSpPr>
          <p:cNvPr id="3" name="内容占位符 2">
            <a:extLst>
              <a:ext uri="{FF2B5EF4-FFF2-40B4-BE49-F238E27FC236}">
                <a16:creationId xmlns:a16="http://schemas.microsoft.com/office/drawing/2014/main" id="{D6266DD4-BB56-06EF-AA0D-AF3E650DAD50}"/>
              </a:ext>
            </a:extLst>
          </p:cNvPr>
          <p:cNvSpPr>
            <a:spLocks noGrp="1"/>
          </p:cNvSpPr>
          <p:nvPr>
            <p:ph idx="1"/>
          </p:nvPr>
        </p:nvSpPr>
        <p:spPr/>
        <p:txBody>
          <a:bodyPr/>
          <a:lstStyle/>
          <a:p>
            <a:r>
              <a:rPr lang="zh-CN" altLang="en-US" dirty="0">
                <a:latin typeface="Consolas" panose="020B0609020204030204" pitchFamily="49" charset="0"/>
              </a:rPr>
              <a:t>小例子：</a:t>
            </a:r>
            <a:endParaRPr lang="en-US" altLang="zh-CN" dirty="0">
              <a:latin typeface="Consolas" panose="020B0609020204030204" pitchFamily="49" charset="0"/>
            </a:endParaRPr>
          </a:p>
          <a:p>
            <a:r>
              <a:rPr lang="zh-CN" altLang="en-US" dirty="0">
                <a:latin typeface="Consolas" panose="020B0609020204030204" pitchFamily="49" charset="0"/>
              </a:rPr>
              <a:t>假如你有</a:t>
            </a:r>
            <a:r>
              <a:rPr lang="en-US" altLang="zh-CN" dirty="0">
                <a:latin typeface="Consolas" panose="020B0609020204030204" pitchFamily="49" charset="0"/>
              </a:rPr>
              <a:t>20</a:t>
            </a:r>
            <a:r>
              <a:rPr lang="zh-CN" altLang="en-US" dirty="0">
                <a:latin typeface="Consolas" panose="020B0609020204030204" pitchFamily="49" charset="0"/>
              </a:rPr>
              <a:t>张面值为</a:t>
            </a:r>
            <a:r>
              <a:rPr lang="en-US" altLang="zh-CN" dirty="0">
                <a:latin typeface="Consolas" panose="020B0609020204030204" pitchFamily="49" charset="0"/>
              </a:rPr>
              <a:t>1</a:t>
            </a:r>
            <a:r>
              <a:rPr lang="zh-CN" altLang="en-US" dirty="0">
                <a:latin typeface="Consolas" panose="020B0609020204030204" pitchFamily="49" charset="0"/>
              </a:rPr>
              <a:t>元的钞票，你能用这些钞票恰好支付</a:t>
            </a:r>
            <a:r>
              <a:rPr lang="en-US" altLang="zh-CN" dirty="0">
                <a:latin typeface="Consolas" panose="020B0609020204030204" pitchFamily="49" charset="0"/>
              </a:rPr>
              <a:t>0~20</a:t>
            </a:r>
            <a:r>
              <a:rPr lang="zh-CN" altLang="en-US" dirty="0">
                <a:latin typeface="Consolas" panose="020B0609020204030204" pitchFamily="49" charset="0"/>
              </a:rPr>
              <a:t>元的任意商品（价格一定为整数）。</a:t>
            </a:r>
            <a:endParaRPr lang="en-US" altLang="zh-CN" dirty="0">
              <a:latin typeface="Consolas" panose="020B0609020204030204" pitchFamily="49" charset="0"/>
            </a:endParaRPr>
          </a:p>
          <a:p>
            <a:r>
              <a:rPr lang="zh-CN" altLang="en-US" dirty="0">
                <a:latin typeface="Consolas" panose="020B0609020204030204" pitchFamily="49" charset="0"/>
              </a:rPr>
              <a:t>假如你有面值为</a:t>
            </a:r>
            <a:r>
              <a:rPr lang="en-US" altLang="zh-CN" dirty="0">
                <a:latin typeface="Consolas" panose="020B0609020204030204" pitchFamily="49" charset="0"/>
              </a:rPr>
              <a:t>1</a:t>
            </a:r>
            <a:r>
              <a:rPr lang="zh-CN" altLang="en-US" dirty="0">
                <a:latin typeface="Consolas" panose="020B0609020204030204" pitchFamily="49" charset="0"/>
              </a:rPr>
              <a:t>、</a:t>
            </a:r>
            <a:r>
              <a:rPr lang="en-US" altLang="zh-CN" dirty="0">
                <a:latin typeface="Consolas" panose="020B0609020204030204" pitchFamily="49" charset="0"/>
              </a:rPr>
              <a:t>2</a:t>
            </a:r>
            <a:r>
              <a:rPr lang="zh-CN" altLang="en-US" dirty="0">
                <a:latin typeface="Consolas" panose="020B0609020204030204" pitchFamily="49" charset="0"/>
              </a:rPr>
              <a:t>、</a:t>
            </a:r>
            <a:r>
              <a:rPr lang="en-US" altLang="zh-CN" dirty="0">
                <a:latin typeface="Consolas" panose="020B0609020204030204" pitchFamily="49" charset="0"/>
              </a:rPr>
              <a:t>4</a:t>
            </a:r>
            <a:r>
              <a:rPr lang="zh-CN" altLang="en-US" dirty="0">
                <a:latin typeface="Consolas" panose="020B0609020204030204" pitchFamily="49" charset="0"/>
              </a:rPr>
              <a:t>、</a:t>
            </a:r>
            <a:r>
              <a:rPr lang="en-US" altLang="zh-CN" dirty="0">
                <a:latin typeface="Consolas" panose="020B0609020204030204" pitchFamily="49" charset="0"/>
              </a:rPr>
              <a:t>8</a:t>
            </a:r>
            <a:r>
              <a:rPr lang="zh-CN" altLang="en-US" dirty="0">
                <a:latin typeface="Consolas" panose="020B0609020204030204" pitchFamily="49" charset="0"/>
              </a:rPr>
              <a:t>、</a:t>
            </a:r>
            <a:r>
              <a:rPr lang="en-US" altLang="zh-CN" dirty="0">
                <a:latin typeface="Consolas" panose="020B0609020204030204" pitchFamily="49" charset="0"/>
              </a:rPr>
              <a:t>5</a:t>
            </a:r>
            <a:r>
              <a:rPr lang="zh-CN" altLang="en-US" dirty="0">
                <a:latin typeface="Consolas" panose="020B0609020204030204" pitchFamily="49" charset="0"/>
              </a:rPr>
              <a:t>元的钞票各一张，你是不是也能用这些钞票恰好支付</a:t>
            </a:r>
            <a:r>
              <a:rPr lang="en-US" altLang="zh-CN" dirty="0">
                <a:latin typeface="Consolas" panose="020B0609020204030204" pitchFamily="49" charset="0"/>
              </a:rPr>
              <a:t>0~20</a:t>
            </a:r>
            <a:r>
              <a:rPr lang="zh-CN" altLang="en-US" dirty="0">
                <a:latin typeface="Consolas" panose="020B0609020204030204" pitchFamily="49" charset="0"/>
              </a:rPr>
              <a:t>元的任意商品？（价格一定为整数）。</a:t>
            </a:r>
            <a:endParaRPr lang="en-US" altLang="zh-CN" dirty="0">
              <a:latin typeface="Consolas" panose="020B0609020204030204" pitchFamily="49" charset="0"/>
            </a:endParaRPr>
          </a:p>
          <a:p>
            <a:r>
              <a:rPr lang="zh-CN" altLang="en-US" dirty="0">
                <a:latin typeface="Consolas" panose="020B0609020204030204" pitchFamily="49" charset="0"/>
              </a:rPr>
              <a:t>注意到</a:t>
            </a:r>
            <a:r>
              <a:rPr lang="en-US" altLang="zh-CN" dirty="0">
                <a:latin typeface="Consolas" panose="020B0609020204030204" pitchFamily="49" charset="0"/>
              </a:rPr>
              <a:t>1+2+4+8+5=20</a:t>
            </a:r>
            <a:r>
              <a:rPr lang="zh-CN" altLang="en-US" dirty="0">
                <a:latin typeface="Consolas" panose="020B0609020204030204" pitchFamily="49" charset="0"/>
              </a:rPr>
              <a:t>。这启发我们，在多重背包问题种，将一种商品的划分成几个几个为一组，我们对每一组商品考虑选还是不选（</a:t>
            </a:r>
            <a:r>
              <a:rPr lang="en-US" altLang="zh-CN" dirty="0">
                <a:latin typeface="Consolas" panose="020B0609020204030204" pitchFamily="49" charset="0"/>
              </a:rPr>
              <a:t>01</a:t>
            </a:r>
            <a:r>
              <a:rPr lang="zh-CN" altLang="en-US" dirty="0">
                <a:latin typeface="Consolas" panose="020B0609020204030204" pitchFamily="49" charset="0"/>
              </a:rPr>
              <a:t>背包），能组合成我们想要的任意该商品个数。</a:t>
            </a:r>
          </a:p>
        </p:txBody>
      </p:sp>
    </p:spTree>
    <p:extLst>
      <p:ext uri="{BB962C8B-B14F-4D97-AF65-F5344CB8AC3E}">
        <p14:creationId xmlns:p14="http://schemas.microsoft.com/office/powerpoint/2010/main" val="2081617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598717-6EE0-589E-9777-F06601D83D71}"/>
              </a:ext>
            </a:extLst>
          </p:cNvPr>
          <p:cNvSpPr>
            <a:spLocks noGrp="1"/>
          </p:cNvSpPr>
          <p:nvPr>
            <p:ph type="title"/>
          </p:nvPr>
        </p:nvSpPr>
        <p:spPr/>
        <p:txBody>
          <a:bodyPr/>
          <a:lstStyle/>
          <a:p>
            <a:r>
              <a:rPr lang="zh-CN" altLang="en-US" dirty="0"/>
              <a:t>多重背包问题转化为</a:t>
            </a:r>
            <a:r>
              <a:rPr lang="en-US" altLang="zh-CN" dirty="0"/>
              <a:t>01</a:t>
            </a:r>
            <a:r>
              <a:rPr lang="zh-CN" altLang="en-US" dirty="0"/>
              <a:t>背包问题</a:t>
            </a:r>
          </a:p>
        </p:txBody>
      </p:sp>
      <p:sp>
        <p:nvSpPr>
          <p:cNvPr id="3" name="内容占位符 2">
            <a:extLst>
              <a:ext uri="{FF2B5EF4-FFF2-40B4-BE49-F238E27FC236}">
                <a16:creationId xmlns:a16="http://schemas.microsoft.com/office/drawing/2014/main" id="{ABEFEF67-FFA4-08AC-36C7-85B7907B9EF8}"/>
              </a:ext>
            </a:extLst>
          </p:cNvPr>
          <p:cNvSpPr>
            <a:spLocks noGrp="1"/>
          </p:cNvSpPr>
          <p:nvPr>
            <p:ph idx="1"/>
          </p:nvPr>
        </p:nvSpPr>
        <p:spPr/>
        <p:txBody>
          <a:bodyPr/>
          <a:lstStyle/>
          <a:p>
            <a:r>
              <a:rPr lang="zh-CN" altLang="en-US" dirty="0"/>
              <a:t>这种分组方法称作二进制划分。</a:t>
            </a:r>
            <a:endParaRPr lang="en-US" altLang="zh-CN" dirty="0"/>
          </a:p>
          <a:p>
            <a:pPr algn="l"/>
            <a:r>
              <a:rPr lang="zh-CN" altLang="en-US" b="0" i="0" dirty="0">
                <a:effectLst/>
                <a:latin typeface="Consolas" panose="020B0609020204030204" pitchFamily="49" charset="0"/>
              </a:rPr>
              <a:t>方法是：将第</a:t>
            </a:r>
            <a:r>
              <a:rPr lang="en-US" altLang="zh-CN" b="0" i="0" dirty="0" err="1">
                <a:effectLst/>
                <a:latin typeface="Consolas" panose="020B0609020204030204" pitchFamily="49" charset="0"/>
              </a:rPr>
              <a:t>i</a:t>
            </a:r>
            <a:r>
              <a:rPr lang="zh-CN" altLang="en-US" b="0" i="0" dirty="0">
                <a:effectLst/>
                <a:latin typeface="Consolas" panose="020B0609020204030204" pitchFamily="49" charset="0"/>
              </a:rPr>
              <a:t>种物品分成若干件物品，其中每件物品有一个系数，这件物品的费用和价值均是原来的费用和价值乘以这个系数。使这些系数分别为</a:t>
            </a:r>
            <a:r>
              <a:rPr lang="en-US" altLang="zh-CN" b="0" i="0" dirty="0">
                <a:effectLst/>
                <a:latin typeface="Consolas" panose="020B0609020204030204" pitchFamily="49" charset="0"/>
              </a:rPr>
              <a:t>1,2,4,...,2^(k-1),n[</a:t>
            </a:r>
            <a:r>
              <a:rPr lang="en-US" altLang="zh-CN" b="0" i="0" dirty="0" err="1">
                <a:effectLst/>
                <a:latin typeface="Consolas" panose="020B0609020204030204" pitchFamily="49" charset="0"/>
              </a:rPr>
              <a:t>i</a:t>
            </a:r>
            <a:r>
              <a:rPr lang="en-US" altLang="zh-CN" b="0" i="0" dirty="0">
                <a:effectLst/>
                <a:latin typeface="Consolas" panose="020B0609020204030204" pitchFamily="49" charset="0"/>
              </a:rPr>
              <a:t>]-2^k+1</a:t>
            </a:r>
            <a:r>
              <a:rPr lang="zh-CN" altLang="en-US" b="0" i="0" dirty="0">
                <a:effectLst/>
                <a:latin typeface="Consolas" panose="020B0609020204030204" pitchFamily="49" charset="0"/>
              </a:rPr>
              <a:t>，且</a:t>
            </a:r>
            <a:r>
              <a:rPr lang="en-US" altLang="zh-CN" b="0" i="0" dirty="0">
                <a:effectLst/>
                <a:latin typeface="Consolas" panose="020B0609020204030204" pitchFamily="49" charset="0"/>
              </a:rPr>
              <a:t>k</a:t>
            </a:r>
            <a:r>
              <a:rPr lang="zh-CN" altLang="en-US" b="0" i="0" dirty="0">
                <a:effectLst/>
                <a:latin typeface="Consolas" panose="020B0609020204030204" pitchFamily="49" charset="0"/>
              </a:rPr>
              <a:t>是满足</a:t>
            </a:r>
            <a:r>
              <a:rPr lang="en-US" altLang="zh-CN" b="0" i="0" dirty="0">
                <a:effectLst/>
                <a:latin typeface="Consolas" panose="020B0609020204030204" pitchFamily="49" charset="0"/>
              </a:rPr>
              <a:t>n[</a:t>
            </a:r>
            <a:r>
              <a:rPr lang="en-US" altLang="zh-CN" b="0" i="0" dirty="0" err="1">
                <a:effectLst/>
                <a:latin typeface="Consolas" panose="020B0609020204030204" pitchFamily="49" charset="0"/>
              </a:rPr>
              <a:t>i</a:t>
            </a:r>
            <a:r>
              <a:rPr lang="en-US" altLang="zh-CN" b="0" i="0" dirty="0">
                <a:effectLst/>
                <a:latin typeface="Consolas" panose="020B0609020204030204" pitchFamily="49" charset="0"/>
              </a:rPr>
              <a:t>]-2^k+1&gt;=0</a:t>
            </a:r>
            <a:r>
              <a:rPr lang="zh-CN" altLang="en-US" b="0" i="0" dirty="0">
                <a:effectLst/>
                <a:latin typeface="Consolas" panose="020B0609020204030204" pitchFamily="49" charset="0"/>
              </a:rPr>
              <a:t>的最大整数。例如，如果</a:t>
            </a:r>
            <a:r>
              <a:rPr lang="en-US" altLang="zh-CN" b="0" i="0" dirty="0">
                <a:effectLst/>
                <a:latin typeface="Consolas" panose="020B0609020204030204" pitchFamily="49" charset="0"/>
              </a:rPr>
              <a:t>n[</a:t>
            </a:r>
            <a:r>
              <a:rPr lang="en-US" altLang="zh-CN" b="0" i="0" dirty="0" err="1">
                <a:effectLst/>
                <a:latin typeface="Consolas" panose="020B0609020204030204" pitchFamily="49" charset="0"/>
              </a:rPr>
              <a:t>i</a:t>
            </a:r>
            <a:r>
              <a:rPr lang="en-US" altLang="zh-CN" b="0" i="0" dirty="0">
                <a:effectLst/>
                <a:latin typeface="Consolas" panose="020B0609020204030204" pitchFamily="49" charset="0"/>
              </a:rPr>
              <a:t>]</a:t>
            </a:r>
            <a:r>
              <a:rPr lang="zh-CN" altLang="en-US" b="0" i="0" dirty="0">
                <a:effectLst/>
                <a:latin typeface="Consolas" panose="020B0609020204030204" pitchFamily="49" charset="0"/>
              </a:rPr>
              <a:t>为</a:t>
            </a:r>
            <a:r>
              <a:rPr lang="en-US" altLang="zh-CN" b="0" i="0" dirty="0">
                <a:effectLst/>
                <a:latin typeface="Consolas" panose="020B0609020204030204" pitchFamily="49" charset="0"/>
              </a:rPr>
              <a:t>13</a:t>
            </a:r>
            <a:r>
              <a:rPr lang="zh-CN" altLang="en-US" b="0" i="0" dirty="0">
                <a:effectLst/>
                <a:latin typeface="Consolas" panose="020B0609020204030204" pitchFamily="49" charset="0"/>
              </a:rPr>
              <a:t>，就将这种物品分成系数分别为</a:t>
            </a:r>
            <a:r>
              <a:rPr lang="en-US" altLang="zh-CN" b="0" i="0" dirty="0">
                <a:effectLst/>
                <a:latin typeface="Consolas" panose="020B0609020204030204" pitchFamily="49" charset="0"/>
              </a:rPr>
              <a:t>1,2,4,6</a:t>
            </a:r>
            <a:r>
              <a:rPr lang="zh-CN" altLang="en-US" b="0" i="0" dirty="0">
                <a:effectLst/>
                <a:latin typeface="Consolas" panose="020B0609020204030204" pitchFamily="49" charset="0"/>
              </a:rPr>
              <a:t>的四件物品。</a:t>
            </a:r>
            <a:endParaRPr lang="en-US" altLang="zh-CN" b="0" i="0" dirty="0">
              <a:effectLst/>
              <a:latin typeface="Consolas" panose="020B0609020204030204" pitchFamily="49" charset="0"/>
            </a:endParaRPr>
          </a:p>
          <a:p>
            <a:pPr algn="l"/>
            <a:endParaRPr lang="en-US" altLang="zh-CN" dirty="0">
              <a:latin typeface="Consolas" panose="020B0609020204030204" pitchFamily="49" charset="0"/>
            </a:endParaRPr>
          </a:p>
          <a:p>
            <a:pPr algn="l"/>
            <a:r>
              <a:rPr lang="zh-CN" altLang="en-US" dirty="0">
                <a:latin typeface="Consolas" panose="020B0609020204030204" pitchFamily="49" charset="0"/>
              </a:rPr>
              <a:t>思考：怎么证明这样划分的正确性？</a:t>
            </a:r>
            <a:endParaRPr lang="zh-CN" altLang="en-US" b="0" i="0" dirty="0">
              <a:effectLst/>
              <a:latin typeface="Consolas" panose="020B0609020204030204" pitchFamily="49" charset="0"/>
            </a:endParaRPr>
          </a:p>
        </p:txBody>
      </p:sp>
    </p:spTree>
    <p:extLst>
      <p:ext uri="{BB962C8B-B14F-4D97-AF65-F5344CB8AC3E}">
        <p14:creationId xmlns:p14="http://schemas.microsoft.com/office/powerpoint/2010/main" val="4268465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D9FBD2-1FB3-837A-6B65-12C7290C3821}"/>
              </a:ext>
            </a:extLst>
          </p:cNvPr>
          <p:cNvSpPr>
            <a:spLocks noGrp="1"/>
          </p:cNvSpPr>
          <p:nvPr>
            <p:ph type="title"/>
          </p:nvPr>
        </p:nvSpPr>
        <p:spPr/>
        <p:txBody>
          <a:bodyPr/>
          <a:lstStyle/>
          <a:p>
            <a:r>
              <a:rPr lang="zh-CN" altLang="en-US" dirty="0"/>
              <a:t>多重背包问题</a:t>
            </a:r>
          </a:p>
        </p:txBody>
      </p:sp>
      <p:sp>
        <p:nvSpPr>
          <p:cNvPr id="3" name="内容占位符 2">
            <a:extLst>
              <a:ext uri="{FF2B5EF4-FFF2-40B4-BE49-F238E27FC236}">
                <a16:creationId xmlns:a16="http://schemas.microsoft.com/office/drawing/2014/main" id="{DEFE3331-27B3-464C-6D9F-1EB80334EA16}"/>
              </a:ext>
            </a:extLst>
          </p:cNvPr>
          <p:cNvSpPr>
            <a:spLocks noGrp="1"/>
          </p:cNvSpPr>
          <p:nvPr>
            <p:ph idx="1"/>
          </p:nvPr>
        </p:nvSpPr>
        <p:spPr/>
        <p:txBody>
          <a:bodyPr/>
          <a:lstStyle/>
          <a:p>
            <a:r>
              <a:rPr lang="zh-CN" altLang="en-US" dirty="0"/>
              <a:t>下面给出</a:t>
            </a:r>
            <a:r>
              <a:rPr lang="en-US" altLang="zh-CN" dirty="0"/>
              <a:t>P1776</a:t>
            </a:r>
            <a:r>
              <a:rPr lang="zh-CN" altLang="en-US" dirty="0"/>
              <a:t>的代码：</a:t>
            </a:r>
            <a:endParaRPr lang="en-US" altLang="zh-CN" dirty="0"/>
          </a:p>
          <a:p>
            <a:endParaRPr lang="zh-CN" altLang="en-US" dirty="0"/>
          </a:p>
        </p:txBody>
      </p:sp>
      <p:pic>
        <p:nvPicPr>
          <p:cNvPr id="6" name="图片 5">
            <a:extLst>
              <a:ext uri="{FF2B5EF4-FFF2-40B4-BE49-F238E27FC236}">
                <a16:creationId xmlns:a16="http://schemas.microsoft.com/office/drawing/2014/main" id="{E5F05BFA-5F56-EEE3-8B92-EDA3BE0E4654}"/>
              </a:ext>
            </a:extLst>
          </p:cNvPr>
          <p:cNvPicPr>
            <a:picLocks noChangeAspect="1"/>
          </p:cNvPicPr>
          <p:nvPr/>
        </p:nvPicPr>
        <p:blipFill>
          <a:blip r:embed="rId2"/>
          <a:stretch>
            <a:fillRect/>
          </a:stretch>
        </p:blipFill>
        <p:spPr>
          <a:xfrm>
            <a:off x="838200" y="2303385"/>
            <a:ext cx="5195809" cy="3873578"/>
          </a:xfrm>
          <a:prstGeom prst="rect">
            <a:avLst/>
          </a:prstGeom>
        </p:spPr>
      </p:pic>
    </p:spTree>
    <p:extLst>
      <p:ext uri="{BB962C8B-B14F-4D97-AF65-F5344CB8AC3E}">
        <p14:creationId xmlns:p14="http://schemas.microsoft.com/office/powerpoint/2010/main" val="2520729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B90B3C-A7F8-E6D5-9F4C-F4B16C39037F}"/>
              </a:ext>
            </a:extLst>
          </p:cNvPr>
          <p:cNvSpPr>
            <a:spLocks noGrp="1"/>
          </p:cNvSpPr>
          <p:nvPr>
            <p:ph type="title"/>
          </p:nvPr>
        </p:nvSpPr>
        <p:spPr/>
        <p:txBody>
          <a:bodyPr/>
          <a:lstStyle/>
          <a:p>
            <a:r>
              <a:rPr lang="zh-CN" altLang="en-US" dirty="0"/>
              <a:t>习题</a:t>
            </a:r>
          </a:p>
        </p:txBody>
      </p:sp>
      <p:sp>
        <p:nvSpPr>
          <p:cNvPr id="3" name="内容占位符 2">
            <a:extLst>
              <a:ext uri="{FF2B5EF4-FFF2-40B4-BE49-F238E27FC236}">
                <a16:creationId xmlns:a16="http://schemas.microsoft.com/office/drawing/2014/main" id="{BEC6CD8B-0427-6F4B-A554-5EF0305AFC6F}"/>
              </a:ext>
            </a:extLst>
          </p:cNvPr>
          <p:cNvSpPr>
            <a:spLocks noGrp="1"/>
          </p:cNvSpPr>
          <p:nvPr>
            <p:ph idx="1"/>
          </p:nvPr>
        </p:nvSpPr>
        <p:spPr/>
        <p:txBody>
          <a:bodyPr/>
          <a:lstStyle/>
          <a:p>
            <a:r>
              <a:rPr lang="en-US" altLang="zh-CN" dirty="0">
                <a:hlinkClick r:id="rId2"/>
              </a:rPr>
              <a:t>P2340 [USACO03FALL] Cow Exhibition G</a:t>
            </a:r>
            <a:endParaRPr lang="en-US" altLang="zh-CN" dirty="0"/>
          </a:p>
          <a:p>
            <a:r>
              <a:rPr lang="en-US" altLang="zh-CN" dirty="0">
                <a:hlinkClick r:id="rId3"/>
              </a:rPr>
              <a:t>P1833 </a:t>
            </a:r>
            <a:r>
              <a:rPr lang="zh-CN" altLang="en-US" dirty="0">
                <a:hlinkClick r:id="rId3"/>
              </a:rPr>
              <a:t>樱花</a:t>
            </a:r>
            <a:endParaRPr lang="zh-CN" altLang="en-US" dirty="0"/>
          </a:p>
        </p:txBody>
      </p:sp>
    </p:spTree>
    <p:extLst>
      <p:ext uri="{BB962C8B-B14F-4D97-AF65-F5344CB8AC3E}">
        <p14:creationId xmlns:p14="http://schemas.microsoft.com/office/powerpoint/2010/main" val="4038719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A3B99D-CF12-8100-EB1F-73B2564CFE1D}"/>
              </a:ext>
            </a:extLst>
          </p:cNvPr>
          <p:cNvSpPr>
            <a:spLocks noGrp="1"/>
          </p:cNvSpPr>
          <p:nvPr>
            <p:ph type="title"/>
          </p:nvPr>
        </p:nvSpPr>
        <p:spPr/>
        <p:txBody>
          <a:bodyPr/>
          <a:lstStyle/>
          <a:p>
            <a:r>
              <a:rPr lang="zh-CN" altLang="en-US" dirty="0"/>
              <a:t>作业评讲</a:t>
            </a:r>
            <a:r>
              <a:rPr lang="en-US" altLang="zh-CN" dirty="0"/>
              <a:t>1</a:t>
            </a:r>
            <a:endParaRPr lang="zh-CN" altLang="en-US" dirty="0"/>
          </a:p>
        </p:txBody>
      </p:sp>
      <p:sp>
        <p:nvSpPr>
          <p:cNvPr id="3" name="内容占位符 2">
            <a:extLst>
              <a:ext uri="{FF2B5EF4-FFF2-40B4-BE49-F238E27FC236}">
                <a16:creationId xmlns:a16="http://schemas.microsoft.com/office/drawing/2014/main" id="{E651E3C1-E15E-FD13-0A56-A04D8A22664B}"/>
              </a:ext>
            </a:extLst>
          </p:cNvPr>
          <p:cNvSpPr>
            <a:spLocks noGrp="1"/>
          </p:cNvSpPr>
          <p:nvPr>
            <p:ph idx="1"/>
          </p:nvPr>
        </p:nvSpPr>
        <p:spPr/>
        <p:txBody>
          <a:bodyPr/>
          <a:lstStyle/>
          <a:p>
            <a:r>
              <a:rPr lang="en-US" altLang="zh-CN" dirty="0">
                <a:hlinkClick r:id="rId2"/>
              </a:rPr>
              <a:t>P5365 [SNOI2017] </a:t>
            </a:r>
            <a:r>
              <a:rPr lang="zh-CN" altLang="en-US" dirty="0">
                <a:hlinkClick r:id="rId2"/>
              </a:rPr>
              <a:t>英雄联盟 </a:t>
            </a:r>
            <a:r>
              <a:rPr lang="en-US" altLang="zh-CN" dirty="0">
                <a:hlinkClick r:id="rId2"/>
              </a:rPr>
              <a:t>- </a:t>
            </a:r>
            <a:r>
              <a:rPr lang="zh-CN" altLang="en-US" dirty="0">
                <a:hlinkClick r:id="rId2"/>
              </a:rPr>
              <a:t>洛谷 </a:t>
            </a:r>
            <a:r>
              <a:rPr lang="en-US" altLang="zh-CN" dirty="0">
                <a:hlinkClick r:id="rId2"/>
              </a:rPr>
              <a:t>| </a:t>
            </a:r>
            <a:r>
              <a:rPr lang="zh-CN" altLang="en-US" dirty="0">
                <a:hlinkClick r:id="rId2"/>
              </a:rPr>
              <a:t>计算机科学教育新生态</a:t>
            </a:r>
            <a:endParaRPr lang="en-US" altLang="zh-CN" dirty="0"/>
          </a:p>
          <a:p>
            <a:endParaRPr lang="en-US" altLang="zh-CN" dirty="0"/>
          </a:p>
          <a:p>
            <a:r>
              <a:rPr lang="en-US" altLang="zh-CN" dirty="0"/>
              <a:t>f[</a:t>
            </a:r>
            <a:r>
              <a:rPr lang="en-US" altLang="zh-CN" dirty="0" err="1"/>
              <a:t>i</a:t>
            </a:r>
            <a:r>
              <a:rPr lang="en-US" altLang="zh-CN" dirty="0"/>
              <a:t>][j]</a:t>
            </a:r>
            <a:r>
              <a:rPr lang="zh-CN" altLang="en-US" dirty="0"/>
              <a:t>表示考虑了前</a:t>
            </a:r>
            <a:r>
              <a:rPr lang="en-US" altLang="zh-CN" dirty="0" err="1"/>
              <a:t>i</a:t>
            </a:r>
            <a:r>
              <a:rPr lang="zh-CN" altLang="en-US" dirty="0"/>
              <a:t>个英雄，一共花了</a:t>
            </a:r>
            <a:r>
              <a:rPr lang="en-US" altLang="zh-CN" dirty="0"/>
              <a:t>j</a:t>
            </a:r>
            <a:r>
              <a:rPr lang="zh-CN" altLang="en-US" dirty="0"/>
              <a:t>个</a:t>
            </a:r>
            <a:r>
              <a:rPr lang="en-US" altLang="zh-CN" dirty="0"/>
              <a:t>Q</a:t>
            </a:r>
            <a:r>
              <a:rPr lang="zh-CN" altLang="en-US" dirty="0"/>
              <a:t>币能达到的最大展示策略数。</a:t>
            </a:r>
            <a:endParaRPr lang="en-US" altLang="zh-CN" dirty="0"/>
          </a:p>
          <a:p>
            <a:r>
              <a:rPr lang="zh-CN" altLang="en-US" dirty="0"/>
              <a:t>转移时，只需考虑第</a:t>
            </a:r>
            <a:r>
              <a:rPr lang="en-US" altLang="zh-CN" dirty="0" err="1"/>
              <a:t>i</a:t>
            </a:r>
            <a:r>
              <a:rPr lang="zh-CN" altLang="en-US" dirty="0"/>
              <a:t>个英雄买多少个皮肤，多重背包问题，因为</a:t>
            </a:r>
            <a:r>
              <a:rPr lang="en-US" altLang="zh-CN" dirty="0" err="1"/>
              <a:t>k_i</a:t>
            </a:r>
            <a:r>
              <a:rPr lang="zh-CN" altLang="en-US" dirty="0"/>
              <a:t>很小，所以不需要使用二进制拆分来优化。</a:t>
            </a:r>
            <a:endParaRPr lang="en-US" altLang="zh-CN" dirty="0"/>
          </a:p>
          <a:p>
            <a:endParaRPr lang="en-US" altLang="zh-CN" dirty="0"/>
          </a:p>
          <a:p>
            <a:r>
              <a:rPr lang="zh-CN" altLang="en-US" dirty="0"/>
              <a:t>启发：在做背包问题时候，将体积和价值中较小的一维放在数组中。</a:t>
            </a:r>
          </a:p>
        </p:txBody>
      </p:sp>
    </p:spTree>
    <p:extLst>
      <p:ext uri="{BB962C8B-B14F-4D97-AF65-F5344CB8AC3E}">
        <p14:creationId xmlns:p14="http://schemas.microsoft.com/office/powerpoint/2010/main" val="812408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46D36D-6FEC-31FA-7E99-F55D850447B4}"/>
              </a:ext>
            </a:extLst>
          </p:cNvPr>
          <p:cNvSpPr>
            <a:spLocks noGrp="1"/>
          </p:cNvSpPr>
          <p:nvPr>
            <p:ph type="title"/>
          </p:nvPr>
        </p:nvSpPr>
        <p:spPr/>
        <p:txBody>
          <a:bodyPr/>
          <a:lstStyle/>
          <a:p>
            <a:r>
              <a:rPr lang="zh-CN" altLang="en-US" dirty="0"/>
              <a:t>作业评讲</a:t>
            </a:r>
            <a:r>
              <a:rPr lang="en-US" altLang="zh-CN" dirty="0"/>
              <a:t>2</a:t>
            </a:r>
            <a:endParaRPr lang="zh-CN" altLang="en-US" dirty="0"/>
          </a:p>
        </p:txBody>
      </p:sp>
      <p:sp>
        <p:nvSpPr>
          <p:cNvPr id="3" name="内容占位符 2">
            <a:extLst>
              <a:ext uri="{FF2B5EF4-FFF2-40B4-BE49-F238E27FC236}">
                <a16:creationId xmlns:a16="http://schemas.microsoft.com/office/drawing/2014/main" id="{1ABF1BB5-23B7-043C-8DF6-DAE0C1E5578E}"/>
              </a:ext>
            </a:extLst>
          </p:cNvPr>
          <p:cNvSpPr>
            <a:spLocks noGrp="1"/>
          </p:cNvSpPr>
          <p:nvPr>
            <p:ph idx="1"/>
          </p:nvPr>
        </p:nvSpPr>
        <p:spPr/>
        <p:txBody>
          <a:bodyPr/>
          <a:lstStyle/>
          <a:p>
            <a:r>
              <a:rPr lang="en-US" altLang="zh-CN" dirty="0">
                <a:hlinkClick r:id="rId2"/>
              </a:rPr>
              <a:t>P1853 </a:t>
            </a:r>
            <a:r>
              <a:rPr lang="zh-CN" altLang="en-US" dirty="0">
                <a:hlinkClick r:id="rId2"/>
              </a:rPr>
              <a:t>投资的最大效益 </a:t>
            </a:r>
            <a:r>
              <a:rPr lang="en-US" altLang="zh-CN" dirty="0">
                <a:hlinkClick r:id="rId2"/>
              </a:rPr>
              <a:t>- </a:t>
            </a:r>
            <a:r>
              <a:rPr lang="zh-CN" altLang="en-US" dirty="0">
                <a:hlinkClick r:id="rId2"/>
              </a:rPr>
              <a:t>洛谷 </a:t>
            </a:r>
            <a:r>
              <a:rPr lang="en-US" altLang="zh-CN" dirty="0">
                <a:hlinkClick r:id="rId2"/>
              </a:rPr>
              <a:t>| </a:t>
            </a:r>
            <a:r>
              <a:rPr lang="zh-CN" altLang="en-US" dirty="0">
                <a:hlinkClick r:id="rId2"/>
              </a:rPr>
              <a:t>计算机科学教育新生态</a:t>
            </a:r>
            <a:endParaRPr lang="en-US" altLang="zh-CN" dirty="0"/>
          </a:p>
          <a:p>
            <a:endParaRPr lang="en-US" altLang="zh-CN" dirty="0"/>
          </a:p>
          <a:p>
            <a:r>
              <a:rPr lang="zh-CN" altLang="en-US" dirty="0"/>
              <a:t>考虑每一年购入</a:t>
            </a:r>
            <a:r>
              <a:rPr lang="zh-CN" altLang="en-US" b="0" i="0" dirty="0">
                <a:effectLst/>
                <a:latin typeface="-apple-system"/>
              </a:rPr>
              <a:t>债券，获得利息之后，再将所有债券全部售出。</a:t>
            </a:r>
            <a:endParaRPr lang="en-US" altLang="zh-CN" b="0" i="0" dirty="0">
              <a:effectLst/>
              <a:latin typeface="-apple-system"/>
            </a:endParaRPr>
          </a:p>
          <a:p>
            <a:r>
              <a:rPr lang="zh-CN" altLang="en-US" dirty="0">
                <a:latin typeface="-apple-system"/>
              </a:rPr>
              <a:t>这样我们只需要每一年都用一定的钱买到利息和最大的</a:t>
            </a:r>
            <a:r>
              <a:rPr lang="zh-CN" altLang="en-US" b="0" i="0" dirty="0">
                <a:effectLst/>
                <a:latin typeface="-apple-system"/>
              </a:rPr>
              <a:t>债券即可。</a:t>
            </a:r>
            <a:endParaRPr lang="en-US" altLang="zh-CN" b="0" i="0" dirty="0">
              <a:effectLst/>
              <a:latin typeface="-apple-system"/>
            </a:endParaRPr>
          </a:p>
          <a:p>
            <a:r>
              <a:rPr lang="zh-CN" altLang="en-US" dirty="0">
                <a:latin typeface="-apple-system"/>
              </a:rPr>
              <a:t>背包问题！</a:t>
            </a:r>
            <a:endParaRPr lang="en-US" altLang="zh-CN" dirty="0">
              <a:latin typeface="-apple-system"/>
            </a:endParaRPr>
          </a:p>
          <a:p>
            <a:r>
              <a:rPr lang="en-US" altLang="zh-CN" dirty="0" err="1">
                <a:latin typeface="-apple-system"/>
              </a:rPr>
              <a:t>Dp</a:t>
            </a:r>
            <a:r>
              <a:rPr lang="en-US" altLang="zh-CN" dirty="0">
                <a:latin typeface="-apple-system"/>
              </a:rPr>
              <a:t>[</a:t>
            </a:r>
            <a:r>
              <a:rPr lang="en-US" altLang="zh-CN" dirty="0" err="1">
                <a:latin typeface="-apple-system"/>
              </a:rPr>
              <a:t>i</a:t>
            </a:r>
            <a:r>
              <a:rPr lang="en-US" altLang="zh-CN" dirty="0">
                <a:latin typeface="-apple-system"/>
              </a:rPr>
              <a:t>]</a:t>
            </a:r>
            <a:r>
              <a:rPr lang="zh-CN" altLang="en-US" dirty="0">
                <a:latin typeface="-apple-system"/>
              </a:rPr>
              <a:t>：当启动资金为</a:t>
            </a:r>
            <a:r>
              <a:rPr lang="en-US" altLang="zh-CN" dirty="0" err="1">
                <a:latin typeface="-apple-system"/>
              </a:rPr>
              <a:t>i</a:t>
            </a:r>
            <a:r>
              <a:rPr lang="zh-CN" altLang="en-US" dirty="0">
                <a:latin typeface="-apple-system"/>
              </a:rPr>
              <a:t>元时，能获得的最大利息。</a:t>
            </a:r>
            <a:endParaRPr lang="zh-CN" altLang="en-US" dirty="0"/>
          </a:p>
        </p:txBody>
      </p:sp>
    </p:spTree>
    <p:extLst>
      <p:ext uri="{BB962C8B-B14F-4D97-AF65-F5344CB8AC3E}">
        <p14:creationId xmlns:p14="http://schemas.microsoft.com/office/powerpoint/2010/main" val="492702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6F261D-29BF-650C-BB28-30DA9818C244}"/>
              </a:ext>
            </a:extLst>
          </p:cNvPr>
          <p:cNvSpPr>
            <a:spLocks noGrp="1"/>
          </p:cNvSpPr>
          <p:nvPr>
            <p:ph type="title"/>
          </p:nvPr>
        </p:nvSpPr>
        <p:spPr/>
        <p:txBody>
          <a:bodyPr/>
          <a:lstStyle/>
          <a:p>
            <a:r>
              <a:rPr lang="zh-CN" altLang="en-US" dirty="0"/>
              <a:t>作业评讲</a:t>
            </a:r>
            <a:r>
              <a:rPr lang="en-US" altLang="zh-CN" dirty="0"/>
              <a:t>3</a:t>
            </a:r>
            <a:endParaRPr lang="zh-CN" altLang="en-US" dirty="0"/>
          </a:p>
        </p:txBody>
      </p:sp>
      <p:sp>
        <p:nvSpPr>
          <p:cNvPr id="3" name="内容占位符 2">
            <a:extLst>
              <a:ext uri="{FF2B5EF4-FFF2-40B4-BE49-F238E27FC236}">
                <a16:creationId xmlns:a16="http://schemas.microsoft.com/office/drawing/2014/main" id="{BD79381B-479B-7927-424A-64E2C35FD2AE}"/>
              </a:ext>
            </a:extLst>
          </p:cNvPr>
          <p:cNvSpPr>
            <a:spLocks noGrp="1"/>
          </p:cNvSpPr>
          <p:nvPr>
            <p:ph idx="1"/>
          </p:nvPr>
        </p:nvSpPr>
        <p:spPr/>
        <p:txBody>
          <a:bodyPr/>
          <a:lstStyle/>
          <a:p>
            <a:r>
              <a:rPr lang="en-US" altLang="zh-CN" dirty="0">
                <a:hlinkClick r:id="rId2"/>
              </a:rPr>
              <a:t>B4070 [GESP202412 </a:t>
            </a:r>
            <a:r>
              <a:rPr lang="zh-CN" altLang="en-US" dirty="0">
                <a:hlinkClick r:id="rId2"/>
              </a:rPr>
              <a:t>五级</a:t>
            </a:r>
            <a:r>
              <a:rPr lang="en-US" altLang="zh-CN" dirty="0">
                <a:hlinkClick r:id="rId2"/>
              </a:rPr>
              <a:t>] </a:t>
            </a:r>
            <a:r>
              <a:rPr lang="zh-CN" altLang="en-US" dirty="0">
                <a:hlinkClick r:id="rId2"/>
              </a:rPr>
              <a:t>奇妙数字 </a:t>
            </a:r>
            <a:r>
              <a:rPr lang="en-US" altLang="zh-CN" dirty="0">
                <a:hlinkClick r:id="rId2"/>
              </a:rPr>
              <a:t>- </a:t>
            </a:r>
            <a:r>
              <a:rPr lang="zh-CN" altLang="en-US" dirty="0">
                <a:hlinkClick r:id="rId2"/>
              </a:rPr>
              <a:t>洛谷 </a:t>
            </a:r>
            <a:r>
              <a:rPr lang="en-US" altLang="zh-CN" dirty="0">
                <a:hlinkClick r:id="rId2"/>
              </a:rPr>
              <a:t>| </a:t>
            </a:r>
            <a:r>
              <a:rPr lang="zh-CN" altLang="en-US" dirty="0">
                <a:hlinkClick r:id="rId2"/>
              </a:rPr>
              <a:t>计算机科学教育新生态</a:t>
            </a:r>
            <a:endParaRPr lang="en-US" altLang="zh-CN" dirty="0"/>
          </a:p>
          <a:p>
            <a:endParaRPr lang="zh-CN" altLang="en-US" dirty="0"/>
          </a:p>
        </p:txBody>
      </p:sp>
      <p:pic>
        <p:nvPicPr>
          <p:cNvPr id="5" name="图片 4">
            <a:extLst>
              <a:ext uri="{FF2B5EF4-FFF2-40B4-BE49-F238E27FC236}">
                <a16:creationId xmlns:a16="http://schemas.microsoft.com/office/drawing/2014/main" id="{BE2B74D2-2958-1B55-E181-8684DA363A6D}"/>
              </a:ext>
            </a:extLst>
          </p:cNvPr>
          <p:cNvPicPr>
            <a:picLocks noChangeAspect="1"/>
          </p:cNvPicPr>
          <p:nvPr/>
        </p:nvPicPr>
        <p:blipFill>
          <a:blip r:embed="rId3"/>
          <a:stretch>
            <a:fillRect/>
          </a:stretch>
        </p:blipFill>
        <p:spPr>
          <a:xfrm>
            <a:off x="838200" y="2836464"/>
            <a:ext cx="10647680" cy="982068"/>
          </a:xfrm>
          <a:prstGeom prst="rect">
            <a:avLst/>
          </a:prstGeom>
        </p:spPr>
      </p:pic>
    </p:spTree>
    <p:extLst>
      <p:ext uri="{BB962C8B-B14F-4D97-AF65-F5344CB8AC3E}">
        <p14:creationId xmlns:p14="http://schemas.microsoft.com/office/powerpoint/2010/main" val="40895817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F410C5-BC83-DEAA-E2E7-F72CD5E3842B}"/>
              </a:ext>
            </a:extLst>
          </p:cNvPr>
          <p:cNvSpPr>
            <a:spLocks noGrp="1"/>
          </p:cNvSpPr>
          <p:nvPr>
            <p:ph type="title"/>
          </p:nvPr>
        </p:nvSpPr>
        <p:spPr/>
        <p:txBody>
          <a:bodyPr/>
          <a:lstStyle/>
          <a:p>
            <a:r>
              <a:rPr lang="zh-CN" altLang="en-US" dirty="0"/>
              <a:t>作业评讲</a:t>
            </a:r>
            <a:r>
              <a:rPr lang="en-US" altLang="zh-CN" dirty="0"/>
              <a:t>4</a:t>
            </a:r>
            <a:endParaRPr lang="zh-CN" altLang="en-US" dirty="0"/>
          </a:p>
        </p:txBody>
      </p:sp>
      <p:sp>
        <p:nvSpPr>
          <p:cNvPr id="3" name="内容占位符 2">
            <a:extLst>
              <a:ext uri="{FF2B5EF4-FFF2-40B4-BE49-F238E27FC236}">
                <a16:creationId xmlns:a16="http://schemas.microsoft.com/office/drawing/2014/main" id="{C75256FA-49F5-880B-A278-B4D467E4E131}"/>
              </a:ext>
            </a:extLst>
          </p:cNvPr>
          <p:cNvSpPr>
            <a:spLocks noGrp="1"/>
          </p:cNvSpPr>
          <p:nvPr>
            <p:ph idx="1"/>
          </p:nvPr>
        </p:nvSpPr>
        <p:spPr/>
        <p:txBody>
          <a:bodyPr/>
          <a:lstStyle/>
          <a:p>
            <a:r>
              <a:rPr lang="en-US" altLang="zh-CN" dirty="0">
                <a:hlinkClick r:id="rId2"/>
              </a:rPr>
              <a:t>B4071 [GESP202412 </a:t>
            </a:r>
            <a:r>
              <a:rPr lang="zh-CN" altLang="en-US" dirty="0">
                <a:hlinkClick r:id="rId2"/>
              </a:rPr>
              <a:t>五级</a:t>
            </a:r>
            <a:r>
              <a:rPr lang="en-US" altLang="zh-CN" dirty="0">
                <a:hlinkClick r:id="rId2"/>
              </a:rPr>
              <a:t>] </a:t>
            </a:r>
            <a:r>
              <a:rPr lang="zh-CN" altLang="en-US" dirty="0">
                <a:hlinkClick r:id="rId2"/>
              </a:rPr>
              <a:t>武器强化 </a:t>
            </a:r>
            <a:r>
              <a:rPr lang="en-US" altLang="zh-CN" dirty="0">
                <a:hlinkClick r:id="rId2"/>
              </a:rPr>
              <a:t>- </a:t>
            </a:r>
            <a:r>
              <a:rPr lang="zh-CN" altLang="en-US" dirty="0">
                <a:hlinkClick r:id="rId2"/>
              </a:rPr>
              <a:t>洛谷 </a:t>
            </a:r>
            <a:r>
              <a:rPr lang="en-US" altLang="zh-CN" dirty="0">
                <a:hlinkClick r:id="rId2"/>
              </a:rPr>
              <a:t>| </a:t>
            </a:r>
            <a:r>
              <a:rPr lang="zh-CN" altLang="en-US" dirty="0">
                <a:hlinkClick r:id="rId2"/>
              </a:rPr>
              <a:t>计算机科学教育新生态</a:t>
            </a:r>
            <a:endParaRPr lang="en-US" altLang="zh-CN" dirty="0"/>
          </a:p>
          <a:p>
            <a:r>
              <a:rPr lang="zh-CN" altLang="en-US" dirty="0"/>
              <a:t>统计每种武器对应材料的储存在一个</a:t>
            </a:r>
            <a:r>
              <a:rPr lang="en-US" altLang="zh-CN" dirty="0"/>
              <a:t>vector</a:t>
            </a:r>
            <a:r>
              <a:rPr lang="zh-CN" altLang="en-US" dirty="0"/>
              <a:t>中，并且按照</a:t>
            </a:r>
            <a:r>
              <a:rPr lang="en-US" altLang="zh-CN" dirty="0"/>
              <a:t>c[</a:t>
            </a:r>
            <a:r>
              <a:rPr lang="en-US" altLang="zh-CN" dirty="0" err="1"/>
              <a:t>i</a:t>
            </a:r>
            <a:r>
              <a:rPr lang="en-US" altLang="zh-CN" dirty="0"/>
              <a:t>]</a:t>
            </a:r>
            <a:r>
              <a:rPr lang="zh-CN" altLang="en-US" dirty="0"/>
              <a:t>从小到大排序，统计出每种武器对应的材料数量</a:t>
            </a:r>
            <a:r>
              <a:rPr lang="en-US" altLang="zh-CN" dirty="0" err="1"/>
              <a:t>cnt</a:t>
            </a:r>
            <a:r>
              <a:rPr lang="en-US" altLang="zh-CN" dirty="0"/>
              <a:t>[u]</a:t>
            </a:r>
            <a:r>
              <a:rPr lang="zh-CN" altLang="en-US" dirty="0"/>
              <a:t>。</a:t>
            </a:r>
            <a:endParaRPr lang="en-US" altLang="zh-CN" dirty="0"/>
          </a:p>
          <a:p>
            <a:r>
              <a:rPr lang="zh-CN" altLang="en-US" dirty="0"/>
              <a:t>枚举武器</a:t>
            </a:r>
            <a:r>
              <a:rPr lang="en-US" altLang="zh-CN" dirty="0"/>
              <a:t>1</a:t>
            </a:r>
            <a:r>
              <a:rPr lang="zh-CN" altLang="en-US" dirty="0"/>
              <a:t>最终的材料数量</a:t>
            </a:r>
            <a:r>
              <a:rPr lang="en-US" altLang="zh-CN" dirty="0"/>
              <a:t>mx</a:t>
            </a:r>
            <a:r>
              <a:rPr lang="zh-CN" altLang="en-US" dirty="0"/>
              <a:t>，那么其他武器的最终材料数量不能超过</a:t>
            </a:r>
            <a:r>
              <a:rPr lang="en-US" altLang="zh-CN" dirty="0"/>
              <a:t>mx-1</a:t>
            </a:r>
            <a:r>
              <a:rPr lang="zh-CN" altLang="en-US" dirty="0"/>
              <a:t>。若超过，则一定要选择</a:t>
            </a:r>
            <a:r>
              <a:rPr lang="en-US" altLang="zh-CN" dirty="0"/>
              <a:t>c[</a:t>
            </a:r>
            <a:r>
              <a:rPr lang="en-US" altLang="zh-CN" dirty="0" err="1"/>
              <a:t>i</a:t>
            </a:r>
            <a:r>
              <a:rPr lang="en-US" altLang="zh-CN" dirty="0"/>
              <a:t>]</a:t>
            </a:r>
            <a:r>
              <a:rPr lang="zh-CN" altLang="en-US" dirty="0"/>
              <a:t>最小的一些材料将其适配武器转化为</a:t>
            </a:r>
            <a:r>
              <a:rPr lang="en-US" altLang="zh-CN" dirty="0"/>
              <a:t>1</a:t>
            </a:r>
            <a:r>
              <a:rPr lang="zh-CN" altLang="en-US" dirty="0"/>
              <a:t>。若最后</a:t>
            </a:r>
            <a:r>
              <a:rPr lang="en-US" altLang="zh-CN" dirty="0" err="1"/>
              <a:t>cnt</a:t>
            </a:r>
            <a:r>
              <a:rPr lang="en-US" altLang="zh-CN" dirty="0"/>
              <a:t>[1]</a:t>
            </a:r>
            <a:r>
              <a:rPr lang="zh-CN" altLang="en-US" dirty="0"/>
              <a:t>不及</a:t>
            </a:r>
            <a:r>
              <a:rPr lang="en-US" altLang="zh-CN" dirty="0"/>
              <a:t>mx</a:t>
            </a:r>
            <a:r>
              <a:rPr lang="zh-CN" altLang="en-US" dirty="0"/>
              <a:t>，则再从全局中选择</a:t>
            </a:r>
            <a:r>
              <a:rPr lang="en-US" altLang="zh-CN" dirty="0"/>
              <a:t>c[</a:t>
            </a:r>
            <a:r>
              <a:rPr lang="en-US" altLang="zh-CN" dirty="0" err="1"/>
              <a:t>i</a:t>
            </a:r>
            <a:r>
              <a:rPr lang="en-US" altLang="zh-CN" dirty="0"/>
              <a:t>]</a:t>
            </a:r>
            <a:r>
              <a:rPr lang="zh-CN" altLang="en-US" dirty="0"/>
              <a:t>最小的材料，将其适配武器转化为</a:t>
            </a:r>
            <a:r>
              <a:rPr lang="en-US" altLang="zh-CN" dirty="0"/>
              <a:t>1</a:t>
            </a:r>
            <a:r>
              <a:rPr lang="zh-CN" altLang="en-US" dirty="0"/>
              <a:t>。</a:t>
            </a:r>
            <a:endParaRPr lang="en-US" altLang="zh-CN" dirty="0"/>
          </a:p>
          <a:p>
            <a:endParaRPr lang="zh-CN" altLang="en-US" dirty="0"/>
          </a:p>
        </p:txBody>
      </p:sp>
    </p:spTree>
    <p:extLst>
      <p:ext uri="{BB962C8B-B14F-4D97-AF65-F5344CB8AC3E}">
        <p14:creationId xmlns:p14="http://schemas.microsoft.com/office/powerpoint/2010/main" val="3844799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F03BCE-11DB-B04B-FEDE-69CE29CB278A}"/>
              </a:ext>
            </a:extLst>
          </p:cNvPr>
          <p:cNvSpPr>
            <a:spLocks noGrp="1"/>
          </p:cNvSpPr>
          <p:nvPr>
            <p:ph type="title"/>
          </p:nvPr>
        </p:nvSpPr>
        <p:spPr/>
        <p:txBody>
          <a:bodyPr/>
          <a:lstStyle/>
          <a:p>
            <a:r>
              <a:rPr lang="zh-CN" altLang="en-US" dirty="0"/>
              <a:t>作业评讲</a:t>
            </a:r>
            <a:r>
              <a:rPr lang="en-US" altLang="zh-CN" dirty="0"/>
              <a:t>5</a:t>
            </a:r>
            <a:endParaRPr lang="zh-CN" altLang="en-US" dirty="0"/>
          </a:p>
        </p:txBody>
      </p:sp>
      <p:sp>
        <p:nvSpPr>
          <p:cNvPr id="3" name="内容占位符 2">
            <a:extLst>
              <a:ext uri="{FF2B5EF4-FFF2-40B4-BE49-F238E27FC236}">
                <a16:creationId xmlns:a16="http://schemas.microsoft.com/office/drawing/2014/main" id="{B18FE9CF-FE57-9FA5-A140-7E3E4D18278B}"/>
              </a:ext>
            </a:extLst>
          </p:cNvPr>
          <p:cNvSpPr>
            <a:spLocks noGrp="1"/>
          </p:cNvSpPr>
          <p:nvPr>
            <p:ph idx="1"/>
          </p:nvPr>
        </p:nvSpPr>
        <p:spPr/>
        <p:txBody>
          <a:bodyPr/>
          <a:lstStyle/>
          <a:p>
            <a:r>
              <a:rPr lang="en-US" altLang="zh-CN" dirty="0">
                <a:hlinkClick r:id="rId2"/>
              </a:rPr>
              <a:t>P11376 [GESP202412 </a:t>
            </a:r>
            <a:r>
              <a:rPr lang="zh-CN" altLang="en-US" dirty="0">
                <a:hlinkClick r:id="rId2"/>
              </a:rPr>
              <a:t>六级</a:t>
            </a:r>
            <a:r>
              <a:rPr lang="en-US" altLang="zh-CN" dirty="0">
                <a:hlinkClick r:id="rId2"/>
              </a:rPr>
              <a:t>] </a:t>
            </a:r>
            <a:r>
              <a:rPr lang="zh-CN" altLang="en-US" dirty="0">
                <a:hlinkClick r:id="rId2"/>
              </a:rPr>
              <a:t>运送物资 </a:t>
            </a:r>
            <a:r>
              <a:rPr lang="en-US" altLang="zh-CN" dirty="0">
                <a:hlinkClick r:id="rId2"/>
              </a:rPr>
              <a:t>- </a:t>
            </a:r>
            <a:r>
              <a:rPr lang="zh-CN" altLang="en-US" dirty="0">
                <a:hlinkClick r:id="rId2"/>
              </a:rPr>
              <a:t>洛谷 </a:t>
            </a:r>
            <a:r>
              <a:rPr lang="en-US" altLang="zh-CN" dirty="0">
                <a:hlinkClick r:id="rId2"/>
              </a:rPr>
              <a:t>| </a:t>
            </a:r>
            <a:r>
              <a:rPr lang="zh-CN" altLang="en-US" dirty="0">
                <a:hlinkClick r:id="rId2"/>
              </a:rPr>
              <a:t>计算机科学教育新生态</a:t>
            </a:r>
            <a:endParaRPr lang="en-US" altLang="zh-CN" dirty="0"/>
          </a:p>
          <a:p>
            <a:r>
              <a:rPr lang="zh-CN" altLang="en-US" dirty="0"/>
              <a:t>对于每辆货车，其运输代价为</a:t>
            </a:r>
            <a:r>
              <a:rPr lang="en-US" altLang="zh-CN" dirty="0"/>
              <a:t>2ap+2b(x-p)</a:t>
            </a:r>
            <a:r>
              <a:rPr lang="zh-CN" altLang="en-US" dirty="0"/>
              <a:t>，化简为</a:t>
            </a:r>
            <a:r>
              <a:rPr lang="en-US" altLang="zh-CN" dirty="0"/>
              <a:t>2(a-b)p+2bx</a:t>
            </a:r>
            <a:r>
              <a:rPr lang="zh-CN" altLang="en-US" dirty="0"/>
              <a:t>。</a:t>
            </a:r>
            <a:endParaRPr lang="en-US" altLang="zh-CN" dirty="0"/>
          </a:p>
          <a:p>
            <a:r>
              <a:rPr lang="zh-CN" altLang="en-US" dirty="0"/>
              <a:t>只有</a:t>
            </a:r>
            <a:r>
              <a:rPr lang="en-US" altLang="zh-CN" dirty="0"/>
              <a:t>2(a-b)p</a:t>
            </a:r>
            <a:r>
              <a:rPr lang="zh-CN" altLang="en-US" dirty="0"/>
              <a:t>与</a:t>
            </a:r>
            <a:r>
              <a:rPr lang="en-US" altLang="zh-CN" dirty="0"/>
              <a:t>p</a:t>
            </a:r>
            <a:r>
              <a:rPr lang="zh-CN" altLang="en-US" dirty="0"/>
              <a:t>（即货车初始运输站点位置）有关。容易发现，若</a:t>
            </a:r>
            <a:r>
              <a:rPr lang="en-US" altLang="zh-CN" dirty="0"/>
              <a:t>(a-b)</a:t>
            </a:r>
            <a:r>
              <a:rPr lang="zh-CN" altLang="en-US" dirty="0"/>
              <a:t>小于</a:t>
            </a:r>
            <a:r>
              <a:rPr lang="en-US" altLang="zh-CN" dirty="0"/>
              <a:t>0</a:t>
            </a:r>
            <a:r>
              <a:rPr lang="zh-CN" altLang="en-US" dirty="0"/>
              <a:t>，我们要让</a:t>
            </a:r>
            <a:r>
              <a:rPr lang="en-US" altLang="zh-CN" dirty="0"/>
              <a:t>p</a:t>
            </a:r>
            <a:r>
              <a:rPr lang="zh-CN" altLang="en-US" dirty="0"/>
              <a:t>尽可能大，且</a:t>
            </a:r>
            <a:r>
              <a:rPr lang="en-US" altLang="zh-CN" dirty="0"/>
              <a:t>(a-b)</a:t>
            </a:r>
            <a:r>
              <a:rPr lang="zh-CN" altLang="en-US" dirty="0"/>
              <a:t>越小，</a:t>
            </a:r>
            <a:r>
              <a:rPr lang="en-US" altLang="zh-CN" dirty="0"/>
              <a:t>p</a:t>
            </a:r>
            <a:r>
              <a:rPr lang="zh-CN" altLang="en-US" dirty="0"/>
              <a:t>应该越大，这样</a:t>
            </a:r>
            <a:r>
              <a:rPr lang="en-US" altLang="zh-CN" dirty="0"/>
              <a:t>2(a-b)p</a:t>
            </a:r>
            <a:r>
              <a:rPr lang="zh-CN" altLang="en-US" dirty="0"/>
              <a:t>才能尽可能小；若</a:t>
            </a:r>
            <a:r>
              <a:rPr lang="en-US" altLang="zh-CN" dirty="0"/>
              <a:t>(a-b)</a:t>
            </a:r>
            <a:r>
              <a:rPr lang="zh-CN" altLang="en-US" dirty="0"/>
              <a:t>大</a:t>
            </a:r>
            <a:r>
              <a:rPr lang="zh-CN" altLang="en-US" i="1" dirty="0"/>
              <a:t>于</a:t>
            </a:r>
            <a:r>
              <a:rPr lang="en-US" altLang="zh-CN" i="1" dirty="0"/>
              <a:t>0</a:t>
            </a:r>
            <a:r>
              <a:rPr lang="zh-CN" altLang="en-US" i="1" dirty="0"/>
              <a:t>，我们要让</a:t>
            </a:r>
            <a:r>
              <a:rPr lang="en-US" altLang="zh-CN" i="1" dirty="0"/>
              <a:t>p</a:t>
            </a:r>
            <a:r>
              <a:rPr lang="zh-CN" altLang="en-US" i="1" dirty="0"/>
              <a:t>尽可能小，且</a:t>
            </a:r>
            <a:r>
              <a:rPr lang="en-US" altLang="zh-CN" i="1" dirty="0"/>
              <a:t>(a-b)</a:t>
            </a:r>
            <a:r>
              <a:rPr lang="zh-CN" altLang="en-US" i="1" dirty="0"/>
              <a:t>越大，</a:t>
            </a:r>
            <a:r>
              <a:rPr lang="en-US" altLang="zh-CN" i="1" dirty="0"/>
              <a:t>p</a:t>
            </a:r>
            <a:r>
              <a:rPr lang="zh-CN" altLang="en-US" i="1" dirty="0"/>
              <a:t>就应该越小。</a:t>
            </a:r>
            <a:endParaRPr lang="en-US" altLang="zh-CN" i="1" dirty="0"/>
          </a:p>
          <a:p>
            <a:r>
              <a:rPr lang="zh-CN" altLang="en-US" dirty="0"/>
              <a:t>所以，我们按照</a:t>
            </a:r>
            <a:r>
              <a:rPr lang="en-US" altLang="zh-CN" dirty="0"/>
              <a:t>(a-b)</a:t>
            </a:r>
            <a:r>
              <a:rPr lang="zh-CN" altLang="en-US" dirty="0"/>
              <a:t>由大到小给货车安排起始站点即可。</a:t>
            </a:r>
          </a:p>
        </p:txBody>
      </p:sp>
    </p:spTree>
    <p:extLst>
      <p:ext uri="{BB962C8B-B14F-4D97-AF65-F5344CB8AC3E}">
        <p14:creationId xmlns:p14="http://schemas.microsoft.com/office/powerpoint/2010/main" val="2123567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AEF0F9-A132-016D-F76E-93BAEE798061}"/>
              </a:ext>
            </a:extLst>
          </p:cNvPr>
          <p:cNvSpPr>
            <a:spLocks noGrp="1"/>
          </p:cNvSpPr>
          <p:nvPr>
            <p:ph type="title"/>
          </p:nvPr>
        </p:nvSpPr>
        <p:spPr/>
        <p:txBody>
          <a:bodyPr/>
          <a:lstStyle/>
          <a:p>
            <a:r>
              <a:rPr lang="zh-CN" altLang="en-US" dirty="0"/>
              <a:t>分组背包</a:t>
            </a:r>
          </a:p>
        </p:txBody>
      </p:sp>
      <p:sp>
        <p:nvSpPr>
          <p:cNvPr id="3" name="内容占位符 2">
            <a:extLst>
              <a:ext uri="{FF2B5EF4-FFF2-40B4-BE49-F238E27FC236}">
                <a16:creationId xmlns:a16="http://schemas.microsoft.com/office/drawing/2014/main" id="{D6B41499-FC50-6EA9-6146-94ACC6E42572}"/>
              </a:ext>
            </a:extLst>
          </p:cNvPr>
          <p:cNvSpPr>
            <a:spLocks noGrp="1"/>
          </p:cNvSpPr>
          <p:nvPr>
            <p:ph idx="1"/>
          </p:nvPr>
        </p:nvSpPr>
        <p:spPr/>
        <p:txBody>
          <a:bodyPr/>
          <a:lstStyle/>
          <a:p>
            <a:r>
              <a:rPr lang="zh-CN" altLang="en-US" dirty="0"/>
              <a:t>即分成一组一组的物品，每一组物品只能选一个。</a:t>
            </a:r>
            <a:endParaRPr lang="en-US" altLang="zh-CN" dirty="0"/>
          </a:p>
          <a:p>
            <a:r>
              <a:rPr lang="en-US" altLang="zh-CN" dirty="0">
                <a:hlinkClick r:id="rId2"/>
              </a:rPr>
              <a:t>P1757 </a:t>
            </a:r>
            <a:r>
              <a:rPr lang="zh-CN" altLang="en-US" dirty="0">
                <a:hlinkClick r:id="rId2"/>
              </a:rPr>
              <a:t>通天之分组背包</a:t>
            </a:r>
            <a:endParaRPr lang="en-US" altLang="zh-CN" dirty="0"/>
          </a:p>
          <a:p>
            <a:endParaRPr lang="zh-CN" altLang="en-US" dirty="0"/>
          </a:p>
        </p:txBody>
      </p:sp>
      <p:pic>
        <p:nvPicPr>
          <p:cNvPr id="5" name="图片 4">
            <a:extLst>
              <a:ext uri="{FF2B5EF4-FFF2-40B4-BE49-F238E27FC236}">
                <a16:creationId xmlns:a16="http://schemas.microsoft.com/office/drawing/2014/main" id="{2B631F4C-BC8E-8AB9-BE17-BE20C78CF32D}"/>
              </a:ext>
            </a:extLst>
          </p:cNvPr>
          <p:cNvPicPr>
            <a:picLocks noChangeAspect="1"/>
          </p:cNvPicPr>
          <p:nvPr/>
        </p:nvPicPr>
        <p:blipFill>
          <a:blip r:embed="rId3"/>
          <a:stretch>
            <a:fillRect/>
          </a:stretch>
        </p:blipFill>
        <p:spPr>
          <a:xfrm>
            <a:off x="838200" y="2924917"/>
            <a:ext cx="8421275" cy="3019846"/>
          </a:xfrm>
          <a:prstGeom prst="rect">
            <a:avLst/>
          </a:prstGeom>
        </p:spPr>
      </p:pic>
    </p:spTree>
    <p:extLst>
      <p:ext uri="{BB962C8B-B14F-4D97-AF65-F5344CB8AC3E}">
        <p14:creationId xmlns:p14="http://schemas.microsoft.com/office/powerpoint/2010/main" val="990446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2587B2-C1D1-F961-3870-7DE4CE017371}"/>
              </a:ext>
            </a:extLst>
          </p:cNvPr>
          <p:cNvSpPr>
            <a:spLocks noGrp="1"/>
          </p:cNvSpPr>
          <p:nvPr>
            <p:ph type="title"/>
          </p:nvPr>
        </p:nvSpPr>
        <p:spPr/>
        <p:txBody>
          <a:bodyPr/>
          <a:lstStyle/>
          <a:p>
            <a:r>
              <a:rPr lang="zh-CN" altLang="en-US" dirty="0"/>
              <a:t>分组背包</a:t>
            </a:r>
          </a:p>
        </p:txBody>
      </p:sp>
      <p:sp>
        <p:nvSpPr>
          <p:cNvPr id="3" name="内容占位符 2">
            <a:extLst>
              <a:ext uri="{FF2B5EF4-FFF2-40B4-BE49-F238E27FC236}">
                <a16:creationId xmlns:a16="http://schemas.microsoft.com/office/drawing/2014/main" id="{71001162-A0F7-E1DD-5EEC-302B9A3C92C7}"/>
              </a:ext>
            </a:extLst>
          </p:cNvPr>
          <p:cNvSpPr>
            <a:spLocks noGrp="1"/>
          </p:cNvSpPr>
          <p:nvPr>
            <p:ph idx="1"/>
          </p:nvPr>
        </p:nvSpPr>
        <p:spPr/>
        <p:txBody>
          <a:bodyPr/>
          <a:lstStyle/>
          <a:p>
            <a:r>
              <a:rPr lang="zh-CN" altLang="en-US" dirty="0"/>
              <a:t>用动态规划的思路来解决这个问题。</a:t>
            </a:r>
            <a:endParaRPr lang="en-US" altLang="zh-CN" dirty="0"/>
          </a:p>
          <a:p>
            <a:r>
              <a:rPr lang="zh-CN" altLang="en-US" dirty="0"/>
              <a:t>设</a:t>
            </a:r>
            <a:r>
              <a:rPr lang="en-US" altLang="zh-CN" dirty="0"/>
              <a:t>f[</a:t>
            </a:r>
            <a:r>
              <a:rPr lang="en-US" altLang="zh-CN" dirty="0" err="1"/>
              <a:t>i</a:t>
            </a:r>
            <a:r>
              <a:rPr lang="en-US" altLang="zh-CN" dirty="0"/>
              <a:t>][j]</a:t>
            </a:r>
            <a:r>
              <a:rPr lang="zh-CN" altLang="en-US" dirty="0"/>
              <a:t>表示考虑了前</a:t>
            </a:r>
            <a:r>
              <a:rPr lang="en-US" altLang="zh-CN" dirty="0" err="1"/>
              <a:t>i</a:t>
            </a:r>
            <a:r>
              <a:rPr lang="zh-CN" altLang="en-US" dirty="0"/>
              <a:t>组，体积为</a:t>
            </a:r>
            <a:r>
              <a:rPr lang="en-US" altLang="zh-CN" dirty="0"/>
              <a:t>j</a:t>
            </a:r>
            <a:r>
              <a:rPr lang="zh-CN" altLang="en-US" dirty="0"/>
              <a:t>时的最大价值。</a:t>
            </a:r>
          </a:p>
        </p:txBody>
      </p:sp>
      <p:pic>
        <p:nvPicPr>
          <p:cNvPr id="5" name="图片 4">
            <a:extLst>
              <a:ext uri="{FF2B5EF4-FFF2-40B4-BE49-F238E27FC236}">
                <a16:creationId xmlns:a16="http://schemas.microsoft.com/office/drawing/2014/main" id="{132CBF84-B583-B11E-9139-85908BD68087}"/>
              </a:ext>
            </a:extLst>
          </p:cNvPr>
          <p:cNvPicPr>
            <a:picLocks noChangeAspect="1"/>
          </p:cNvPicPr>
          <p:nvPr/>
        </p:nvPicPr>
        <p:blipFill>
          <a:blip r:embed="rId2"/>
          <a:stretch>
            <a:fillRect/>
          </a:stretch>
        </p:blipFill>
        <p:spPr>
          <a:xfrm>
            <a:off x="1047109" y="2905766"/>
            <a:ext cx="9183382" cy="2191056"/>
          </a:xfrm>
          <a:prstGeom prst="rect">
            <a:avLst/>
          </a:prstGeom>
        </p:spPr>
      </p:pic>
      <p:grpSp>
        <p:nvGrpSpPr>
          <p:cNvPr id="16" name="组合 15">
            <a:extLst>
              <a:ext uri="{FF2B5EF4-FFF2-40B4-BE49-F238E27FC236}">
                <a16:creationId xmlns:a16="http://schemas.microsoft.com/office/drawing/2014/main" id="{0C10D580-F253-053F-F2A9-26CF4E542ABF}"/>
              </a:ext>
            </a:extLst>
          </p:cNvPr>
          <p:cNvGrpSpPr/>
          <p:nvPr/>
        </p:nvGrpSpPr>
        <p:grpSpPr>
          <a:xfrm>
            <a:off x="7505160" y="3942000"/>
            <a:ext cx="777600" cy="1068120"/>
            <a:chOff x="7505160" y="3942000"/>
            <a:chExt cx="777600" cy="1068120"/>
          </a:xfrm>
        </p:grpSpPr>
        <mc:AlternateContent xmlns:mc="http://schemas.openxmlformats.org/markup-compatibility/2006" xmlns:p14="http://schemas.microsoft.com/office/powerpoint/2010/main">
          <mc:Choice Requires="p14">
            <p:contentPart p14:bwMode="auto" r:id="rId3">
              <p14:nvContentPartPr>
                <p14:cNvPr id="6" name="墨迹 5">
                  <a:extLst>
                    <a:ext uri="{FF2B5EF4-FFF2-40B4-BE49-F238E27FC236}">
                      <a16:creationId xmlns:a16="http://schemas.microsoft.com/office/drawing/2014/main" id="{C43267A1-D0B5-1D9C-3112-67473F432B1A}"/>
                    </a:ext>
                  </a:extLst>
                </p14:cNvPr>
                <p14:cNvContentPartPr/>
                <p14:nvPr/>
              </p14:nvContentPartPr>
              <p14:xfrm>
                <a:off x="7711440" y="3942000"/>
                <a:ext cx="308160" cy="424080"/>
              </p14:xfrm>
            </p:contentPart>
          </mc:Choice>
          <mc:Fallback xmlns="">
            <p:pic>
              <p:nvPicPr>
                <p:cNvPr id="6" name="墨迹 5">
                  <a:extLst>
                    <a:ext uri="{FF2B5EF4-FFF2-40B4-BE49-F238E27FC236}">
                      <a16:creationId xmlns:a16="http://schemas.microsoft.com/office/drawing/2014/main" id="{C43267A1-D0B5-1D9C-3112-67473F432B1A}"/>
                    </a:ext>
                  </a:extLst>
                </p:cNvPr>
                <p:cNvPicPr/>
                <p:nvPr/>
              </p:nvPicPr>
              <p:blipFill>
                <a:blip r:embed="rId4"/>
                <a:stretch>
                  <a:fillRect/>
                </a:stretch>
              </p:blipFill>
              <p:spPr>
                <a:xfrm>
                  <a:off x="7702440" y="3933360"/>
                  <a:ext cx="325800" cy="441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墨迹 6">
                  <a:extLst>
                    <a:ext uri="{FF2B5EF4-FFF2-40B4-BE49-F238E27FC236}">
                      <a16:creationId xmlns:a16="http://schemas.microsoft.com/office/drawing/2014/main" id="{F34505A8-FAFC-3D43-10A0-B87095321C0B}"/>
                    </a:ext>
                  </a:extLst>
                </p14:cNvPr>
                <p14:cNvContentPartPr/>
                <p14:nvPr/>
              </p14:nvContentPartPr>
              <p14:xfrm>
                <a:off x="7505160" y="4023360"/>
                <a:ext cx="491400" cy="522000"/>
              </p14:xfrm>
            </p:contentPart>
          </mc:Choice>
          <mc:Fallback xmlns="">
            <p:pic>
              <p:nvPicPr>
                <p:cNvPr id="7" name="墨迹 6">
                  <a:extLst>
                    <a:ext uri="{FF2B5EF4-FFF2-40B4-BE49-F238E27FC236}">
                      <a16:creationId xmlns:a16="http://schemas.microsoft.com/office/drawing/2014/main" id="{F34505A8-FAFC-3D43-10A0-B87095321C0B}"/>
                    </a:ext>
                  </a:extLst>
                </p:cNvPr>
                <p:cNvPicPr/>
                <p:nvPr/>
              </p:nvPicPr>
              <p:blipFill>
                <a:blip r:embed="rId6"/>
                <a:stretch>
                  <a:fillRect/>
                </a:stretch>
              </p:blipFill>
              <p:spPr>
                <a:xfrm>
                  <a:off x="7496160" y="4014360"/>
                  <a:ext cx="509040" cy="5396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墨迹 8">
                  <a:extLst>
                    <a:ext uri="{FF2B5EF4-FFF2-40B4-BE49-F238E27FC236}">
                      <a16:creationId xmlns:a16="http://schemas.microsoft.com/office/drawing/2014/main" id="{DA5F0500-1DE4-AAAB-9378-22E5113CC815}"/>
                    </a:ext>
                  </a:extLst>
                </p14:cNvPr>
                <p14:cNvContentPartPr/>
                <p14:nvPr/>
              </p14:nvContentPartPr>
              <p14:xfrm>
                <a:off x="7701360" y="4642920"/>
                <a:ext cx="31320" cy="217080"/>
              </p14:xfrm>
            </p:contentPart>
          </mc:Choice>
          <mc:Fallback xmlns="">
            <p:pic>
              <p:nvPicPr>
                <p:cNvPr id="9" name="墨迹 8">
                  <a:extLst>
                    <a:ext uri="{FF2B5EF4-FFF2-40B4-BE49-F238E27FC236}">
                      <a16:creationId xmlns:a16="http://schemas.microsoft.com/office/drawing/2014/main" id="{DA5F0500-1DE4-AAAB-9378-22E5113CC815}"/>
                    </a:ext>
                  </a:extLst>
                </p:cNvPr>
                <p:cNvPicPr/>
                <p:nvPr/>
              </p:nvPicPr>
              <p:blipFill>
                <a:blip r:embed="rId8"/>
                <a:stretch>
                  <a:fillRect/>
                </a:stretch>
              </p:blipFill>
              <p:spPr>
                <a:xfrm>
                  <a:off x="7692360" y="4633920"/>
                  <a:ext cx="4896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墨迹 9">
                  <a:extLst>
                    <a:ext uri="{FF2B5EF4-FFF2-40B4-BE49-F238E27FC236}">
                      <a16:creationId xmlns:a16="http://schemas.microsoft.com/office/drawing/2014/main" id="{6E50D486-80B2-47F5-7187-DA3C04A13021}"/>
                    </a:ext>
                  </a:extLst>
                </p14:cNvPr>
                <p14:cNvContentPartPr/>
                <p14:nvPr/>
              </p14:nvContentPartPr>
              <p14:xfrm>
                <a:off x="7731600" y="4551840"/>
                <a:ext cx="360" cy="360"/>
              </p14:xfrm>
            </p:contentPart>
          </mc:Choice>
          <mc:Fallback xmlns="">
            <p:pic>
              <p:nvPicPr>
                <p:cNvPr id="10" name="墨迹 9">
                  <a:extLst>
                    <a:ext uri="{FF2B5EF4-FFF2-40B4-BE49-F238E27FC236}">
                      <a16:creationId xmlns:a16="http://schemas.microsoft.com/office/drawing/2014/main" id="{6E50D486-80B2-47F5-7187-DA3C04A13021}"/>
                    </a:ext>
                  </a:extLst>
                </p:cNvPr>
                <p:cNvPicPr/>
                <p:nvPr/>
              </p:nvPicPr>
              <p:blipFill>
                <a:blip r:embed="rId10"/>
                <a:stretch>
                  <a:fillRect/>
                </a:stretch>
              </p:blipFill>
              <p:spPr>
                <a:xfrm>
                  <a:off x="7722600" y="45428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墨迹 10">
                  <a:extLst>
                    <a:ext uri="{FF2B5EF4-FFF2-40B4-BE49-F238E27FC236}">
                      <a16:creationId xmlns:a16="http://schemas.microsoft.com/office/drawing/2014/main" id="{67C3CCC6-A1B4-4245-0E2E-C09926BD5A72}"/>
                    </a:ext>
                  </a:extLst>
                </p14:cNvPr>
                <p14:cNvContentPartPr/>
                <p14:nvPr/>
              </p14:nvContentPartPr>
              <p14:xfrm>
                <a:off x="7833120" y="4673520"/>
                <a:ext cx="138240" cy="16200"/>
              </p14:xfrm>
            </p:contentPart>
          </mc:Choice>
          <mc:Fallback xmlns="">
            <p:pic>
              <p:nvPicPr>
                <p:cNvPr id="11" name="墨迹 10">
                  <a:extLst>
                    <a:ext uri="{FF2B5EF4-FFF2-40B4-BE49-F238E27FC236}">
                      <a16:creationId xmlns:a16="http://schemas.microsoft.com/office/drawing/2014/main" id="{67C3CCC6-A1B4-4245-0E2E-C09926BD5A72}"/>
                    </a:ext>
                  </a:extLst>
                </p:cNvPr>
                <p:cNvPicPr/>
                <p:nvPr/>
              </p:nvPicPr>
              <p:blipFill>
                <a:blip r:embed="rId12"/>
                <a:stretch>
                  <a:fillRect/>
                </a:stretch>
              </p:blipFill>
              <p:spPr>
                <a:xfrm>
                  <a:off x="7824480" y="4664880"/>
                  <a:ext cx="15588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墨迹 11">
                  <a:extLst>
                    <a:ext uri="{FF2B5EF4-FFF2-40B4-BE49-F238E27FC236}">
                      <a16:creationId xmlns:a16="http://schemas.microsoft.com/office/drawing/2014/main" id="{3F32FF89-E0A4-0B57-0CC2-C68C1B678212}"/>
                    </a:ext>
                  </a:extLst>
                </p14:cNvPr>
                <p14:cNvContentPartPr/>
                <p14:nvPr/>
              </p14:nvContentPartPr>
              <p14:xfrm>
                <a:off x="8046240" y="4551840"/>
                <a:ext cx="20160" cy="198720"/>
              </p14:xfrm>
            </p:contentPart>
          </mc:Choice>
          <mc:Fallback xmlns="">
            <p:pic>
              <p:nvPicPr>
                <p:cNvPr id="12" name="墨迹 11">
                  <a:extLst>
                    <a:ext uri="{FF2B5EF4-FFF2-40B4-BE49-F238E27FC236}">
                      <a16:creationId xmlns:a16="http://schemas.microsoft.com/office/drawing/2014/main" id="{3F32FF89-E0A4-0B57-0CC2-C68C1B678212}"/>
                    </a:ext>
                  </a:extLst>
                </p:cNvPr>
                <p:cNvPicPr/>
                <p:nvPr/>
              </p:nvPicPr>
              <p:blipFill>
                <a:blip r:embed="rId14"/>
                <a:stretch>
                  <a:fillRect/>
                </a:stretch>
              </p:blipFill>
              <p:spPr>
                <a:xfrm>
                  <a:off x="8037600" y="4542840"/>
                  <a:ext cx="3780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墨迹 12">
                  <a:extLst>
                    <a:ext uri="{FF2B5EF4-FFF2-40B4-BE49-F238E27FC236}">
                      <a16:creationId xmlns:a16="http://schemas.microsoft.com/office/drawing/2014/main" id="{ED2D278E-F98F-AA00-F1F2-16D9F2364CDA}"/>
                    </a:ext>
                  </a:extLst>
                </p14:cNvPr>
                <p14:cNvContentPartPr/>
                <p14:nvPr/>
              </p14:nvContentPartPr>
              <p14:xfrm>
                <a:off x="7599480" y="4555440"/>
                <a:ext cx="95760" cy="6480"/>
              </p14:xfrm>
            </p:contentPart>
          </mc:Choice>
          <mc:Fallback xmlns="">
            <p:pic>
              <p:nvPicPr>
                <p:cNvPr id="13" name="墨迹 12">
                  <a:extLst>
                    <a:ext uri="{FF2B5EF4-FFF2-40B4-BE49-F238E27FC236}">
                      <a16:creationId xmlns:a16="http://schemas.microsoft.com/office/drawing/2014/main" id="{ED2D278E-F98F-AA00-F1F2-16D9F2364CDA}"/>
                    </a:ext>
                  </a:extLst>
                </p:cNvPr>
                <p:cNvPicPr/>
                <p:nvPr/>
              </p:nvPicPr>
              <p:blipFill>
                <a:blip r:embed="rId16"/>
                <a:stretch>
                  <a:fillRect/>
                </a:stretch>
              </p:blipFill>
              <p:spPr>
                <a:xfrm>
                  <a:off x="7590840" y="4546800"/>
                  <a:ext cx="11340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墨迹 13">
                  <a:extLst>
                    <a:ext uri="{FF2B5EF4-FFF2-40B4-BE49-F238E27FC236}">
                      <a16:creationId xmlns:a16="http://schemas.microsoft.com/office/drawing/2014/main" id="{FFC6AE62-49BF-A703-D1D6-DC761EB506D3}"/>
                    </a:ext>
                  </a:extLst>
                </p14:cNvPr>
                <p14:cNvContentPartPr/>
                <p14:nvPr/>
              </p14:nvContentPartPr>
              <p14:xfrm>
                <a:off x="7548720" y="4561920"/>
                <a:ext cx="172080" cy="389160"/>
              </p14:xfrm>
            </p:contentPart>
          </mc:Choice>
          <mc:Fallback xmlns="">
            <p:pic>
              <p:nvPicPr>
                <p:cNvPr id="14" name="墨迹 13">
                  <a:extLst>
                    <a:ext uri="{FF2B5EF4-FFF2-40B4-BE49-F238E27FC236}">
                      <a16:creationId xmlns:a16="http://schemas.microsoft.com/office/drawing/2014/main" id="{FFC6AE62-49BF-A703-D1D6-DC761EB506D3}"/>
                    </a:ext>
                  </a:extLst>
                </p:cNvPr>
                <p:cNvPicPr/>
                <p:nvPr/>
              </p:nvPicPr>
              <p:blipFill>
                <a:blip r:embed="rId18"/>
                <a:stretch>
                  <a:fillRect/>
                </a:stretch>
              </p:blipFill>
              <p:spPr>
                <a:xfrm>
                  <a:off x="7539720" y="4552920"/>
                  <a:ext cx="189720" cy="4068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墨迹 14">
                  <a:extLst>
                    <a:ext uri="{FF2B5EF4-FFF2-40B4-BE49-F238E27FC236}">
                      <a16:creationId xmlns:a16="http://schemas.microsoft.com/office/drawing/2014/main" id="{37E81346-9C2C-DD07-275F-5B508192AA89}"/>
                    </a:ext>
                  </a:extLst>
                </p14:cNvPr>
                <p14:cNvContentPartPr/>
                <p14:nvPr/>
              </p14:nvContentPartPr>
              <p14:xfrm>
                <a:off x="8138040" y="4408920"/>
                <a:ext cx="144720" cy="601200"/>
              </p14:xfrm>
            </p:contentPart>
          </mc:Choice>
          <mc:Fallback xmlns="">
            <p:pic>
              <p:nvPicPr>
                <p:cNvPr id="15" name="墨迹 14">
                  <a:extLst>
                    <a:ext uri="{FF2B5EF4-FFF2-40B4-BE49-F238E27FC236}">
                      <a16:creationId xmlns:a16="http://schemas.microsoft.com/office/drawing/2014/main" id="{37E81346-9C2C-DD07-275F-5B508192AA89}"/>
                    </a:ext>
                  </a:extLst>
                </p:cNvPr>
                <p:cNvPicPr/>
                <p:nvPr/>
              </p:nvPicPr>
              <p:blipFill>
                <a:blip r:embed="rId20"/>
                <a:stretch>
                  <a:fillRect/>
                </a:stretch>
              </p:blipFill>
              <p:spPr>
                <a:xfrm>
                  <a:off x="8129400" y="4400280"/>
                  <a:ext cx="162360" cy="618840"/>
                </a:xfrm>
                <a:prstGeom prst="rect">
                  <a:avLst/>
                </a:prstGeom>
              </p:spPr>
            </p:pic>
          </mc:Fallback>
        </mc:AlternateContent>
      </p:grpSp>
    </p:spTree>
    <p:extLst>
      <p:ext uri="{BB962C8B-B14F-4D97-AF65-F5344CB8AC3E}">
        <p14:creationId xmlns:p14="http://schemas.microsoft.com/office/powerpoint/2010/main" val="3843888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177879-FE48-6433-9B99-41122615180A}"/>
              </a:ext>
            </a:extLst>
          </p:cNvPr>
          <p:cNvSpPr>
            <a:spLocks noGrp="1"/>
          </p:cNvSpPr>
          <p:nvPr>
            <p:ph type="title"/>
          </p:nvPr>
        </p:nvSpPr>
        <p:spPr/>
        <p:txBody>
          <a:bodyPr/>
          <a:lstStyle/>
          <a:p>
            <a:r>
              <a:rPr lang="zh-CN" altLang="en-US" dirty="0"/>
              <a:t>分组背包</a:t>
            </a:r>
          </a:p>
        </p:txBody>
      </p:sp>
      <p:sp>
        <p:nvSpPr>
          <p:cNvPr id="3" name="内容占位符 2">
            <a:extLst>
              <a:ext uri="{FF2B5EF4-FFF2-40B4-BE49-F238E27FC236}">
                <a16:creationId xmlns:a16="http://schemas.microsoft.com/office/drawing/2014/main" id="{17563368-0819-CDDB-412D-CFD11B690807}"/>
              </a:ext>
            </a:extLst>
          </p:cNvPr>
          <p:cNvSpPr>
            <a:spLocks noGrp="1"/>
          </p:cNvSpPr>
          <p:nvPr>
            <p:ph idx="1"/>
          </p:nvPr>
        </p:nvSpPr>
        <p:spPr/>
        <p:txBody>
          <a:bodyPr/>
          <a:lstStyle/>
          <a:p>
            <a:r>
              <a:rPr lang="zh-CN" altLang="en-US" dirty="0"/>
              <a:t>显然这个也可以优化掉第一维</a:t>
            </a:r>
            <a:endParaRPr lang="en-US" altLang="zh-CN" dirty="0"/>
          </a:p>
          <a:p>
            <a:endParaRPr lang="en-US" altLang="zh-CN" dirty="0"/>
          </a:p>
          <a:p>
            <a:endParaRPr lang="en-US" altLang="zh-CN" dirty="0"/>
          </a:p>
          <a:p>
            <a:endParaRPr lang="en-US" altLang="zh-CN" dirty="0"/>
          </a:p>
          <a:p>
            <a:endParaRPr lang="en-US" altLang="zh-CN" dirty="0"/>
          </a:p>
          <a:p>
            <a:r>
              <a:rPr lang="zh-CN" altLang="en-US" dirty="0"/>
              <a:t>思考：第二重循环和第三重循环可不可以交换顺序？</a:t>
            </a:r>
            <a:endParaRPr lang="en-US" altLang="zh-CN" dirty="0"/>
          </a:p>
          <a:p>
            <a:endParaRPr lang="zh-CN" altLang="en-US" dirty="0"/>
          </a:p>
        </p:txBody>
      </p:sp>
      <p:pic>
        <p:nvPicPr>
          <p:cNvPr id="5" name="图片 4">
            <a:extLst>
              <a:ext uri="{FF2B5EF4-FFF2-40B4-BE49-F238E27FC236}">
                <a16:creationId xmlns:a16="http://schemas.microsoft.com/office/drawing/2014/main" id="{5BC42E0C-320E-C304-C518-1258E429DE10}"/>
              </a:ext>
            </a:extLst>
          </p:cNvPr>
          <p:cNvPicPr>
            <a:picLocks noChangeAspect="1"/>
          </p:cNvPicPr>
          <p:nvPr/>
        </p:nvPicPr>
        <p:blipFill>
          <a:blip r:embed="rId2"/>
          <a:stretch>
            <a:fillRect/>
          </a:stretch>
        </p:blipFill>
        <p:spPr>
          <a:xfrm>
            <a:off x="838200" y="2377978"/>
            <a:ext cx="8335538" cy="1390844"/>
          </a:xfrm>
          <a:prstGeom prst="rect">
            <a:avLst/>
          </a:prstGeom>
        </p:spPr>
      </p:pic>
    </p:spTree>
    <p:extLst>
      <p:ext uri="{BB962C8B-B14F-4D97-AF65-F5344CB8AC3E}">
        <p14:creationId xmlns:p14="http://schemas.microsoft.com/office/powerpoint/2010/main" val="41111756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E2A6F-9DCE-6FA4-1743-64CFD2769A76}"/>
              </a:ext>
            </a:extLst>
          </p:cNvPr>
          <p:cNvSpPr>
            <a:spLocks noGrp="1"/>
          </p:cNvSpPr>
          <p:nvPr>
            <p:ph type="title"/>
          </p:nvPr>
        </p:nvSpPr>
        <p:spPr/>
        <p:txBody>
          <a:bodyPr/>
          <a:lstStyle/>
          <a:p>
            <a:r>
              <a:rPr lang="zh-CN" altLang="en-US" dirty="0"/>
              <a:t>混合背包</a:t>
            </a:r>
          </a:p>
        </p:txBody>
      </p:sp>
      <p:sp>
        <p:nvSpPr>
          <p:cNvPr id="3" name="内容占位符 2">
            <a:extLst>
              <a:ext uri="{FF2B5EF4-FFF2-40B4-BE49-F238E27FC236}">
                <a16:creationId xmlns:a16="http://schemas.microsoft.com/office/drawing/2014/main" id="{8A182235-7DD4-FF71-72BF-F5A2AFBEB22F}"/>
              </a:ext>
            </a:extLst>
          </p:cNvPr>
          <p:cNvSpPr>
            <a:spLocks noGrp="1"/>
          </p:cNvSpPr>
          <p:nvPr>
            <p:ph idx="1"/>
          </p:nvPr>
        </p:nvSpPr>
        <p:spPr>
          <a:xfrm>
            <a:off x="838200" y="1815465"/>
            <a:ext cx="10515600" cy="4351338"/>
          </a:xfrm>
        </p:spPr>
        <p:txBody>
          <a:bodyPr/>
          <a:lstStyle/>
          <a:p>
            <a:r>
              <a:rPr lang="zh-CN" altLang="en-US" dirty="0"/>
              <a:t>有不同种类的物品，有的只能选一次（</a:t>
            </a:r>
            <a:r>
              <a:rPr lang="en-US" altLang="zh-CN" dirty="0"/>
              <a:t>01</a:t>
            </a:r>
            <a:r>
              <a:rPr lang="zh-CN" altLang="en-US" dirty="0"/>
              <a:t>背包），有的有个数限制（多重背包），有的可以无限选，也可能是一组只能选一个。</a:t>
            </a:r>
            <a:endParaRPr lang="en-US" altLang="zh-CN" dirty="0"/>
          </a:p>
          <a:p>
            <a:r>
              <a:rPr lang="zh-CN" altLang="en-US" dirty="0"/>
              <a:t>借此机会，我们先来复习一下不同种类的背包的实现方法。</a:t>
            </a:r>
          </a:p>
        </p:txBody>
      </p:sp>
    </p:spTree>
    <p:extLst>
      <p:ext uri="{BB962C8B-B14F-4D97-AF65-F5344CB8AC3E}">
        <p14:creationId xmlns:p14="http://schemas.microsoft.com/office/powerpoint/2010/main" val="22390076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00EC7B-8811-3695-FD63-C3E24AB48AAA}"/>
              </a:ext>
            </a:extLst>
          </p:cNvPr>
          <p:cNvSpPr>
            <a:spLocks noGrp="1"/>
          </p:cNvSpPr>
          <p:nvPr>
            <p:ph type="title"/>
          </p:nvPr>
        </p:nvSpPr>
        <p:spPr/>
        <p:txBody>
          <a:bodyPr/>
          <a:lstStyle/>
          <a:p>
            <a:r>
              <a:rPr lang="zh-CN" altLang="en-US" dirty="0"/>
              <a:t>混合背包</a:t>
            </a:r>
          </a:p>
        </p:txBody>
      </p:sp>
      <p:sp>
        <p:nvSpPr>
          <p:cNvPr id="3" name="内容占位符 2">
            <a:extLst>
              <a:ext uri="{FF2B5EF4-FFF2-40B4-BE49-F238E27FC236}">
                <a16:creationId xmlns:a16="http://schemas.microsoft.com/office/drawing/2014/main" id="{9CD30215-B233-3414-BAF2-5266262D4985}"/>
              </a:ext>
            </a:extLst>
          </p:cNvPr>
          <p:cNvSpPr>
            <a:spLocks noGrp="1"/>
          </p:cNvSpPr>
          <p:nvPr>
            <p:ph idx="1"/>
          </p:nvPr>
        </p:nvSpPr>
        <p:spPr/>
        <p:txBody>
          <a:bodyPr>
            <a:normAutofit lnSpcReduction="10000"/>
          </a:bodyPr>
          <a:lstStyle/>
          <a:p>
            <a:r>
              <a:rPr lang="en-US" altLang="zh-CN" dirty="0"/>
              <a:t>01</a:t>
            </a:r>
            <a:r>
              <a:rPr lang="zh-CN" altLang="en-US" dirty="0"/>
              <a:t>背包</a:t>
            </a:r>
            <a:endParaRPr lang="en-US" altLang="zh-CN" dirty="0"/>
          </a:p>
          <a:p>
            <a:endParaRPr lang="en-US" altLang="zh-CN" dirty="0"/>
          </a:p>
          <a:p>
            <a:r>
              <a:rPr lang="zh-CN" altLang="en-US" dirty="0"/>
              <a:t>完全背包</a:t>
            </a:r>
            <a:endParaRPr lang="en-US" altLang="zh-CN" dirty="0"/>
          </a:p>
          <a:p>
            <a:endParaRPr lang="en-US" altLang="zh-CN" dirty="0"/>
          </a:p>
          <a:p>
            <a:r>
              <a:rPr lang="zh-CN" altLang="en-US" dirty="0"/>
              <a:t>多重背包</a:t>
            </a:r>
            <a:endParaRPr lang="en-US" altLang="zh-CN" dirty="0"/>
          </a:p>
          <a:p>
            <a:pPr marL="0" indent="0">
              <a:buNone/>
            </a:pPr>
            <a:r>
              <a:rPr lang="zh-CN" altLang="en-US" dirty="0"/>
              <a:t>（未使用二进制拆分优化）</a:t>
            </a:r>
            <a:endParaRPr lang="en-US" altLang="zh-CN" dirty="0"/>
          </a:p>
          <a:p>
            <a:pPr marL="0" indent="0">
              <a:buNone/>
            </a:pPr>
            <a:endParaRPr lang="en-US" altLang="zh-CN" dirty="0"/>
          </a:p>
          <a:p>
            <a:pPr marL="0" indent="0">
              <a:buNone/>
            </a:pPr>
            <a:r>
              <a:rPr lang="zh-CN" altLang="en-US" dirty="0"/>
              <a:t>对比发现，外层循环是一样的，都是枚举第几个物品，内层不同。</a:t>
            </a:r>
            <a:endParaRPr lang="en-US" altLang="zh-CN" dirty="0"/>
          </a:p>
          <a:p>
            <a:pPr marL="0" indent="0">
              <a:buNone/>
            </a:pPr>
            <a:r>
              <a:rPr lang="zh-CN" altLang="en-US" dirty="0"/>
              <a:t>我们只需要写</a:t>
            </a:r>
            <a:r>
              <a:rPr lang="en-US" altLang="zh-CN" dirty="0"/>
              <a:t>if</a:t>
            </a:r>
            <a:r>
              <a:rPr lang="zh-CN" altLang="en-US" dirty="0"/>
              <a:t>语句判断一下是哪种物品，再使用对应的写法即可。</a:t>
            </a:r>
            <a:endParaRPr lang="en-US" altLang="zh-CN" dirty="0"/>
          </a:p>
          <a:p>
            <a:endParaRPr lang="zh-CN" altLang="en-US" dirty="0"/>
          </a:p>
        </p:txBody>
      </p:sp>
      <p:pic>
        <p:nvPicPr>
          <p:cNvPr id="4" name="图片 3">
            <a:extLst>
              <a:ext uri="{FF2B5EF4-FFF2-40B4-BE49-F238E27FC236}">
                <a16:creationId xmlns:a16="http://schemas.microsoft.com/office/drawing/2014/main" id="{4A78D085-3A6C-D5E0-E67D-C8CE30E4B1EA}"/>
              </a:ext>
            </a:extLst>
          </p:cNvPr>
          <p:cNvPicPr>
            <a:picLocks noChangeAspect="1"/>
          </p:cNvPicPr>
          <p:nvPr/>
        </p:nvPicPr>
        <p:blipFill>
          <a:blip r:embed="rId2"/>
          <a:stretch>
            <a:fillRect/>
          </a:stretch>
        </p:blipFill>
        <p:spPr>
          <a:xfrm>
            <a:off x="2372360" y="1690688"/>
            <a:ext cx="4544059" cy="724001"/>
          </a:xfrm>
          <a:prstGeom prst="rect">
            <a:avLst/>
          </a:prstGeom>
        </p:spPr>
      </p:pic>
      <p:pic>
        <p:nvPicPr>
          <p:cNvPr id="6" name="图片 5">
            <a:extLst>
              <a:ext uri="{FF2B5EF4-FFF2-40B4-BE49-F238E27FC236}">
                <a16:creationId xmlns:a16="http://schemas.microsoft.com/office/drawing/2014/main" id="{F1FDCE97-8DCB-81E5-4FB7-8CC85B7AD1B2}"/>
              </a:ext>
            </a:extLst>
          </p:cNvPr>
          <p:cNvPicPr>
            <a:picLocks noChangeAspect="1"/>
          </p:cNvPicPr>
          <p:nvPr/>
        </p:nvPicPr>
        <p:blipFill>
          <a:blip r:embed="rId3"/>
          <a:stretch>
            <a:fillRect/>
          </a:stretch>
        </p:blipFill>
        <p:spPr>
          <a:xfrm>
            <a:off x="2636520" y="2743200"/>
            <a:ext cx="4231271" cy="828624"/>
          </a:xfrm>
          <a:prstGeom prst="rect">
            <a:avLst/>
          </a:prstGeom>
        </p:spPr>
      </p:pic>
      <p:pic>
        <p:nvPicPr>
          <p:cNvPr id="7" name="图片 6">
            <a:extLst>
              <a:ext uri="{FF2B5EF4-FFF2-40B4-BE49-F238E27FC236}">
                <a16:creationId xmlns:a16="http://schemas.microsoft.com/office/drawing/2014/main" id="{1107DEB9-FF3D-EABF-5D3F-9061B0396A73}"/>
              </a:ext>
            </a:extLst>
          </p:cNvPr>
          <p:cNvPicPr>
            <a:picLocks noChangeAspect="1"/>
          </p:cNvPicPr>
          <p:nvPr/>
        </p:nvPicPr>
        <p:blipFill>
          <a:blip r:embed="rId4"/>
          <a:stretch>
            <a:fillRect/>
          </a:stretch>
        </p:blipFill>
        <p:spPr>
          <a:xfrm>
            <a:off x="5115560" y="3740252"/>
            <a:ext cx="5363323" cy="1095528"/>
          </a:xfrm>
          <a:prstGeom prst="rect">
            <a:avLst/>
          </a:prstGeom>
        </p:spPr>
      </p:pic>
    </p:spTree>
    <p:extLst>
      <p:ext uri="{BB962C8B-B14F-4D97-AF65-F5344CB8AC3E}">
        <p14:creationId xmlns:p14="http://schemas.microsoft.com/office/powerpoint/2010/main" val="35004496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3135D4-0E13-94A2-9F4A-11456A0DABB0}"/>
              </a:ext>
            </a:extLst>
          </p:cNvPr>
          <p:cNvSpPr>
            <a:spLocks noGrp="1"/>
          </p:cNvSpPr>
          <p:nvPr>
            <p:ph type="title"/>
          </p:nvPr>
        </p:nvSpPr>
        <p:spPr/>
        <p:txBody>
          <a:bodyPr/>
          <a:lstStyle/>
          <a:p>
            <a:r>
              <a:rPr lang="zh-CN" altLang="en-US" dirty="0"/>
              <a:t>多维背包</a:t>
            </a:r>
          </a:p>
        </p:txBody>
      </p:sp>
      <p:sp>
        <p:nvSpPr>
          <p:cNvPr id="3" name="内容占位符 2">
            <a:extLst>
              <a:ext uri="{FF2B5EF4-FFF2-40B4-BE49-F238E27FC236}">
                <a16:creationId xmlns:a16="http://schemas.microsoft.com/office/drawing/2014/main" id="{4A1B95D6-562D-C1DB-8B65-C3DC7B1C91E1}"/>
              </a:ext>
            </a:extLst>
          </p:cNvPr>
          <p:cNvSpPr>
            <a:spLocks noGrp="1"/>
          </p:cNvSpPr>
          <p:nvPr>
            <p:ph idx="1"/>
          </p:nvPr>
        </p:nvSpPr>
        <p:spPr/>
        <p:txBody>
          <a:bodyPr/>
          <a:lstStyle/>
          <a:p>
            <a:r>
              <a:rPr lang="zh-CN" altLang="en-US" dirty="0"/>
              <a:t>指体积是多维度的。</a:t>
            </a:r>
            <a:endParaRPr lang="en-US" altLang="zh-CN" dirty="0"/>
          </a:p>
          <a:p>
            <a:r>
              <a:rPr lang="en-US" altLang="zh-CN" dirty="0">
                <a:hlinkClick r:id="rId2"/>
              </a:rPr>
              <a:t>P1507 NASA</a:t>
            </a:r>
            <a:r>
              <a:rPr lang="zh-CN" altLang="en-US" dirty="0">
                <a:hlinkClick r:id="rId2"/>
              </a:rPr>
              <a:t>的食物计划 </a:t>
            </a:r>
            <a:r>
              <a:rPr lang="en-US" altLang="zh-CN" dirty="0">
                <a:hlinkClick r:id="rId2"/>
              </a:rPr>
              <a:t>- </a:t>
            </a:r>
            <a:r>
              <a:rPr lang="zh-CN" altLang="en-US" dirty="0">
                <a:hlinkClick r:id="rId2"/>
              </a:rPr>
              <a:t>洛谷 </a:t>
            </a:r>
            <a:r>
              <a:rPr lang="en-US" altLang="zh-CN" dirty="0">
                <a:hlinkClick r:id="rId2"/>
              </a:rPr>
              <a:t>| </a:t>
            </a:r>
            <a:r>
              <a:rPr lang="zh-CN" altLang="en-US" dirty="0">
                <a:hlinkClick r:id="rId2"/>
              </a:rPr>
              <a:t>计算机科学教育新生态</a:t>
            </a:r>
            <a:endParaRPr lang="zh-CN" altLang="en-US" dirty="0"/>
          </a:p>
        </p:txBody>
      </p:sp>
      <p:pic>
        <p:nvPicPr>
          <p:cNvPr id="5" name="图片 4">
            <a:extLst>
              <a:ext uri="{FF2B5EF4-FFF2-40B4-BE49-F238E27FC236}">
                <a16:creationId xmlns:a16="http://schemas.microsoft.com/office/drawing/2014/main" id="{DADBFE59-BE32-26D7-FF4C-575018D4079E}"/>
              </a:ext>
            </a:extLst>
          </p:cNvPr>
          <p:cNvPicPr>
            <a:picLocks noChangeAspect="1"/>
          </p:cNvPicPr>
          <p:nvPr/>
        </p:nvPicPr>
        <p:blipFill>
          <a:blip r:embed="rId3"/>
          <a:stretch>
            <a:fillRect/>
          </a:stretch>
        </p:blipFill>
        <p:spPr>
          <a:xfrm>
            <a:off x="838200" y="2947537"/>
            <a:ext cx="8164064" cy="3229426"/>
          </a:xfrm>
          <a:prstGeom prst="rect">
            <a:avLst/>
          </a:prstGeom>
        </p:spPr>
      </p:pic>
    </p:spTree>
    <p:extLst>
      <p:ext uri="{BB962C8B-B14F-4D97-AF65-F5344CB8AC3E}">
        <p14:creationId xmlns:p14="http://schemas.microsoft.com/office/powerpoint/2010/main" val="373680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F8D6E9-3931-FA9B-CBEC-E7F451BC8572}"/>
              </a:ext>
            </a:extLst>
          </p:cNvPr>
          <p:cNvSpPr>
            <a:spLocks noGrp="1"/>
          </p:cNvSpPr>
          <p:nvPr>
            <p:ph type="title"/>
          </p:nvPr>
        </p:nvSpPr>
        <p:spPr/>
        <p:txBody>
          <a:bodyPr/>
          <a:lstStyle/>
          <a:p>
            <a:r>
              <a:rPr lang="zh-CN" altLang="en-US" dirty="0"/>
              <a:t>多维背包</a:t>
            </a:r>
          </a:p>
        </p:txBody>
      </p:sp>
      <p:sp>
        <p:nvSpPr>
          <p:cNvPr id="3" name="内容占位符 2">
            <a:extLst>
              <a:ext uri="{FF2B5EF4-FFF2-40B4-BE49-F238E27FC236}">
                <a16:creationId xmlns:a16="http://schemas.microsoft.com/office/drawing/2014/main" id="{45BBA26D-19D0-D02A-B85C-569774FB7B0B}"/>
              </a:ext>
            </a:extLst>
          </p:cNvPr>
          <p:cNvSpPr>
            <a:spLocks noGrp="1"/>
          </p:cNvSpPr>
          <p:nvPr>
            <p:ph idx="1"/>
          </p:nvPr>
        </p:nvSpPr>
        <p:spPr/>
        <p:txBody>
          <a:bodyPr/>
          <a:lstStyle/>
          <a:p>
            <a:r>
              <a:rPr lang="zh-CN" altLang="en-US" dirty="0"/>
              <a:t>思路和普通的背包是一样的。</a:t>
            </a:r>
            <a:endParaRPr lang="en-US" altLang="zh-CN" dirty="0"/>
          </a:p>
          <a:p>
            <a:r>
              <a:rPr lang="zh-CN" altLang="en-US" dirty="0"/>
              <a:t>定义</a:t>
            </a:r>
            <a:r>
              <a:rPr lang="en-US" altLang="zh-CN" dirty="0"/>
              <a:t>f[</a:t>
            </a:r>
            <a:r>
              <a:rPr lang="en-US" altLang="zh-CN" dirty="0" err="1"/>
              <a:t>i</a:t>
            </a:r>
            <a:r>
              <a:rPr lang="en-US" altLang="zh-CN" dirty="0"/>
              <a:t>][j][k]</a:t>
            </a:r>
            <a:r>
              <a:rPr lang="zh-CN" altLang="en-US" dirty="0"/>
              <a:t>表示考虑了前</a:t>
            </a:r>
            <a:r>
              <a:rPr lang="en-US" altLang="zh-CN" dirty="0" err="1"/>
              <a:t>i</a:t>
            </a:r>
            <a:r>
              <a:rPr lang="zh-CN" altLang="en-US" dirty="0"/>
              <a:t>个物品，体积为</a:t>
            </a:r>
            <a:r>
              <a:rPr lang="en-US" altLang="zh-CN" dirty="0"/>
              <a:t>j</a:t>
            </a:r>
            <a:r>
              <a:rPr lang="zh-CN" altLang="en-US" dirty="0"/>
              <a:t>，质量为</a:t>
            </a:r>
            <a:r>
              <a:rPr lang="en-US" altLang="zh-CN" dirty="0"/>
              <a:t>k</a:t>
            </a:r>
            <a:r>
              <a:rPr lang="zh-CN" altLang="en-US" dirty="0"/>
              <a:t>时的所含卡路里的最大值。</a:t>
            </a:r>
            <a:endParaRPr lang="en-US" altLang="zh-CN" dirty="0"/>
          </a:p>
          <a:p>
            <a:r>
              <a:rPr lang="zh-CN" altLang="en-US" dirty="0"/>
              <a:t>具体实现时还是可以将第一维优化掉。</a:t>
            </a:r>
            <a:endParaRPr lang="en-US" altLang="zh-CN" dirty="0"/>
          </a:p>
          <a:p>
            <a:endParaRPr lang="zh-CN" altLang="en-US" dirty="0"/>
          </a:p>
        </p:txBody>
      </p:sp>
      <p:pic>
        <p:nvPicPr>
          <p:cNvPr id="5" name="图片 4">
            <a:extLst>
              <a:ext uri="{FF2B5EF4-FFF2-40B4-BE49-F238E27FC236}">
                <a16:creationId xmlns:a16="http://schemas.microsoft.com/office/drawing/2014/main" id="{14668018-01D2-45FC-679D-BBB94E178557}"/>
              </a:ext>
            </a:extLst>
          </p:cNvPr>
          <p:cNvPicPr>
            <a:picLocks noChangeAspect="1"/>
          </p:cNvPicPr>
          <p:nvPr/>
        </p:nvPicPr>
        <p:blipFill>
          <a:blip r:embed="rId2"/>
          <a:stretch>
            <a:fillRect/>
          </a:stretch>
        </p:blipFill>
        <p:spPr>
          <a:xfrm>
            <a:off x="838200" y="4001294"/>
            <a:ext cx="7906853" cy="1448002"/>
          </a:xfrm>
          <a:prstGeom prst="rect">
            <a:avLst/>
          </a:prstGeom>
        </p:spPr>
      </p:pic>
    </p:spTree>
    <p:extLst>
      <p:ext uri="{BB962C8B-B14F-4D97-AF65-F5344CB8AC3E}">
        <p14:creationId xmlns:p14="http://schemas.microsoft.com/office/powerpoint/2010/main" val="507846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7A3BCE-30E5-4FCA-FE11-16D7F2963875}"/>
              </a:ext>
            </a:extLst>
          </p:cNvPr>
          <p:cNvSpPr>
            <a:spLocks noGrp="1"/>
          </p:cNvSpPr>
          <p:nvPr>
            <p:ph type="title"/>
          </p:nvPr>
        </p:nvSpPr>
        <p:spPr/>
        <p:txBody>
          <a:bodyPr/>
          <a:lstStyle/>
          <a:p>
            <a:r>
              <a:rPr lang="zh-CN" altLang="en-US" dirty="0"/>
              <a:t>习题</a:t>
            </a:r>
          </a:p>
        </p:txBody>
      </p:sp>
      <p:sp>
        <p:nvSpPr>
          <p:cNvPr id="3" name="内容占位符 2">
            <a:extLst>
              <a:ext uri="{FF2B5EF4-FFF2-40B4-BE49-F238E27FC236}">
                <a16:creationId xmlns:a16="http://schemas.microsoft.com/office/drawing/2014/main" id="{96FB5A10-0050-39F2-F8BF-68409D3ED31D}"/>
              </a:ext>
            </a:extLst>
          </p:cNvPr>
          <p:cNvSpPr>
            <a:spLocks noGrp="1"/>
          </p:cNvSpPr>
          <p:nvPr>
            <p:ph idx="1"/>
          </p:nvPr>
        </p:nvSpPr>
        <p:spPr/>
        <p:txBody>
          <a:bodyPr/>
          <a:lstStyle/>
          <a:p>
            <a:r>
              <a:rPr lang="en-US" altLang="zh-CN" dirty="0">
                <a:hlinkClick r:id="rId2"/>
              </a:rPr>
              <a:t>P2732 [USACO3.3] </a:t>
            </a:r>
            <a:r>
              <a:rPr lang="zh-CN" altLang="en-US" dirty="0">
                <a:hlinkClick r:id="rId2"/>
              </a:rPr>
              <a:t>商店购物 </a:t>
            </a:r>
            <a:r>
              <a:rPr lang="en-US" altLang="zh-CN" dirty="0">
                <a:hlinkClick r:id="rId2"/>
              </a:rPr>
              <a:t>Shopping Offers - </a:t>
            </a:r>
            <a:r>
              <a:rPr lang="zh-CN" altLang="en-US" dirty="0">
                <a:hlinkClick r:id="rId2"/>
              </a:rPr>
              <a:t>洛谷 </a:t>
            </a:r>
            <a:r>
              <a:rPr lang="en-US" altLang="zh-CN" dirty="0">
                <a:hlinkClick r:id="rId2"/>
              </a:rPr>
              <a:t>| </a:t>
            </a:r>
            <a:r>
              <a:rPr lang="zh-CN" altLang="en-US" dirty="0">
                <a:hlinkClick r:id="rId2"/>
              </a:rPr>
              <a:t>计算机科学教育新生态</a:t>
            </a:r>
            <a:endParaRPr lang="en-US" altLang="zh-CN" dirty="0"/>
          </a:p>
          <a:p>
            <a:r>
              <a:rPr lang="en-US" altLang="zh-CN" dirty="0">
                <a:hlinkClick r:id="rId3"/>
              </a:rPr>
              <a:t>P1474 [USACO2.3] Money System / [USACO07OCT]Cow Cash G - </a:t>
            </a:r>
            <a:r>
              <a:rPr lang="zh-CN" altLang="en-US" dirty="0">
                <a:hlinkClick r:id="rId3"/>
              </a:rPr>
              <a:t>洛谷 </a:t>
            </a:r>
            <a:r>
              <a:rPr lang="en-US" altLang="zh-CN" dirty="0">
                <a:hlinkClick r:id="rId3"/>
              </a:rPr>
              <a:t>| </a:t>
            </a:r>
            <a:r>
              <a:rPr lang="zh-CN" altLang="en-US" dirty="0">
                <a:hlinkClick r:id="rId3"/>
              </a:rPr>
              <a:t>计算机科学教育新生态</a:t>
            </a:r>
            <a:endParaRPr lang="en-US" altLang="zh-CN" dirty="0"/>
          </a:p>
          <a:p>
            <a:r>
              <a:rPr lang="en-US" altLang="zh-CN" dirty="0">
                <a:hlinkClick r:id="rId4"/>
              </a:rPr>
              <a:t>P4141 </a:t>
            </a:r>
            <a:r>
              <a:rPr lang="zh-CN" altLang="en-US" dirty="0">
                <a:hlinkClick r:id="rId4"/>
              </a:rPr>
              <a:t>消失之物 </a:t>
            </a:r>
            <a:r>
              <a:rPr lang="en-US" altLang="zh-CN" dirty="0">
                <a:hlinkClick r:id="rId4"/>
              </a:rPr>
              <a:t>- </a:t>
            </a:r>
            <a:r>
              <a:rPr lang="zh-CN" altLang="en-US" dirty="0">
                <a:hlinkClick r:id="rId4"/>
              </a:rPr>
              <a:t>洛谷 </a:t>
            </a:r>
            <a:r>
              <a:rPr lang="en-US" altLang="zh-CN" dirty="0">
                <a:hlinkClick r:id="rId4"/>
              </a:rPr>
              <a:t>| </a:t>
            </a:r>
            <a:r>
              <a:rPr lang="zh-CN" altLang="en-US" dirty="0">
                <a:hlinkClick r:id="rId4"/>
              </a:rPr>
              <a:t>计算机科学教育新生态</a:t>
            </a:r>
            <a:endParaRPr lang="zh-CN" altLang="en-US" dirty="0"/>
          </a:p>
        </p:txBody>
      </p:sp>
    </p:spTree>
    <p:extLst>
      <p:ext uri="{BB962C8B-B14F-4D97-AF65-F5344CB8AC3E}">
        <p14:creationId xmlns:p14="http://schemas.microsoft.com/office/powerpoint/2010/main" val="16740299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B3F60A-B9B4-3C73-DC8A-E15D4D4D72E1}"/>
              </a:ext>
            </a:extLst>
          </p:cNvPr>
          <p:cNvSpPr>
            <a:spLocks noGrp="1"/>
          </p:cNvSpPr>
          <p:nvPr>
            <p:ph type="title"/>
          </p:nvPr>
        </p:nvSpPr>
        <p:spPr/>
        <p:txBody>
          <a:bodyPr/>
          <a:lstStyle/>
          <a:p>
            <a:r>
              <a:rPr lang="en-US" altLang="zh-CN" dirty="0">
                <a:hlinkClick r:id="rId2"/>
              </a:rPr>
              <a:t>P4141 </a:t>
            </a:r>
            <a:r>
              <a:rPr lang="zh-CN" altLang="en-US" dirty="0">
                <a:hlinkClick r:id="rId2"/>
              </a:rPr>
              <a:t>消失之物</a:t>
            </a:r>
            <a:endParaRPr lang="zh-CN" altLang="en-US" dirty="0"/>
          </a:p>
        </p:txBody>
      </p:sp>
      <p:sp>
        <p:nvSpPr>
          <p:cNvPr id="3" name="内容占位符 2">
            <a:extLst>
              <a:ext uri="{FF2B5EF4-FFF2-40B4-BE49-F238E27FC236}">
                <a16:creationId xmlns:a16="http://schemas.microsoft.com/office/drawing/2014/main" id="{06D7B3E8-7EF7-3A16-BCE7-5C3CE1F14764}"/>
              </a:ext>
            </a:extLst>
          </p:cNvPr>
          <p:cNvSpPr>
            <a:spLocks noGrp="1"/>
          </p:cNvSpPr>
          <p:nvPr>
            <p:ph idx="1"/>
          </p:nvPr>
        </p:nvSpPr>
        <p:spPr/>
        <p:txBody>
          <a:bodyPr/>
          <a:lstStyle/>
          <a:p>
            <a:r>
              <a:rPr lang="zh-CN" altLang="en-US" dirty="0"/>
              <a:t>题意简述：共</a:t>
            </a:r>
            <a:r>
              <a:rPr lang="en-US" altLang="zh-CN" dirty="0"/>
              <a:t>n</a:t>
            </a:r>
            <a:r>
              <a:rPr lang="zh-CN" altLang="en-US" dirty="0"/>
              <a:t>个物品，每次求出强制不能选第</a:t>
            </a:r>
            <a:r>
              <a:rPr lang="en-US" altLang="zh-CN" dirty="0" err="1"/>
              <a:t>i</a:t>
            </a:r>
            <a:r>
              <a:rPr lang="zh-CN" altLang="en-US" dirty="0"/>
              <a:t>个物品的情况下能获得的最大价值。</a:t>
            </a:r>
          </a:p>
        </p:txBody>
      </p:sp>
    </p:spTree>
    <p:extLst>
      <p:ext uri="{BB962C8B-B14F-4D97-AF65-F5344CB8AC3E}">
        <p14:creationId xmlns:p14="http://schemas.microsoft.com/office/powerpoint/2010/main" val="8551403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FB7CF9-6806-634A-0DBB-CE507F82C58E}"/>
              </a:ext>
            </a:extLst>
          </p:cNvPr>
          <p:cNvSpPr>
            <a:spLocks noGrp="1"/>
          </p:cNvSpPr>
          <p:nvPr>
            <p:ph type="title"/>
          </p:nvPr>
        </p:nvSpPr>
        <p:spPr/>
        <p:txBody>
          <a:bodyPr/>
          <a:lstStyle/>
          <a:p>
            <a:r>
              <a:rPr lang="en-US" altLang="zh-CN" dirty="0">
                <a:hlinkClick r:id="rId2"/>
              </a:rPr>
              <a:t>P4141 </a:t>
            </a:r>
            <a:r>
              <a:rPr lang="zh-CN" altLang="en-US" dirty="0">
                <a:hlinkClick r:id="rId2"/>
              </a:rPr>
              <a:t>消失之物</a:t>
            </a:r>
            <a:endParaRPr lang="zh-CN" altLang="en-US" dirty="0"/>
          </a:p>
        </p:txBody>
      </p:sp>
      <p:sp>
        <p:nvSpPr>
          <p:cNvPr id="3" name="内容占位符 2">
            <a:extLst>
              <a:ext uri="{FF2B5EF4-FFF2-40B4-BE49-F238E27FC236}">
                <a16:creationId xmlns:a16="http://schemas.microsoft.com/office/drawing/2014/main" id="{949F0C35-2D22-7889-8A8B-CFA6089EEC8F}"/>
              </a:ext>
            </a:extLst>
          </p:cNvPr>
          <p:cNvSpPr>
            <a:spLocks noGrp="1"/>
          </p:cNvSpPr>
          <p:nvPr>
            <p:ph idx="1"/>
          </p:nvPr>
        </p:nvSpPr>
        <p:spPr/>
        <p:txBody>
          <a:bodyPr/>
          <a:lstStyle/>
          <a:p>
            <a:r>
              <a:rPr lang="zh-CN" altLang="en-US" dirty="0"/>
              <a:t>思路</a:t>
            </a:r>
            <a:r>
              <a:rPr lang="en-US" altLang="zh-CN" dirty="0"/>
              <a:t>1</a:t>
            </a:r>
            <a:r>
              <a:rPr lang="zh-CN" altLang="en-US" dirty="0"/>
              <a:t>：跑</a:t>
            </a:r>
            <a:r>
              <a:rPr lang="en-US" altLang="zh-CN" dirty="0"/>
              <a:t>n</a:t>
            </a:r>
            <a:r>
              <a:rPr lang="zh-CN" altLang="en-US" dirty="0"/>
              <a:t>次</a:t>
            </a:r>
            <a:r>
              <a:rPr lang="en-US" altLang="zh-CN" dirty="0"/>
              <a:t>01</a:t>
            </a:r>
            <a:r>
              <a:rPr lang="zh-CN" altLang="en-US" dirty="0"/>
              <a:t>背包，复杂度</a:t>
            </a:r>
            <a:r>
              <a:rPr lang="en-US" altLang="zh-CN" dirty="0"/>
              <a:t>n^2m</a:t>
            </a:r>
            <a:r>
              <a:rPr lang="zh-CN" altLang="en-US" dirty="0"/>
              <a:t>。</a:t>
            </a:r>
            <a:endParaRPr lang="en-US" altLang="zh-CN" dirty="0"/>
          </a:p>
          <a:p>
            <a:r>
              <a:rPr lang="zh-CN" altLang="en-US" dirty="0"/>
              <a:t>思路</a:t>
            </a:r>
            <a:r>
              <a:rPr lang="en-US" altLang="zh-CN" dirty="0"/>
              <a:t>2</a:t>
            </a:r>
            <a:r>
              <a:rPr lang="zh-CN" altLang="en-US" dirty="0"/>
              <a:t>：求出前缀背包和后缀背包，每次合并</a:t>
            </a:r>
            <a:r>
              <a:rPr lang="en-US" altLang="zh-CN" dirty="0"/>
              <a:t>pre[i-1]</a:t>
            </a:r>
            <a:r>
              <a:rPr lang="zh-CN" altLang="en-US" dirty="0"/>
              <a:t>和</a:t>
            </a:r>
            <a:r>
              <a:rPr lang="en-US" altLang="zh-CN" dirty="0" err="1"/>
              <a:t>suf</a:t>
            </a:r>
            <a:r>
              <a:rPr lang="en-US" altLang="zh-CN" dirty="0"/>
              <a:t>[i+1]</a:t>
            </a:r>
            <a:r>
              <a:rPr lang="zh-CN" altLang="en-US" dirty="0"/>
              <a:t>。</a:t>
            </a:r>
            <a:endParaRPr lang="en-US" altLang="zh-CN" dirty="0"/>
          </a:p>
          <a:p>
            <a:r>
              <a:rPr lang="zh-CN" altLang="en-US" dirty="0"/>
              <a:t>思路</a:t>
            </a:r>
            <a:r>
              <a:rPr lang="en-US" altLang="zh-CN" dirty="0"/>
              <a:t>3</a:t>
            </a:r>
            <a:r>
              <a:rPr lang="zh-CN" altLang="en-US" dirty="0"/>
              <a:t>：使用分治，介于大家对分治了解还比较少，这里不详细讲这种做法了。</a:t>
            </a:r>
            <a:endParaRPr lang="en-US" altLang="zh-CN" dirty="0"/>
          </a:p>
        </p:txBody>
      </p:sp>
    </p:spTree>
    <p:extLst>
      <p:ext uri="{BB962C8B-B14F-4D97-AF65-F5344CB8AC3E}">
        <p14:creationId xmlns:p14="http://schemas.microsoft.com/office/powerpoint/2010/main" val="16375141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CE47F2-2F96-5EF8-BA12-70908B99CBF8}"/>
              </a:ext>
            </a:extLst>
          </p:cNvPr>
          <p:cNvSpPr>
            <a:spLocks noGrp="1"/>
          </p:cNvSpPr>
          <p:nvPr>
            <p:ph type="title"/>
          </p:nvPr>
        </p:nvSpPr>
        <p:spPr/>
        <p:txBody>
          <a:bodyPr/>
          <a:lstStyle/>
          <a:p>
            <a:r>
              <a:rPr lang="en-US" altLang="zh-CN" dirty="0">
                <a:hlinkClick r:id="rId2"/>
              </a:rPr>
              <a:t>P4141 </a:t>
            </a:r>
            <a:r>
              <a:rPr lang="zh-CN" altLang="en-US" dirty="0">
                <a:hlinkClick r:id="rId2"/>
              </a:rPr>
              <a:t>消失之物</a:t>
            </a:r>
            <a:endParaRPr lang="zh-CN" altLang="en-US" dirty="0"/>
          </a:p>
        </p:txBody>
      </p:sp>
      <p:sp>
        <p:nvSpPr>
          <p:cNvPr id="3" name="内容占位符 2">
            <a:extLst>
              <a:ext uri="{FF2B5EF4-FFF2-40B4-BE49-F238E27FC236}">
                <a16:creationId xmlns:a16="http://schemas.microsoft.com/office/drawing/2014/main" id="{D6195460-F396-A7D2-6FB3-96640E2C6620}"/>
              </a:ext>
            </a:extLst>
          </p:cNvPr>
          <p:cNvSpPr>
            <a:spLocks noGrp="1"/>
          </p:cNvSpPr>
          <p:nvPr>
            <p:ph idx="1"/>
          </p:nvPr>
        </p:nvSpPr>
        <p:spPr/>
        <p:txBody>
          <a:bodyPr/>
          <a:lstStyle/>
          <a:p>
            <a:r>
              <a:rPr lang="zh-CN" altLang="en-US" dirty="0"/>
              <a:t>思路</a:t>
            </a:r>
            <a:r>
              <a:rPr lang="en-US" altLang="zh-CN" dirty="0"/>
              <a:t>4</a:t>
            </a:r>
            <a:r>
              <a:rPr lang="zh-CN" altLang="en-US" dirty="0"/>
              <a:t>：</a:t>
            </a:r>
            <a:endParaRPr lang="en-US" altLang="zh-CN" dirty="0"/>
          </a:p>
          <a:p>
            <a:pPr lvl="1"/>
            <a:r>
              <a:rPr lang="en-US" altLang="zh-CN" dirty="0"/>
              <a:t>Hint1</a:t>
            </a:r>
            <a:r>
              <a:rPr lang="zh-CN" altLang="en-US" dirty="0"/>
              <a:t>：求方案数的背包是可以撤销的！因为</a:t>
            </a:r>
            <a:r>
              <a:rPr lang="en-US" altLang="zh-CN" dirty="0" err="1"/>
              <a:t>dp</a:t>
            </a:r>
            <a:r>
              <a:rPr lang="zh-CN" altLang="en-US" dirty="0"/>
              <a:t>方程是可逆的。所以如果按照</a:t>
            </a:r>
            <a:r>
              <a:rPr lang="en-US" altLang="zh-CN" dirty="0"/>
              <a:t>1</a:t>
            </a:r>
            <a:r>
              <a:rPr lang="zh-CN" altLang="en-US" dirty="0"/>
              <a:t>，</a:t>
            </a:r>
            <a:r>
              <a:rPr lang="en-US" altLang="zh-CN" dirty="0"/>
              <a:t>2</a:t>
            </a:r>
            <a:r>
              <a:rPr lang="zh-CN" altLang="en-US" dirty="0"/>
              <a:t>，</a:t>
            </a:r>
            <a:r>
              <a:rPr lang="en-US" altLang="zh-CN" dirty="0"/>
              <a:t>3…n-1</a:t>
            </a:r>
            <a:r>
              <a:rPr lang="zh-CN" altLang="en-US" dirty="0"/>
              <a:t>，</a:t>
            </a:r>
            <a:r>
              <a:rPr lang="en-US" altLang="zh-CN" dirty="0"/>
              <a:t>n</a:t>
            </a:r>
            <a:r>
              <a:rPr lang="zh-CN" altLang="en-US" dirty="0"/>
              <a:t>的顺序添加物品的话也可以以相应的顺序倒序撤销物品。</a:t>
            </a:r>
            <a:endParaRPr lang="en-US" altLang="zh-CN" dirty="0"/>
          </a:p>
          <a:p>
            <a:pPr lvl="1"/>
            <a:r>
              <a:rPr lang="en-US" altLang="zh-CN" dirty="0"/>
              <a:t>Hint2</a:t>
            </a:r>
            <a:r>
              <a:rPr lang="zh-CN" altLang="en-US" dirty="0"/>
              <a:t>：但是因为背包枚举物品的顺序不会影响最后的结果，即按照</a:t>
            </a:r>
            <a:r>
              <a:rPr lang="en-US" altLang="zh-CN" dirty="0"/>
              <a:t>1</a:t>
            </a:r>
            <a:r>
              <a:rPr lang="zh-CN" altLang="en-US" dirty="0"/>
              <a:t>，</a:t>
            </a:r>
            <a:r>
              <a:rPr lang="en-US" altLang="zh-CN" dirty="0"/>
              <a:t>2</a:t>
            </a:r>
            <a:r>
              <a:rPr lang="zh-CN" altLang="en-US" dirty="0"/>
              <a:t>，</a:t>
            </a:r>
            <a:r>
              <a:rPr lang="en-US" altLang="zh-CN" dirty="0"/>
              <a:t>3…n-1</a:t>
            </a:r>
            <a:r>
              <a:rPr lang="zh-CN" altLang="en-US" dirty="0"/>
              <a:t>，</a:t>
            </a:r>
            <a:r>
              <a:rPr lang="en-US" altLang="zh-CN" dirty="0"/>
              <a:t>n</a:t>
            </a:r>
            <a:r>
              <a:rPr lang="zh-CN" altLang="en-US" dirty="0"/>
              <a:t>的顺序添加物品和按照</a:t>
            </a:r>
            <a:r>
              <a:rPr lang="en-US" altLang="zh-CN" dirty="0"/>
              <a:t>1</a:t>
            </a:r>
            <a:r>
              <a:rPr lang="zh-CN" altLang="en-US" dirty="0"/>
              <a:t>，</a:t>
            </a:r>
            <a:r>
              <a:rPr lang="en-US" altLang="zh-CN" dirty="0"/>
              <a:t>2</a:t>
            </a:r>
            <a:r>
              <a:rPr lang="zh-CN" altLang="en-US" dirty="0"/>
              <a:t>，</a:t>
            </a:r>
            <a:r>
              <a:rPr lang="en-US" altLang="zh-CN" dirty="0"/>
              <a:t>3…n-1</a:t>
            </a:r>
            <a:r>
              <a:rPr lang="zh-CN" altLang="en-US" dirty="0"/>
              <a:t>，</a:t>
            </a:r>
            <a:r>
              <a:rPr lang="en-US" altLang="zh-CN" dirty="0"/>
              <a:t>n</a:t>
            </a:r>
            <a:r>
              <a:rPr lang="zh-CN" altLang="en-US" dirty="0"/>
              <a:t>，</a:t>
            </a:r>
            <a:r>
              <a:rPr lang="en-US" altLang="zh-CN" dirty="0" err="1"/>
              <a:t>i</a:t>
            </a:r>
            <a:r>
              <a:rPr lang="zh-CN" altLang="en-US" dirty="0"/>
              <a:t>的顺序添加物品得到的结果是一样的。</a:t>
            </a:r>
            <a:endParaRPr lang="en-US" altLang="zh-CN" dirty="0"/>
          </a:p>
          <a:p>
            <a:pPr lvl="1"/>
            <a:r>
              <a:rPr lang="en-US" altLang="zh-CN" dirty="0"/>
              <a:t>Hint3</a:t>
            </a:r>
            <a:r>
              <a:rPr lang="zh-CN" altLang="en-US" dirty="0"/>
              <a:t>：所以当需要求不包含第</a:t>
            </a:r>
            <a:r>
              <a:rPr lang="en-US" altLang="zh-CN" dirty="0" err="1"/>
              <a:t>i</a:t>
            </a:r>
            <a:r>
              <a:rPr lang="zh-CN" altLang="en-US" dirty="0"/>
              <a:t>个物品的背包时候，只需要在按照</a:t>
            </a:r>
            <a:r>
              <a:rPr lang="en-US" altLang="zh-CN" dirty="0"/>
              <a:t>1</a:t>
            </a:r>
            <a:r>
              <a:rPr lang="zh-CN" altLang="en-US" dirty="0"/>
              <a:t>，</a:t>
            </a:r>
            <a:r>
              <a:rPr lang="en-US" altLang="zh-CN" dirty="0"/>
              <a:t>2</a:t>
            </a:r>
            <a:r>
              <a:rPr lang="zh-CN" altLang="en-US" dirty="0"/>
              <a:t>，</a:t>
            </a:r>
            <a:r>
              <a:rPr lang="en-US" altLang="zh-CN" dirty="0"/>
              <a:t>3…n-1</a:t>
            </a:r>
            <a:r>
              <a:rPr lang="zh-CN" altLang="en-US" dirty="0"/>
              <a:t>，</a:t>
            </a:r>
            <a:r>
              <a:rPr lang="en-US" altLang="zh-CN" dirty="0"/>
              <a:t>n</a:t>
            </a:r>
            <a:r>
              <a:rPr lang="zh-CN" altLang="en-US" dirty="0"/>
              <a:t>的顺序添加物品求出的背包的基础上，撤销掉第</a:t>
            </a:r>
            <a:r>
              <a:rPr lang="en-US" altLang="zh-CN" dirty="0" err="1"/>
              <a:t>i</a:t>
            </a:r>
            <a:r>
              <a:rPr lang="zh-CN" altLang="en-US" dirty="0"/>
              <a:t>个物品即可。</a:t>
            </a:r>
          </a:p>
        </p:txBody>
      </p:sp>
    </p:spTree>
    <p:extLst>
      <p:ext uri="{BB962C8B-B14F-4D97-AF65-F5344CB8AC3E}">
        <p14:creationId xmlns:p14="http://schemas.microsoft.com/office/powerpoint/2010/main" val="20204363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5D4F22-AC47-D0D8-511A-8267C1986F09}"/>
              </a:ext>
            </a:extLst>
          </p:cNvPr>
          <p:cNvSpPr>
            <a:spLocks noGrp="1"/>
          </p:cNvSpPr>
          <p:nvPr>
            <p:ph type="title"/>
          </p:nvPr>
        </p:nvSpPr>
        <p:spPr/>
        <p:txBody>
          <a:bodyPr/>
          <a:lstStyle/>
          <a:p>
            <a:r>
              <a:rPr lang="en-US" altLang="zh-CN" dirty="0">
                <a:hlinkClick r:id="rId2"/>
              </a:rPr>
              <a:t>P4141 </a:t>
            </a:r>
            <a:r>
              <a:rPr lang="zh-CN" altLang="en-US" dirty="0">
                <a:hlinkClick r:id="rId2"/>
              </a:rPr>
              <a:t>消失之物</a:t>
            </a:r>
            <a:endParaRPr lang="zh-CN" altLang="en-US" dirty="0"/>
          </a:p>
        </p:txBody>
      </p:sp>
      <p:pic>
        <p:nvPicPr>
          <p:cNvPr id="5" name="内容占位符 4">
            <a:extLst>
              <a:ext uri="{FF2B5EF4-FFF2-40B4-BE49-F238E27FC236}">
                <a16:creationId xmlns:a16="http://schemas.microsoft.com/office/drawing/2014/main" id="{4B8CC476-B3E2-1A11-3B1A-F61D6FEEFA5C}"/>
              </a:ext>
            </a:extLst>
          </p:cNvPr>
          <p:cNvPicPr>
            <a:picLocks noGrp="1" noChangeAspect="1"/>
          </p:cNvPicPr>
          <p:nvPr>
            <p:ph idx="1"/>
          </p:nvPr>
        </p:nvPicPr>
        <p:blipFill>
          <a:blip r:embed="rId3"/>
          <a:stretch>
            <a:fillRect/>
          </a:stretch>
        </p:blipFill>
        <p:spPr>
          <a:xfrm>
            <a:off x="838200" y="1570855"/>
            <a:ext cx="8487960" cy="4210638"/>
          </a:xfrm>
        </p:spPr>
      </p:pic>
    </p:spTree>
    <p:extLst>
      <p:ext uri="{BB962C8B-B14F-4D97-AF65-F5344CB8AC3E}">
        <p14:creationId xmlns:p14="http://schemas.microsoft.com/office/powerpoint/2010/main" val="30361545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594ABA-ADD7-D330-97C9-273A3428FB5A}"/>
              </a:ext>
            </a:extLst>
          </p:cNvPr>
          <p:cNvSpPr>
            <a:spLocks noGrp="1"/>
          </p:cNvSpPr>
          <p:nvPr>
            <p:ph type="title"/>
          </p:nvPr>
        </p:nvSpPr>
        <p:spPr/>
        <p:txBody>
          <a:bodyPr/>
          <a:lstStyle/>
          <a:p>
            <a:r>
              <a:rPr lang="en-US" altLang="zh-CN" dirty="0">
                <a:hlinkClick r:id="rId2"/>
              </a:rPr>
              <a:t>P5322 [BJOI2019] </a:t>
            </a:r>
            <a:r>
              <a:rPr lang="zh-CN" altLang="en-US" dirty="0">
                <a:hlinkClick r:id="rId2"/>
              </a:rPr>
              <a:t>排兵布阵 </a:t>
            </a:r>
            <a:endParaRPr lang="zh-CN" altLang="en-US" dirty="0"/>
          </a:p>
        </p:txBody>
      </p:sp>
      <p:sp>
        <p:nvSpPr>
          <p:cNvPr id="3" name="内容占位符 2">
            <a:extLst>
              <a:ext uri="{FF2B5EF4-FFF2-40B4-BE49-F238E27FC236}">
                <a16:creationId xmlns:a16="http://schemas.microsoft.com/office/drawing/2014/main" id="{B0C9D938-CD20-9949-DAF9-DF80BCCB58FD}"/>
              </a:ext>
            </a:extLst>
          </p:cNvPr>
          <p:cNvSpPr>
            <a:spLocks noGrp="1"/>
          </p:cNvSpPr>
          <p:nvPr>
            <p:ph idx="1"/>
          </p:nvPr>
        </p:nvSpPr>
        <p:spPr/>
        <p:txBody>
          <a:bodyPr/>
          <a:lstStyle/>
          <a:p>
            <a:r>
              <a:rPr lang="zh-CN" altLang="en-US" dirty="0"/>
              <a:t>将问题转化：小</a:t>
            </a:r>
            <a:r>
              <a:rPr lang="en-US" altLang="zh-CN" dirty="0"/>
              <a:t>C</a:t>
            </a:r>
            <a:r>
              <a:rPr lang="zh-CN" altLang="en-US" dirty="0"/>
              <a:t>有</a:t>
            </a:r>
            <a:r>
              <a:rPr lang="en-US" altLang="zh-CN" dirty="0"/>
              <a:t>m</a:t>
            </a:r>
            <a:r>
              <a:rPr lang="zh-CN" altLang="en-US" dirty="0"/>
              <a:t>个士兵要派往</a:t>
            </a:r>
            <a:r>
              <a:rPr lang="en-US" altLang="zh-CN" dirty="0"/>
              <a:t>n</a:t>
            </a:r>
            <a:r>
              <a:rPr lang="zh-CN" altLang="en-US" dirty="0"/>
              <a:t>座城市，在每座城市分配一定量的士兵，可以获得一定量的分数。求出一个合理的分配方案，使得小</a:t>
            </a:r>
            <a:r>
              <a:rPr lang="en-US" altLang="zh-CN" dirty="0"/>
              <a:t>C</a:t>
            </a:r>
            <a:r>
              <a:rPr lang="zh-CN" altLang="en-US" dirty="0"/>
              <a:t>获得的总分数最大。</a:t>
            </a:r>
            <a:endParaRPr lang="en-US" altLang="zh-CN" dirty="0"/>
          </a:p>
          <a:p>
            <a:r>
              <a:rPr lang="zh-CN" altLang="en-US" dirty="0"/>
              <a:t>解答：</a:t>
            </a:r>
            <a:r>
              <a:rPr lang="en-US" altLang="zh-CN" dirty="0"/>
              <a:t>m</a:t>
            </a:r>
            <a:r>
              <a:rPr lang="zh-CN" altLang="en-US" dirty="0"/>
              <a:t>看作背包容量，分数看作价值。每座城市对应一组物品，分配的士兵数量看作体积，获得的分数看作价值。转化为分组背包，问题解决！</a:t>
            </a:r>
          </a:p>
        </p:txBody>
      </p:sp>
    </p:spTree>
    <p:extLst>
      <p:ext uri="{BB962C8B-B14F-4D97-AF65-F5344CB8AC3E}">
        <p14:creationId xmlns:p14="http://schemas.microsoft.com/office/powerpoint/2010/main" val="38747804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1BE3DC-7A7F-33F3-E7EA-742393DF4A71}"/>
              </a:ext>
            </a:extLst>
          </p:cNvPr>
          <p:cNvSpPr>
            <a:spLocks noGrp="1"/>
          </p:cNvSpPr>
          <p:nvPr>
            <p:ph type="title"/>
          </p:nvPr>
        </p:nvSpPr>
        <p:spPr/>
        <p:txBody>
          <a:bodyPr/>
          <a:lstStyle/>
          <a:p>
            <a:r>
              <a:rPr lang="en-US" altLang="zh-CN" dirty="0">
                <a:hlinkClick r:id="rId2"/>
              </a:rPr>
              <a:t>P2732 [USACO3.3] </a:t>
            </a:r>
            <a:r>
              <a:rPr lang="zh-CN" altLang="en-US" dirty="0">
                <a:hlinkClick r:id="rId2"/>
              </a:rPr>
              <a:t>商店购物</a:t>
            </a:r>
            <a:endParaRPr lang="zh-CN" altLang="en-US" dirty="0"/>
          </a:p>
        </p:txBody>
      </p:sp>
      <p:sp>
        <p:nvSpPr>
          <p:cNvPr id="3" name="内容占位符 2">
            <a:extLst>
              <a:ext uri="{FF2B5EF4-FFF2-40B4-BE49-F238E27FC236}">
                <a16:creationId xmlns:a16="http://schemas.microsoft.com/office/drawing/2014/main" id="{92295A08-D112-9457-CFD2-5FA91A0B9E62}"/>
              </a:ext>
            </a:extLst>
          </p:cNvPr>
          <p:cNvSpPr>
            <a:spLocks noGrp="1"/>
          </p:cNvSpPr>
          <p:nvPr>
            <p:ph idx="1"/>
          </p:nvPr>
        </p:nvSpPr>
        <p:spPr/>
        <p:txBody>
          <a:bodyPr/>
          <a:lstStyle/>
          <a:p>
            <a:r>
              <a:rPr lang="zh-CN" altLang="en-US" dirty="0"/>
              <a:t>多维体积背包</a:t>
            </a:r>
            <a:endParaRPr lang="en-US" altLang="zh-CN" dirty="0"/>
          </a:p>
          <a:p>
            <a:r>
              <a:rPr lang="zh-CN" altLang="en-US" dirty="0"/>
              <a:t>每一种商品需要购买的个数看作背包的体积，需要花费的钱数看作价值。</a:t>
            </a:r>
            <a:endParaRPr lang="en-US" altLang="zh-CN" dirty="0"/>
          </a:p>
          <a:p>
            <a:r>
              <a:rPr lang="en-US" altLang="zh-CN" dirty="0"/>
              <a:t>F[a][b][c][d][e]</a:t>
            </a:r>
            <a:r>
              <a:rPr lang="zh-CN" altLang="en-US" dirty="0"/>
              <a:t>表示每种物品分别已经购买了</a:t>
            </a:r>
            <a:r>
              <a:rPr lang="en-US" altLang="zh-CN" dirty="0"/>
              <a:t>a, b, c, d, e</a:t>
            </a:r>
            <a:r>
              <a:rPr lang="zh-CN" altLang="en-US" dirty="0"/>
              <a:t>件的情况下需要花费的最少钱数。</a:t>
            </a:r>
            <a:endParaRPr lang="en-US" altLang="zh-CN" dirty="0"/>
          </a:p>
          <a:p>
            <a:r>
              <a:rPr lang="zh-CN" altLang="en-US" dirty="0"/>
              <a:t>每次转移可以选择单买某种物品或者选择一种优惠方式。</a:t>
            </a:r>
            <a:endParaRPr lang="en-US" altLang="zh-CN" dirty="0"/>
          </a:p>
          <a:p>
            <a:r>
              <a:rPr lang="zh-CN" altLang="en-US" dirty="0"/>
              <a:t>因为背包物品的枚举顺序不影响最后的结果，我们可以钦定先单买再选择优惠方式购买。</a:t>
            </a:r>
          </a:p>
        </p:txBody>
      </p:sp>
    </p:spTree>
    <p:extLst>
      <p:ext uri="{BB962C8B-B14F-4D97-AF65-F5344CB8AC3E}">
        <p14:creationId xmlns:p14="http://schemas.microsoft.com/office/powerpoint/2010/main" val="2129679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CB5E5D-1C28-6EA7-2874-5CA769E596FB}"/>
              </a:ext>
            </a:extLst>
          </p:cNvPr>
          <p:cNvSpPr>
            <a:spLocks noGrp="1"/>
          </p:cNvSpPr>
          <p:nvPr>
            <p:ph type="title"/>
          </p:nvPr>
        </p:nvSpPr>
        <p:spPr/>
        <p:txBody>
          <a:bodyPr/>
          <a:lstStyle/>
          <a:p>
            <a:r>
              <a:rPr lang="en-US" altLang="zh-CN" dirty="0">
                <a:hlinkClick r:id="rId2"/>
              </a:rPr>
              <a:t>P2732 [USACO3.3] </a:t>
            </a:r>
            <a:r>
              <a:rPr lang="zh-CN" altLang="en-US" dirty="0">
                <a:hlinkClick r:id="rId2"/>
              </a:rPr>
              <a:t>商店购物</a:t>
            </a:r>
            <a:endParaRPr lang="zh-CN" altLang="en-US" dirty="0"/>
          </a:p>
        </p:txBody>
      </p:sp>
      <p:sp>
        <p:nvSpPr>
          <p:cNvPr id="3" name="内容占位符 2">
            <a:extLst>
              <a:ext uri="{FF2B5EF4-FFF2-40B4-BE49-F238E27FC236}">
                <a16:creationId xmlns:a16="http://schemas.microsoft.com/office/drawing/2014/main" id="{284A1D05-1D54-664B-5056-18372A5BAB89}"/>
              </a:ext>
            </a:extLst>
          </p:cNvPr>
          <p:cNvSpPr>
            <a:spLocks noGrp="1"/>
          </p:cNvSpPr>
          <p:nvPr>
            <p:ph idx="1"/>
          </p:nvPr>
        </p:nvSpPr>
        <p:spPr/>
        <p:txBody>
          <a:bodyPr/>
          <a:lstStyle/>
          <a:p>
            <a:r>
              <a:rPr lang="zh-CN" altLang="en-US" dirty="0"/>
              <a:t>先只考虑单买，那么</a:t>
            </a:r>
            <a:r>
              <a:rPr lang="en-US" altLang="zh-CN" dirty="0"/>
              <a:t>f[a][b][c][d][e]</a:t>
            </a:r>
            <a:r>
              <a:rPr lang="zh-CN" altLang="en-US" dirty="0"/>
              <a:t>可以直接算出来，即用单价乘以数量再求和即可。</a:t>
            </a:r>
            <a:endParaRPr lang="en-US" altLang="zh-CN" dirty="0"/>
          </a:p>
          <a:p>
            <a:r>
              <a:rPr lang="zh-CN" altLang="en-US" dirty="0"/>
              <a:t>然后考虑多种优惠方式，每种优惠方式可以重复选择，所以跑个完全背包即可。</a:t>
            </a:r>
          </a:p>
        </p:txBody>
      </p:sp>
    </p:spTree>
    <p:extLst>
      <p:ext uri="{BB962C8B-B14F-4D97-AF65-F5344CB8AC3E}">
        <p14:creationId xmlns:p14="http://schemas.microsoft.com/office/powerpoint/2010/main" val="257996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2FDCE3-4144-8259-95EA-988A9D5CCDB3}"/>
              </a:ext>
            </a:extLst>
          </p:cNvPr>
          <p:cNvSpPr>
            <a:spLocks noGrp="1"/>
          </p:cNvSpPr>
          <p:nvPr>
            <p:ph type="title"/>
          </p:nvPr>
        </p:nvSpPr>
        <p:spPr/>
        <p:txBody>
          <a:bodyPr/>
          <a:lstStyle/>
          <a:p>
            <a:r>
              <a:rPr lang="en-US" altLang="zh-CN" dirty="0">
                <a:hlinkClick r:id="rId2"/>
              </a:rPr>
              <a:t>P2732 [USACO3.3] </a:t>
            </a:r>
            <a:r>
              <a:rPr lang="zh-CN" altLang="en-US" dirty="0">
                <a:hlinkClick r:id="rId2"/>
              </a:rPr>
              <a:t>商店购物</a:t>
            </a:r>
            <a:endParaRPr lang="zh-CN" altLang="en-US" dirty="0"/>
          </a:p>
        </p:txBody>
      </p:sp>
      <p:pic>
        <p:nvPicPr>
          <p:cNvPr id="5" name="内容占位符 4">
            <a:extLst>
              <a:ext uri="{FF2B5EF4-FFF2-40B4-BE49-F238E27FC236}">
                <a16:creationId xmlns:a16="http://schemas.microsoft.com/office/drawing/2014/main" id="{E87EEDA2-8512-2B85-1AA3-28B8A8BD2634}"/>
              </a:ext>
            </a:extLst>
          </p:cNvPr>
          <p:cNvPicPr>
            <a:picLocks noGrp="1" noChangeAspect="1"/>
          </p:cNvPicPr>
          <p:nvPr>
            <p:ph idx="1"/>
          </p:nvPr>
        </p:nvPicPr>
        <p:blipFill>
          <a:blip r:embed="rId3"/>
          <a:stretch>
            <a:fillRect/>
          </a:stretch>
        </p:blipFill>
        <p:spPr>
          <a:xfrm>
            <a:off x="838200" y="1791710"/>
            <a:ext cx="10515600" cy="3951808"/>
          </a:xfrm>
        </p:spPr>
      </p:pic>
    </p:spTree>
    <p:extLst>
      <p:ext uri="{BB962C8B-B14F-4D97-AF65-F5344CB8AC3E}">
        <p14:creationId xmlns:p14="http://schemas.microsoft.com/office/powerpoint/2010/main" val="2600139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109C8C-9CAB-E2D3-621A-741FC01AA644}"/>
              </a:ext>
            </a:extLst>
          </p:cNvPr>
          <p:cNvSpPr>
            <a:spLocks noGrp="1"/>
          </p:cNvSpPr>
          <p:nvPr>
            <p:ph type="title"/>
          </p:nvPr>
        </p:nvSpPr>
        <p:spPr/>
        <p:txBody>
          <a:bodyPr/>
          <a:lstStyle/>
          <a:p>
            <a:r>
              <a:rPr lang="en-US" altLang="zh-CN" dirty="0">
                <a:hlinkClick r:id="rId2"/>
              </a:rPr>
              <a:t>P2732 [USACO3.3] </a:t>
            </a:r>
            <a:r>
              <a:rPr lang="zh-CN" altLang="en-US" dirty="0">
                <a:hlinkClick r:id="rId2"/>
              </a:rPr>
              <a:t>商店购物</a:t>
            </a:r>
            <a:endParaRPr lang="zh-CN" altLang="en-US" dirty="0"/>
          </a:p>
        </p:txBody>
      </p:sp>
      <p:sp>
        <p:nvSpPr>
          <p:cNvPr id="3" name="内容占位符 2">
            <a:extLst>
              <a:ext uri="{FF2B5EF4-FFF2-40B4-BE49-F238E27FC236}">
                <a16:creationId xmlns:a16="http://schemas.microsoft.com/office/drawing/2014/main" id="{EEAC2041-ED80-F14A-B816-5182C2B65348}"/>
              </a:ext>
            </a:extLst>
          </p:cNvPr>
          <p:cNvSpPr>
            <a:spLocks noGrp="1"/>
          </p:cNvSpPr>
          <p:nvPr>
            <p:ph idx="1"/>
          </p:nvPr>
        </p:nvSpPr>
        <p:spPr/>
        <p:txBody>
          <a:bodyPr/>
          <a:lstStyle/>
          <a:p>
            <a:r>
              <a:rPr lang="zh-CN" altLang="en-US" dirty="0"/>
              <a:t>由这道题我们延申出一个小问题：完全背包的两重循环可不可以交换？如果不能，为什么？如果可以，</a:t>
            </a:r>
            <a:r>
              <a:rPr lang="en-US" altLang="zh-CN" dirty="0" err="1"/>
              <a:t>dp</a:t>
            </a:r>
            <a:r>
              <a:rPr lang="zh-CN" altLang="en-US" dirty="0"/>
              <a:t>的含义改变了吗？</a:t>
            </a:r>
            <a:endParaRPr lang="en-US" altLang="zh-CN" dirty="0"/>
          </a:p>
        </p:txBody>
      </p:sp>
      <p:pic>
        <p:nvPicPr>
          <p:cNvPr id="4" name="图片 3">
            <a:extLst>
              <a:ext uri="{FF2B5EF4-FFF2-40B4-BE49-F238E27FC236}">
                <a16:creationId xmlns:a16="http://schemas.microsoft.com/office/drawing/2014/main" id="{CF44C012-4DEA-3162-941F-39E40A239F7A}"/>
              </a:ext>
            </a:extLst>
          </p:cNvPr>
          <p:cNvPicPr>
            <a:picLocks noChangeAspect="1"/>
          </p:cNvPicPr>
          <p:nvPr/>
        </p:nvPicPr>
        <p:blipFill>
          <a:blip r:embed="rId3"/>
          <a:stretch>
            <a:fillRect/>
          </a:stretch>
        </p:blipFill>
        <p:spPr>
          <a:xfrm>
            <a:off x="838200" y="2981262"/>
            <a:ext cx="4572638" cy="895475"/>
          </a:xfrm>
          <a:prstGeom prst="rect">
            <a:avLst/>
          </a:prstGeom>
        </p:spPr>
      </p:pic>
    </p:spTree>
    <p:extLst>
      <p:ext uri="{BB962C8B-B14F-4D97-AF65-F5344CB8AC3E}">
        <p14:creationId xmlns:p14="http://schemas.microsoft.com/office/powerpoint/2010/main" val="3291308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BACFFE-A974-C5C0-A252-6D6D88B97239}"/>
              </a:ext>
            </a:extLst>
          </p:cNvPr>
          <p:cNvSpPr>
            <a:spLocks noGrp="1"/>
          </p:cNvSpPr>
          <p:nvPr>
            <p:ph type="title"/>
          </p:nvPr>
        </p:nvSpPr>
        <p:spPr/>
        <p:txBody>
          <a:bodyPr/>
          <a:lstStyle/>
          <a:p>
            <a:r>
              <a:rPr lang="en-US" altLang="zh-CN" dirty="0">
                <a:hlinkClick r:id="rId2"/>
              </a:rPr>
              <a:t>P1385 </a:t>
            </a:r>
            <a:r>
              <a:rPr lang="zh-CN" altLang="en-US" dirty="0">
                <a:hlinkClick r:id="rId2"/>
              </a:rPr>
              <a:t>密令</a:t>
            </a:r>
            <a:endParaRPr lang="zh-CN" altLang="en-US" dirty="0"/>
          </a:p>
        </p:txBody>
      </p:sp>
      <p:pic>
        <p:nvPicPr>
          <p:cNvPr id="5" name="内容占位符 4">
            <a:extLst>
              <a:ext uri="{FF2B5EF4-FFF2-40B4-BE49-F238E27FC236}">
                <a16:creationId xmlns:a16="http://schemas.microsoft.com/office/drawing/2014/main" id="{F665405D-6ABF-6477-79E3-D62525BC2613}"/>
              </a:ext>
            </a:extLst>
          </p:cNvPr>
          <p:cNvPicPr>
            <a:picLocks noGrp="1" noChangeAspect="1"/>
          </p:cNvPicPr>
          <p:nvPr>
            <p:ph idx="1"/>
          </p:nvPr>
        </p:nvPicPr>
        <p:blipFill>
          <a:blip r:embed="rId3"/>
          <a:stretch>
            <a:fillRect/>
          </a:stretch>
        </p:blipFill>
        <p:spPr>
          <a:xfrm>
            <a:off x="838200" y="1690688"/>
            <a:ext cx="8497486" cy="2800741"/>
          </a:xfrm>
        </p:spPr>
      </p:pic>
    </p:spTree>
    <p:extLst>
      <p:ext uri="{BB962C8B-B14F-4D97-AF65-F5344CB8AC3E}">
        <p14:creationId xmlns:p14="http://schemas.microsoft.com/office/powerpoint/2010/main" val="7970104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D25FD2-B091-03B1-6DF8-A5BD8EC58912}"/>
              </a:ext>
            </a:extLst>
          </p:cNvPr>
          <p:cNvSpPr>
            <a:spLocks noGrp="1"/>
          </p:cNvSpPr>
          <p:nvPr>
            <p:ph type="title"/>
          </p:nvPr>
        </p:nvSpPr>
        <p:spPr/>
        <p:txBody>
          <a:bodyPr/>
          <a:lstStyle/>
          <a:p>
            <a:r>
              <a:rPr lang="en-US" altLang="zh-CN" dirty="0">
                <a:hlinkClick r:id="rId2"/>
              </a:rPr>
              <a:t>P1385 </a:t>
            </a:r>
            <a:r>
              <a:rPr lang="zh-CN" altLang="en-US" dirty="0">
                <a:hlinkClick r:id="rId2"/>
              </a:rPr>
              <a:t>密令</a:t>
            </a:r>
            <a:endParaRPr lang="zh-CN" altLang="en-US" dirty="0"/>
          </a:p>
        </p:txBody>
      </p:sp>
      <p:sp>
        <p:nvSpPr>
          <p:cNvPr id="3" name="内容占位符 2">
            <a:extLst>
              <a:ext uri="{FF2B5EF4-FFF2-40B4-BE49-F238E27FC236}">
                <a16:creationId xmlns:a16="http://schemas.microsoft.com/office/drawing/2014/main" id="{E728A9F7-5B4F-AF51-CFA8-EDA59312DC3E}"/>
              </a:ext>
            </a:extLst>
          </p:cNvPr>
          <p:cNvSpPr>
            <a:spLocks noGrp="1"/>
          </p:cNvSpPr>
          <p:nvPr>
            <p:ph idx="1"/>
          </p:nvPr>
        </p:nvSpPr>
        <p:spPr/>
        <p:txBody>
          <a:bodyPr/>
          <a:lstStyle/>
          <a:p>
            <a:r>
              <a:rPr lang="zh-CN" altLang="en-US" dirty="0"/>
              <a:t>解答：</a:t>
            </a:r>
            <a:r>
              <a:rPr lang="zh-CN" altLang="en-US" b="0" i="0" dirty="0">
                <a:solidFill>
                  <a:srgbClr val="404040"/>
                </a:solidFill>
                <a:effectLst/>
                <a:latin typeface="-apple-system"/>
              </a:rPr>
              <a:t>发现数列的总和不变，于是问题变为了有多少种长度为 </a:t>
            </a:r>
            <a:r>
              <a:rPr lang="en-US" altLang="zh-CN" b="0" dirty="0">
                <a:solidFill>
                  <a:srgbClr val="404040"/>
                </a:solidFill>
                <a:effectLst/>
                <a:latin typeface="KaTeX_Main"/>
              </a:rPr>
              <a:t>n</a:t>
            </a:r>
            <a:r>
              <a:rPr lang="zh-CN" altLang="en-US" b="0" i="0" dirty="0">
                <a:solidFill>
                  <a:srgbClr val="404040"/>
                </a:solidFill>
                <a:effectLst/>
                <a:latin typeface="-apple-system"/>
              </a:rPr>
              <a:t> 的序列，使得总和为 </a:t>
            </a:r>
            <a:r>
              <a:rPr lang="en-US" altLang="zh-CN" b="0" dirty="0">
                <a:solidFill>
                  <a:srgbClr val="404040"/>
                </a:solidFill>
                <a:effectLst/>
                <a:latin typeface="KaTeX_Main"/>
              </a:rPr>
              <a:t>sum</a:t>
            </a:r>
            <a:r>
              <a:rPr lang="zh-CN" altLang="en-US" b="0" i="0" dirty="0">
                <a:solidFill>
                  <a:srgbClr val="404040"/>
                </a:solidFill>
                <a:effectLst/>
                <a:latin typeface="-apple-system"/>
              </a:rPr>
              <a:t>，并且每个数都是 </a:t>
            </a:r>
            <a:r>
              <a:rPr lang="en-US" altLang="zh-CN" b="0" dirty="0">
                <a:solidFill>
                  <a:srgbClr val="404040"/>
                </a:solidFill>
                <a:effectLst/>
                <a:latin typeface="KaTeX_Main"/>
              </a:rPr>
              <a:t>0 </a:t>
            </a:r>
            <a:r>
              <a:rPr lang="zh-CN" altLang="en-US" b="0" i="0" dirty="0">
                <a:solidFill>
                  <a:srgbClr val="404040"/>
                </a:solidFill>
                <a:effectLst/>
                <a:latin typeface="-apple-system"/>
              </a:rPr>
              <a:t>到 </a:t>
            </a:r>
            <a:r>
              <a:rPr lang="en-US" altLang="zh-CN" b="0" dirty="0">
                <a:solidFill>
                  <a:srgbClr val="404040"/>
                </a:solidFill>
                <a:effectLst/>
                <a:latin typeface="KaTeX_Main"/>
              </a:rPr>
              <a:t>25</a:t>
            </a:r>
            <a:r>
              <a:rPr lang="zh-CN" altLang="en-US" b="0" i="0" dirty="0">
                <a:solidFill>
                  <a:srgbClr val="404040"/>
                </a:solidFill>
                <a:effectLst/>
                <a:latin typeface="-apple-system"/>
              </a:rPr>
              <a:t> 之间的数（可以证明，只要总和均为 </a:t>
            </a:r>
            <a:r>
              <a:rPr lang="en-US" altLang="zh-CN" b="0" dirty="0">
                <a:solidFill>
                  <a:srgbClr val="404040"/>
                </a:solidFill>
                <a:effectLst/>
                <a:latin typeface="KaTeX_Main"/>
              </a:rPr>
              <a:t>sum</a:t>
            </a:r>
            <a:r>
              <a:rPr lang="zh-CN" altLang="en-US" b="0" i="0" dirty="0">
                <a:solidFill>
                  <a:srgbClr val="404040"/>
                </a:solidFill>
                <a:effectLst/>
                <a:latin typeface="-apple-system"/>
              </a:rPr>
              <a:t>，一定可以构造出方法从原序列变为新序列）。</a:t>
            </a:r>
            <a:endParaRPr lang="en-US" altLang="zh-CN" dirty="0"/>
          </a:p>
        </p:txBody>
      </p:sp>
    </p:spTree>
    <p:extLst>
      <p:ext uri="{BB962C8B-B14F-4D97-AF65-F5344CB8AC3E}">
        <p14:creationId xmlns:p14="http://schemas.microsoft.com/office/powerpoint/2010/main" val="16920948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710749-DF8C-5556-3F19-FFC66C5C62AA}"/>
              </a:ext>
            </a:extLst>
          </p:cNvPr>
          <p:cNvSpPr>
            <a:spLocks noGrp="1"/>
          </p:cNvSpPr>
          <p:nvPr>
            <p:ph type="title"/>
          </p:nvPr>
        </p:nvSpPr>
        <p:spPr/>
        <p:txBody>
          <a:bodyPr/>
          <a:lstStyle/>
          <a:p>
            <a:r>
              <a:rPr lang="en-US" altLang="zh-CN" dirty="0">
                <a:hlinkClick r:id="rId2"/>
              </a:rPr>
              <a:t>P2066 </a:t>
            </a:r>
            <a:r>
              <a:rPr lang="zh-CN" altLang="en-US" dirty="0">
                <a:hlinkClick r:id="rId2"/>
              </a:rPr>
              <a:t>机器分配</a:t>
            </a:r>
            <a:endParaRPr lang="zh-CN" altLang="en-US" dirty="0"/>
          </a:p>
        </p:txBody>
      </p:sp>
      <p:sp>
        <p:nvSpPr>
          <p:cNvPr id="3" name="内容占位符 2">
            <a:extLst>
              <a:ext uri="{FF2B5EF4-FFF2-40B4-BE49-F238E27FC236}">
                <a16:creationId xmlns:a16="http://schemas.microsoft.com/office/drawing/2014/main" id="{19292411-5741-B069-272D-7762A853E66E}"/>
              </a:ext>
            </a:extLst>
          </p:cNvPr>
          <p:cNvSpPr>
            <a:spLocks noGrp="1"/>
          </p:cNvSpPr>
          <p:nvPr>
            <p:ph idx="1"/>
          </p:nvPr>
        </p:nvSpPr>
        <p:spPr/>
        <p:txBody>
          <a:bodyPr/>
          <a:lstStyle/>
          <a:p>
            <a:endParaRPr lang="zh-CN" altLang="en-US" dirty="0"/>
          </a:p>
        </p:txBody>
      </p:sp>
      <p:pic>
        <p:nvPicPr>
          <p:cNvPr id="5" name="图片 4">
            <a:extLst>
              <a:ext uri="{FF2B5EF4-FFF2-40B4-BE49-F238E27FC236}">
                <a16:creationId xmlns:a16="http://schemas.microsoft.com/office/drawing/2014/main" id="{978930A1-F09A-F57A-6118-583D3B4C0C09}"/>
              </a:ext>
            </a:extLst>
          </p:cNvPr>
          <p:cNvPicPr>
            <a:picLocks noChangeAspect="1"/>
          </p:cNvPicPr>
          <p:nvPr/>
        </p:nvPicPr>
        <p:blipFill>
          <a:blip r:embed="rId3"/>
          <a:stretch>
            <a:fillRect/>
          </a:stretch>
        </p:blipFill>
        <p:spPr>
          <a:xfrm>
            <a:off x="838200" y="1825625"/>
            <a:ext cx="8516539" cy="3381847"/>
          </a:xfrm>
          <a:prstGeom prst="rect">
            <a:avLst/>
          </a:prstGeom>
        </p:spPr>
      </p:pic>
    </p:spTree>
    <p:extLst>
      <p:ext uri="{BB962C8B-B14F-4D97-AF65-F5344CB8AC3E}">
        <p14:creationId xmlns:p14="http://schemas.microsoft.com/office/powerpoint/2010/main" val="42018118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72A439-D215-F697-B19A-C47DCB264826}"/>
              </a:ext>
            </a:extLst>
          </p:cNvPr>
          <p:cNvSpPr>
            <a:spLocks noGrp="1"/>
          </p:cNvSpPr>
          <p:nvPr>
            <p:ph type="title"/>
          </p:nvPr>
        </p:nvSpPr>
        <p:spPr/>
        <p:txBody>
          <a:bodyPr/>
          <a:lstStyle/>
          <a:p>
            <a:r>
              <a:rPr lang="en-US" altLang="zh-CN" dirty="0">
                <a:hlinkClick r:id="rId2"/>
              </a:rPr>
              <a:t>P2851 [USACO06DEC] The Fewest Coins G</a:t>
            </a:r>
            <a:endParaRPr lang="zh-CN" altLang="en-US" dirty="0"/>
          </a:p>
        </p:txBody>
      </p:sp>
      <p:sp>
        <p:nvSpPr>
          <p:cNvPr id="3" name="内容占位符 2">
            <a:extLst>
              <a:ext uri="{FF2B5EF4-FFF2-40B4-BE49-F238E27FC236}">
                <a16:creationId xmlns:a16="http://schemas.microsoft.com/office/drawing/2014/main" id="{65ED35A3-B146-92D4-72B6-EC1026605E19}"/>
              </a:ext>
            </a:extLst>
          </p:cNvPr>
          <p:cNvSpPr>
            <a:spLocks noGrp="1"/>
          </p:cNvSpPr>
          <p:nvPr>
            <p:ph idx="1"/>
          </p:nvPr>
        </p:nvSpPr>
        <p:spPr/>
        <p:txBody>
          <a:bodyPr/>
          <a:lstStyle/>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en-US" altLang="zh-CN" dirty="0"/>
              <a:t>PS</a:t>
            </a:r>
            <a:r>
              <a:rPr lang="zh-CN" altLang="en-US" dirty="0"/>
              <a:t>：</a:t>
            </a:r>
            <a:r>
              <a:rPr lang="en-US" altLang="zh-CN" dirty="0"/>
              <a:t>T&lt;=</a:t>
            </a:r>
            <a:r>
              <a:rPr lang="en-US" altLang="zh-CN" b="0" i="0" dirty="0">
                <a:effectLst/>
                <a:latin typeface="-apple-system"/>
              </a:rPr>
              <a:t>10,000</a:t>
            </a:r>
            <a:endParaRPr lang="zh-CN" altLang="en-US" dirty="0"/>
          </a:p>
        </p:txBody>
      </p:sp>
      <p:pic>
        <p:nvPicPr>
          <p:cNvPr id="5" name="图片 4">
            <a:extLst>
              <a:ext uri="{FF2B5EF4-FFF2-40B4-BE49-F238E27FC236}">
                <a16:creationId xmlns:a16="http://schemas.microsoft.com/office/drawing/2014/main" id="{3F9BDB25-71D2-31EC-ACE6-497384043FB0}"/>
              </a:ext>
            </a:extLst>
          </p:cNvPr>
          <p:cNvPicPr>
            <a:picLocks noChangeAspect="1"/>
          </p:cNvPicPr>
          <p:nvPr/>
        </p:nvPicPr>
        <p:blipFill>
          <a:blip r:embed="rId3"/>
          <a:stretch>
            <a:fillRect/>
          </a:stretch>
        </p:blipFill>
        <p:spPr>
          <a:xfrm>
            <a:off x="921123" y="1825625"/>
            <a:ext cx="8297433" cy="1867161"/>
          </a:xfrm>
          <a:prstGeom prst="rect">
            <a:avLst/>
          </a:prstGeom>
        </p:spPr>
      </p:pic>
    </p:spTree>
    <p:extLst>
      <p:ext uri="{BB962C8B-B14F-4D97-AF65-F5344CB8AC3E}">
        <p14:creationId xmlns:p14="http://schemas.microsoft.com/office/powerpoint/2010/main" val="12306555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E99E8A-7E35-93AA-7F8B-91B749EE2FC2}"/>
              </a:ext>
            </a:extLst>
          </p:cNvPr>
          <p:cNvSpPr>
            <a:spLocks noGrp="1"/>
          </p:cNvSpPr>
          <p:nvPr>
            <p:ph type="title"/>
          </p:nvPr>
        </p:nvSpPr>
        <p:spPr/>
        <p:txBody>
          <a:bodyPr/>
          <a:lstStyle/>
          <a:p>
            <a:r>
              <a:rPr lang="en-US" altLang="zh-CN" dirty="0">
                <a:hlinkClick r:id="rId2"/>
              </a:rPr>
              <a:t>P2851 [USACO06DEC] The Fewest Coins G</a:t>
            </a:r>
            <a:endParaRPr lang="zh-CN" altLang="en-US" dirty="0"/>
          </a:p>
        </p:txBody>
      </p:sp>
      <p:sp>
        <p:nvSpPr>
          <p:cNvPr id="3" name="内容占位符 2">
            <a:extLst>
              <a:ext uri="{FF2B5EF4-FFF2-40B4-BE49-F238E27FC236}">
                <a16:creationId xmlns:a16="http://schemas.microsoft.com/office/drawing/2014/main" id="{501126E9-29A4-9398-F8E1-E350FEA3BFDC}"/>
              </a:ext>
            </a:extLst>
          </p:cNvPr>
          <p:cNvSpPr>
            <a:spLocks noGrp="1"/>
          </p:cNvSpPr>
          <p:nvPr>
            <p:ph idx="1"/>
          </p:nvPr>
        </p:nvSpPr>
        <p:spPr/>
        <p:txBody>
          <a:bodyPr/>
          <a:lstStyle/>
          <a:p>
            <a:r>
              <a:rPr lang="zh-CN" altLang="en-US" dirty="0"/>
              <a:t>解答：</a:t>
            </a:r>
            <a:endParaRPr lang="en-US" altLang="zh-CN" dirty="0"/>
          </a:p>
          <a:p>
            <a:pPr lvl="1"/>
            <a:r>
              <a:rPr lang="zh-CN" altLang="en-US" dirty="0"/>
              <a:t>设</a:t>
            </a:r>
            <a:r>
              <a:rPr lang="en-US" altLang="zh-CN" dirty="0"/>
              <a:t>f[a]</a:t>
            </a:r>
            <a:r>
              <a:rPr lang="zh-CN" altLang="en-US" dirty="0"/>
              <a:t>表示</a:t>
            </a:r>
            <a:r>
              <a:rPr lang="en-US" altLang="zh-CN" dirty="0"/>
              <a:t>john</a:t>
            </a:r>
            <a:r>
              <a:rPr lang="zh-CN" altLang="en-US" dirty="0"/>
              <a:t>给出</a:t>
            </a:r>
            <a:r>
              <a:rPr lang="en-US" altLang="zh-CN" dirty="0"/>
              <a:t>a</a:t>
            </a:r>
            <a:r>
              <a:rPr lang="zh-CN" altLang="en-US" dirty="0"/>
              <a:t>元需要的最少硬币数量，这个用多重背包求出。</a:t>
            </a:r>
            <a:endParaRPr lang="en-US" altLang="zh-CN" dirty="0"/>
          </a:p>
          <a:p>
            <a:pPr lvl="1"/>
            <a:r>
              <a:rPr lang="zh-CN" altLang="en-US" dirty="0"/>
              <a:t>设</a:t>
            </a:r>
            <a:r>
              <a:rPr lang="en-US" altLang="zh-CN" dirty="0"/>
              <a:t>g[b]</a:t>
            </a:r>
            <a:r>
              <a:rPr lang="zh-CN" altLang="en-US" dirty="0"/>
              <a:t>表示店主找零</a:t>
            </a:r>
            <a:r>
              <a:rPr lang="en-US" altLang="zh-CN" dirty="0"/>
              <a:t>b</a:t>
            </a:r>
            <a:r>
              <a:rPr lang="zh-CN" altLang="en-US" dirty="0"/>
              <a:t>元需要的最少硬币数量，这个用完全背包求出。</a:t>
            </a:r>
            <a:endParaRPr lang="en-US" altLang="zh-CN" dirty="0"/>
          </a:p>
          <a:p>
            <a:pPr lvl="1"/>
            <a:r>
              <a:rPr lang="zh-CN" altLang="en-US" dirty="0"/>
              <a:t>最后只需要枚举</a:t>
            </a:r>
            <a:r>
              <a:rPr lang="en-US" altLang="zh-CN" dirty="0"/>
              <a:t>a</a:t>
            </a:r>
            <a:r>
              <a:rPr lang="zh-CN" altLang="en-US" dirty="0"/>
              <a:t>，</a:t>
            </a:r>
            <a:r>
              <a:rPr lang="en-US" altLang="zh-CN" dirty="0"/>
              <a:t>b</a:t>
            </a:r>
            <a:r>
              <a:rPr lang="zh-CN" altLang="en-US" dirty="0"/>
              <a:t>，求出当</a:t>
            </a:r>
            <a:r>
              <a:rPr lang="en-US" altLang="zh-CN" dirty="0"/>
              <a:t>a-b==T</a:t>
            </a:r>
            <a:r>
              <a:rPr lang="zh-CN" altLang="en-US" dirty="0"/>
              <a:t>时的</a:t>
            </a:r>
            <a:r>
              <a:rPr lang="en-US" altLang="zh-CN" dirty="0"/>
              <a:t>f[a]+g[b]</a:t>
            </a:r>
            <a:r>
              <a:rPr lang="zh-CN" altLang="en-US" dirty="0"/>
              <a:t>的最小值即可。</a:t>
            </a:r>
            <a:endParaRPr lang="en-US" altLang="zh-CN" dirty="0"/>
          </a:p>
          <a:p>
            <a:pPr lvl="1"/>
            <a:r>
              <a:rPr lang="zh-CN" altLang="en-US" dirty="0"/>
              <a:t>有个店主找零数一定小于</a:t>
            </a:r>
            <a:r>
              <a:rPr lang="en-US" altLang="zh-CN" dirty="0"/>
              <a:t>vmax^2</a:t>
            </a:r>
            <a:r>
              <a:rPr lang="zh-CN" altLang="en-US" dirty="0"/>
              <a:t>的证明，但是在实际解决问题的过程中，估计一个上界即可。</a:t>
            </a:r>
            <a:endParaRPr lang="en-US" altLang="zh-CN" dirty="0"/>
          </a:p>
          <a:p>
            <a:pPr marL="0" indent="0">
              <a:buNone/>
            </a:pPr>
            <a:r>
              <a:rPr lang="en-US" altLang="zh-CN" dirty="0"/>
              <a:t>	</a:t>
            </a:r>
            <a:endParaRPr lang="zh-CN" altLang="en-US" dirty="0"/>
          </a:p>
        </p:txBody>
      </p:sp>
    </p:spTree>
    <p:extLst>
      <p:ext uri="{BB962C8B-B14F-4D97-AF65-F5344CB8AC3E}">
        <p14:creationId xmlns:p14="http://schemas.microsoft.com/office/powerpoint/2010/main" val="28330991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00FB31-917D-BE1F-46FE-A38AC68983BD}"/>
              </a:ext>
            </a:extLst>
          </p:cNvPr>
          <p:cNvSpPr>
            <a:spLocks noGrp="1"/>
          </p:cNvSpPr>
          <p:nvPr>
            <p:ph type="title"/>
          </p:nvPr>
        </p:nvSpPr>
        <p:spPr/>
        <p:txBody>
          <a:bodyPr/>
          <a:lstStyle/>
          <a:p>
            <a:r>
              <a:rPr lang="en-US" altLang="zh-CN" dirty="0">
                <a:hlinkClick r:id="rId2"/>
              </a:rPr>
              <a:t>P5020 [NOIP2018 </a:t>
            </a:r>
            <a:r>
              <a:rPr lang="zh-CN" altLang="en-US" dirty="0">
                <a:hlinkClick r:id="rId2"/>
              </a:rPr>
              <a:t>提高组</a:t>
            </a:r>
            <a:r>
              <a:rPr lang="en-US" altLang="zh-CN" dirty="0">
                <a:hlinkClick r:id="rId2"/>
              </a:rPr>
              <a:t>] </a:t>
            </a:r>
            <a:r>
              <a:rPr lang="zh-CN" altLang="en-US" dirty="0">
                <a:hlinkClick r:id="rId2"/>
              </a:rPr>
              <a:t>货币系统</a:t>
            </a:r>
            <a:endParaRPr lang="zh-CN" altLang="en-US" dirty="0"/>
          </a:p>
        </p:txBody>
      </p:sp>
      <p:sp>
        <p:nvSpPr>
          <p:cNvPr id="3" name="内容占位符 2">
            <a:extLst>
              <a:ext uri="{FF2B5EF4-FFF2-40B4-BE49-F238E27FC236}">
                <a16:creationId xmlns:a16="http://schemas.microsoft.com/office/drawing/2014/main" id="{4AFE4AAE-65D2-919B-5170-D9DCEB4B388F}"/>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842864AB-B799-B860-E45C-02C57128AF16}"/>
              </a:ext>
            </a:extLst>
          </p:cNvPr>
          <p:cNvPicPr>
            <a:picLocks noChangeAspect="1"/>
          </p:cNvPicPr>
          <p:nvPr/>
        </p:nvPicPr>
        <p:blipFill>
          <a:blip r:embed="rId3"/>
          <a:stretch>
            <a:fillRect/>
          </a:stretch>
        </p:blipFill>
        <p:spPr>
          <a:xfrm>
            <a:off x="838200" y="1825625"/>
            <a:ext cx="6852920" cy="4579032"/>
          </a:xfrm>
          <a:prstGeom prst="rect">
            <a:avLst/>
          </a:prstGeom>
        </p:spPr>
      </p:pic>
    </p:spTree>
    <p:extLst>
      <p:ext uri="{BB962C8B-B14F-4D97-AF65-F5344CB8AC3E}">
        <p14:creationId xmlns:p14="http://schemas.microsoft.com/office/powerpoint/2010/main" val="38736923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7DCFDB-9CB1-2D7A-30EA-249CB042D3EF}"/>
              </a:ext>
            </a:extLst>
          </p:cNvPr>
          <p:cNvSpPr>
            <a:spLocks noGrp="1"/>
          </p:cNvSpPr>
          <p:nvPr>
            <p:ph type="title"/>
          </p:nvPr>
        </p:nvSpPr>
        <p:spPr/>
        <p:txBody>
          <a:bodyPr/>
          <a:lstStyle/>
          <a:p>
            <a:r>
              <a:rPr lang="en-US" altLang="zh-CN" dirty="0">
                <a:hlinkClick r:id="rId2"/>
              </a:rPr>
              <a:t>P1858 </a:t>
            </a:r>
            <a:r>
              <a:rPr lang="zh-CN" altLang="en-US" dirty="0">
                <a:hlinkClick r:id="rId2"/>
              </a:rPr>
              <a:t>多人背包</a:t>
            </a:r>
            <a:endParaRPr lang="zh-CN" altLang="en-US" dirty="0"/>
          </a:p>
        </p:txBody>
      </p:sp>
      <p:sp>
        <p:nvSpPr>
          <p:cNvPr id="3" name="内容占位符 2">
            <a:extLst>
              <a:ext uri="{FF2B5EF4-FFF2-40B4-BE49-F238E27FC236}">
                <a16:creationId xmlns:a16="http://schemas.microsoft.com/office/drawing/2014/main" id="{F694C84F-BE91-95EA-F0BA-F9AF33EB2808}"/>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6744CE77-D81E-8DD8-AA06-E2FF3699F558}"/>
              </a:ext>
            </a:extLst>
          </p:cNvPr>
          <p:cNvPicPr>
            <a:picLocks noChangeAspect="1"/>
          </p:cNvPicPr>
          <p:nvPr/>
        </p:nvPicPr>
        <p:blipFill>
          <a:blip r:embed="rId3"/>
          <a:stretch>
            <a:fillRect/>
          </a:stretch>
        </p:blipFill>
        <p:spPr>
          <a:xfrm>
            <a:off x="838200" y="1822450"/>
            <a:ext cx="8297433" cy="4791744"/>
          </a:xfrm>
          <a:prstGeom prst="rect">
            <a:avLst/>
          </a:prstGeom>
        </p:spPr>
      </p:pic>
    </p:spTree>
    <p:extLst>
      <p:ext uri="{BB962C8B-B14F-4D97-AF65-F5344CB8AC3E}">
        <p14:creationId xmlns:p14="http://schemas.microsoft.com/office/powerpoint/2010/main" val="17743745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8A920B-A150-E77D-8F19-61D9CF00B70D}"/>
              </a:ext>
            </a:extLst>
          </p:cNvPr>
          <p:cNvSpPr>
            <a:spLocks noGrp="1"/>
          </p:cNvSpPr>
          <p:nvPr>
            <p:ph type="title"/>
          </p:nvPr>
        </p:nvSpPr>
        <p:spPr/>
        <p:txBody>
          <a:bodyPr/>
          <a:lstStyle/>
          <a:p>
            <a:r>
              <a:rPr lang="en-US" altLang="zh-CN" dirty="0">
                <a:hlinkClick r:id="rId2"/>
              </a:rPr>
              <a:t>P1858 </a:t>
            </a:r>
            <a:r>
              <a:rPr lang="zh-CN" altLang="en-US" dirty="0">
                <a:hlinkClick r:id="rId2"/>
              </a:rPr>
              <a:t>多人背包</a:t>
            </a:r>
            <a:endParaRPr lang="zh-CN" altLang="en-US" dirty="0"/>
          </a:p>
        </p:txBody>
      </p:sp>
      <p:sp>
        <p:nvSpPr>
          <p:cNvPr id="3" name="内容占位符 2">
            <a:extLst>
              <a:ext uri="{FF2B5EF4-FFF2-40B4-BE49-F238E27FC236}">
                <a16:creationId xmlns:a16="http://schemas.microsoft.com/office/drawing/2014/main" id="{6179FAB2-8F49-A89A-4C3B-EBBFE8F0EF38}"/>
              </a:ext>
            </a:extLst>
          </p:cNvPr>
          <p:cNvSpPr>
            <a:spLocks noGrp="1"/>
          </p:cNvSpPr>
          <p:nvPr>
            <p:ph idx="1"/>
          </p:nvPr>
        </p:nvSpPr>
        <p:spPr/>
        <p:txBody>
          <a:bodyPr/>
          <a:lstStyle/>
          <a:p>
            <a:r>
              <a:rPr lang="en-US" altLang="zh-CN" dirty="0"/>
              <a:t>f[</a:t>
            </a:r>
            <a:r>
              <a:rPr lang="en-US" altLang="zh-CN" dirty="0" err="1"/>
              <a:t>i</a:t>
            </a:r>
            <a:r>
              <a:rPr lang="en-US" altLang="zh-CN" dirty="0"/>
              <a:t>][j][k]</a:t>
            </a:r>
            <a:r>
              <a:rPr lang="zh-CN" altLang="en-US" dirty="0"/>
              <a:t>表示考虑了前</a:t>
            </a:r>
            <a:r>
              <a:rPr lang="en-US" altLang="zh-CN" dirty="0" err="1"/>
              <a:t>i</a:t>
            </a:r>
            <a:r>
              <a:rPr lang="zh-CN" altLang="en-US" dirty="0"/>
              <a:t>件物品，体积为</a:t>
            </a:r>
            <a:r>
              <a:rPr lang="en-US" altLang="zh-CN" dirty="0"/>
              <a:t>j</a:t>
            </a:r>
            <a:r>
              <a:rPr lang="zh-CN" altLang="en-US" dirty="0"/>
              <a:t>，价值第</a:t>
            </a:r>
            <a:r>
              <a:rPr lang="en-US" altLang="zh-CN" dirty="0"/>
              <a:t>k</a:t>
            </a:r>
            <a:r>
              <a:rPr lang="zh-CN" altLang="en-US" dirty="0"/>
              <a:t>大值。</a:t>
            </a:r>
            <a:endParaRPr lang="en-US" altLang="zh-CN" dirty="0"/>
          </a:p>
          <a:p>
            <a:r>
              <a:rPr lang="zh-CN" altLang="en-US" dirty="0"/>
              <a:t>使用刷表法转移即可。</a:t>
            </a:r>
          </a:p>
        </p:txBody>
      </p:sp>
    </p:spTree>
    <p:extLst>
      <p:ext uri="{BB962C8B-B14F-4D97-AF65-F5344CB8AC3E}">
        <p14:creationId xmlns:p14="http://schemas.microsoft.com/office/powerpoint/2010/main" val="38400866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B6B2A5-CC81-676E-8679-69445EFBB54E}"/>
              </a:ext>
            </a:extLst>
          </p:cNvPr>
          <p:cNvSpPr>
            <a:spLocks noGrp="1"/>
          </p:cNvSpPr>
          <p:nvPr>
            <p:ph type="title"/>
          </p:nvPr>
        </p:nvSpPr>
        <p:spPr/>
        <p:txBody>
          <a:bodyPr/>
          <a:lstStyle/>
          <a:p>
            <a:r>
              <a:rPr lang="en-US" altLang="zh-CN" dirty="0">
                <a:hlinkClick r:id="rId2"/>
              </a:rPr>
              <a:t>CF19B Checkout Assistant</a:t>
            </a:r>
            <a:endParaRPr lang="zh-CN" altLang="en-US" dirty="0"/>
          </a:p>
        </p:txBody>
      </p:sp>
      <p:pic>
        <p:nvPicPr>
          <p:cNvPr id="5" name="内容占位符 4">
            <a:extLst>
              <a:ext uri="{FF2B5EF4-FFF2-40B4-BE49-F238E27FC236}">
                <a16:creationId xmlns:a16="http://schemas.microsoft.com/office/drawing/2014/main" id="{BB7DAC64-CFE1-12AF-BB80-3EB7ECA93842}"/>
              </a:ext>
            </a:extLst>
          </p:cNvPr>
          <p:cNvPicPr>
            <a:picLocks noGrp="1" noChangeAspect="1"/>
          </p:cNvPicPr>
          <p:nvPr>
            <p:ph idx="1"/>
          </p:nvPr>
        </p:nvPicPr>
        <p:blipFill>
          <a:blip r:embed="rId3"/>
          <a:stretch>
            <a:fillRect/>
          </a:stretch>
        </p:blipFill>
        <p:spPr>
          <a:xfrm>
            <a:off x="838200" y="1690688"/>
            <a:ext cx="8306959" cy="3924848"/>
          </a:xfrm>
        </p:spPr>
      </p:pic>
    </p:spTree>
    <p:extLst>
      <p:ext uri="{BB962C8B-B14F-4D97-AF65-F5344CB8AC3E}">
        <p14:creationId xmlns:p14="http://schemas.microsoft.com/office/powerpoint/2010/main" val="35583957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98464D-877F-32C7-5C81-3E44D43500DC}"/>
              </a:ext>
            </a:extLst>
          </p:cNvPr>
          <p:cNvSpPr>
            <a:spLocks noGrp="1"/>
          </p:cNvSpPr>
          <p:nvPr>
            <p:ph type="title"/>
          </p:nvPr>
        </p:nvSpPr>
        <p:spPr/>
        <p:txBody>
          <a:bodyPr/>
          <a:lstStyle/>
          <a:p>
            <a:r>
              <a:rPr lang="en-US" altLang="zh-CN" dirty="0">
                <a:hlinkClick r:id="rId2"/>
              </a:rPr>
              <a:t>CF19B Checkout Assistant</a:t>
            </a:r>
            <a:endParaRPr lang="zh-CN" altLang="en-US" dirty="0"/>
          </a:p>
        </p:txBody>
      </p:sp>
      <p:sp>
        <p:nvSpPr>
          <p:cNvPr id="3" name="内容占位符 2">
            <a:extLst>
              <a:ext uri="{FF2B5EF4-FFF2-40B4-BE49-F238E27FC236}">
                <a16:creationId xmlns:a16="http://schemas.microsoft.com/office/drawing/2014/main" id="{D9F34AF3-2531-1B26-7C6A-32C729731012}"/>
              </a:ext>
            </a:extLst>
          </p:cNvPr>
          <p:cNvSpPr>
            <a:spLocks noGrp="1"/>
          </p:cNvSpPr>
          <p:nvPr>
            <p:ph idx="1"/>
          </p:nvPr>
        </p:nvSpPr>
        <p:spPr/>
        <p:txBody>
          <a:bodyPr/>
          <a:lstStyle/>
          <a:p>
            <a:r>
              <a:rPr lang="zh-CN" altLang="en-US" dirty="0"/>
              <a:t>解答：</a:t>
            </a:r>
            <a:endParaRPr lang="en-US" altLang="zh-CN" dirty="0"/>
          </a:p>
          <a:p>
            <a:pPr lvl="1"/>
            <a:r>
              <a:rPr lang="zh-CN" altLang="en-US" dirty="0"/>
              <a:t>第</a:t>
            </a:r>
            <a:r>
              <a:rPr lang="en-US" altLang="zh-CN" dirty="0" err="1"/>
              <a:t>i</a:t>
            </a:r>
            <a:r>
              <a:rPr lang="zh-CN" altLang="en-US" dirty="0"/>
              <a:t>件物品扫描时间为</a:t>
            </a:r>
            <a:r>
              <a:rPr lang="en-US" altLang="zh-CN" dirty="0"/>
              <a:t>t[</a:t>
            </a:r>
            <a:r>
              <a:rPr lang="en-US" altLang="zh-CN" dirty="0" err="1"/>
              <a:t>i</a:t>
            </a:r>
            <a:r>
              <a:rPr lang="en-US" altLang="zh-CN" dirty="0"/>
              <a:t>]</a:t>
            </a:r>
            <a:r>
              <a:rPr lang="zh-CN" altLang="en-US" dirty="0"/>
              <a:t>，价格为</a:t>
            </a:r>
            <a:r>
              <a:rPr lang="en-US" altLang="zh-CN" dirty="0"/>
              <a:t>c[</a:t>
            </a:r>
            <a:r>
              <a:rPr lang="en-US" altLang="zh-CN" dirty="0" err="1"/>
              <a:t>i</a:t>
            </a:r>
            <a:r>
              <a:rPr lang="en-US" altLang="zh-CN" dirty="0"/>
              <a:t>]</a:t>
            </a:r>
            <a:r>
              <a:rPr lang="zh-CN" altLang="en-US" dirty="0"/>
              <a:t>，则表示我们花费</a:t>
            </a:r>
            <a:r>
              <a:rPr lang="en-US" altLang="zh-CN" dirty="0"/>
              <a:t>c[</a:t>
            </a:r>
            <a:r>
              <a:rPr lang="en-US" altLang="zh-CN" dirty="0" err="1"/>
              <a:t>i</a:t>
            </a:r>
            <a:r>
              <a:rPr lang="en-US" altLang="zh-CN" dirty="0"/>
              <a:t>]</a:t>
            </a:r>
            <a:r>
              <a:rPr lang="zh-CN" altLang="en-US" dirty="0"/>
              <a:t>能获得</a:t>
            </a:r>
            <a:r>
              <a:rPr lang="en-US" altLang="zh-CN" dirty="0"/>
              <a:t>t[</a:t>
            </a:r>
            <a:r>
              <a:rPr lang="en-US" altLang="zh-CN" dirty="0" err="1"/>
              <a:t>i</a:t>
            </a:r>
            <a:r>
              <a:rPr lang="en-US" altLang="zh-CN" dirty="0"/>
              <a:t>]+1</a:t>
            </a:r>
            <a:r>
              <a:rPr lang="zh-CN" altLang="en-US" dirty="0"/>
              <a:t>件物品。</a:t>
            </a:r>
            <a:endParaRPr lang="en-US" altLang="zh-CN" dirty="0"/>
          </a:p>
          <a:p>
            <a:pPr lvl="1"/>
            <a:r>
              <a:rPr lang="zh-CN" altLang="en-US" dirty="0"/>
              <a:t>我们需要</a:t>
            </a:r>
            <a:r>
              <a:rPr lang="en-US" altLang="zh-CN" dirty="0"/>
              <a:t>n</a:t>
            </a:r>
            <a:r>
              <a:rPr lang="zh-CN" altLang="en-US" dirty="0"/>
              <a:t>件物品，则问题转化为花最少的钱获得</a:t>
            </a:r>
            <a:r>
              <a:rPr lang="en-US" altLang="zh-CN" dirty="0"/>
              <a:t>n</a:t>
            </a:r>
            <a:r>
              <a:rPr lang="zh-CN" altLang="en-US" dirty="0"/>
              <a:t>件物品。</a:t>
            </a:r>
            <a:r>
              <a:rPr lang="en-US" altLang="zh-CN" dirty="0"/>
              <a:t>01</a:t>
            </a:r>
            <a:r>
              <a:rPr lang="zh-CN" altLang="en-US" dirty="0"/>
              <a:t>背包！</a:t>
            </a:r>
            <a:endParaRPr lang="en-US" altLang="zh-CN" dirty="0"/>
          </a:p>
        </p:txBody>
      </p:sp>
    </p:spTree>
    <p:extLst>
      <p:ext uri="{BB962C8B-B14F-4D97-AF65-F5344CB8AC3E}">
        <p14:creationId xmlns:p14="http://schemas.microsoft.com/office/powerpoint/2010/main" val="25846075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CD37D6-6A00-0BF2-EEB0-971C33DCD650}"/>
              </a:ext>
            </a:extLst>
          </p:cNvPr>
          <p:cNvSpPr>
            <a:spLocks noGrp="1"/>
          </p:cNvSpPr>
          <p:nvPr>
            <p:ph type="title"/>
          </p:nvPr>
        </p:nvSpPr>
        <p:spPr/>
        <p:txBody>
          <a:bodyPr/>
          <a:lstStyle/>
          <a:p>
            <a:r>
              <a:rPr lang="en-US" altLang="zh-CN" dirty="0">
                <a:hlinkClick r:id="rId2"/>
              </a:rPr>
              <a:t>P1064 </a:t>
            </a:r>
            <a:r>
              <a:rPr lang="zh-CN" altLang="en-US" dirty="0">
                <a:hlinkClick r:id="rId2"/>
              </a:rPr>
              <a:t>金明的预算</a:t>
            </a:r>
            <a:endParaRPr lang="zh-CN" altLang="en-US" dirty="0"/>
          </a:p>
        </p:txBody>
      </p:sp>
      <p:pic>
        <p:nvPicPr>
          <p:cNvPr id="5" name="内容占位符 4">
            <a:extLst>
              <a:ext uri="{FF2B5EF4-FFF2-40B4-BE49-F238E27FC236}">
                <a16:creationId xmlns:a16="http://schemas.microsoft.com/office/drawing/2014/main" id="{E6DBB02D-5D7C-11C2-BD53-525B16D2651D}"/>
              </a:ext>
            </a:extLst>
          </p:cNvPr>
          <p:cNvPicPr>
            <a:picLocks noGrp="1" noChangeAspect="1"/>
          </p:cNvPicPr>
          <p:nvPr>
            <p:ph idx="1"/>
          </p:nvPr>
        </p:nvPicPr>
        <p:blipFill>
          <a:blip r:embed="rId3"/>
          <a:stretch>
            <a:fillRect/>
          </a:stretch>
        </p:blipFill>
        <p:spPr>
          <a:xfrm>
            <a:off x="820378" y="1690688"/>
            <a:ext cx="6159542" cy="5080396"/>
          </a:xfrm>
        </p:spPr>
      </p:pic>
    </p:spTree>
    <p:extLst>
      <p:ext uri="{BB962C8B-B14F-4D97-AF65-F5344CB8AC3E}">
        <p14:creationId xmlns:p14="http://schemas.microsoft.com/office/powerpoint/2010/main" val="6282977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419BFE-DFB8-C501-4C6E-6B59653D22B0}"/>
              </a:ext>
            </a:extLst>
          </p:cNvPr>
          <p:cNvSpPr>
            <a:spLocks noGrp="1"/>
          </p:cNvSpPr>
          <p:nvPr>
            <p:ph type="title"/>
          </p:nvPr>
        </p:nvSpPr>
        <p:spPr/>
        <p:txBody>
          <a:bodyPr/>
          <a:lstStyle/>
          <a:p>
            <a:r>
              <a:rPr lang="en-US" altLang="zh-CN" dirty="0">
                <a:hlinkClick r:id="rId2"/>
              </a:rPr>
              <a:t>P1064 </a:t>
            </a:r>
            <a:r>
              <a:rPr lang="zh-CN" altLang="en-US" dirty="0">
                <a:hlinkClick r:id="rId2"/>
              </a:rPr>
              <a:t>金明的预算</a:t>
            </a:r>
            <a:endParaRPr lang="zh-CN" altLang="en-US" dirty="0"/>
          </a:p>
        </p:txBody>
      </p:sp>
      <p:sp>
        <p:nvSpPr>
          <p:cNvPr id="3" name="内容占位符 2">
            <a:extLst>
              <a:ext uri="{FF2B5EF4-FFF2-40B4-BE49-F238E27FC236}">
                <a16:creationId xmlns:a16="http://schemas.microsoft.com/office/drawing/2014/main" id="{1080C4B0-5319-FD13-F29C-B10E57D49C64}"/>
              </a:ext>
            </a:extLst>
          </p:cNvPr>
          <p:cNvSpPr>
            <a:spLocks noGrp="1"/>
          </p:cNvSpPr>
          <p:nvPr>
            <p:ph idx="1"/>
          </p:nvPr>
        </p:nvSpPr>
        <p:spPr/>
        <p:txBody>
          <a:bodyPr/>
          <a:lstStyle/>
          <a:p>
            <a:r>
              <a:rPr lang="zh-CN" altLang="en-US" dirty="0"/>
              <a:t>解答：</a:t>
            </a:r>
            <a:endParaRPr lang="en-US" altLang="zh-CN" dirty="0"/>
          </a:p>
          <a:p>
            <a:pPr lvl="1"/>
            <a:r>
              <a:rPr lang="zh-CN" altLang="en-US" dirty="0"/>
              <a:t>把每个主件及其附件看成一组物品，用分组背包的思想解决即可。</a:t>
            </a:r>
          </a:p>
        </p:txBody>
      </p:sp>
    </p:spTree>
    <p:extLst>
      <p:ext uri="{BB962C8B-B14F-4D97-AF65-F5344CB8AC3E}">
        <p14:creationId xmlns:p14="http://schemas.microsoft.com/office/powerpoint/2010/main" val="34054292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5228DF-6EF3-D97C-67DA-EB0038DEE75D}"/>
              </a:ext>
            </a:extLst>
          </p:cNvPr>
          <p:cNvSpPr>
            <a:spLocks noGrp="1"/>
          </p:cNvSpPr>
          <p:nvPr>
            <p:ph type="title"/>
          </p:nvPr>
        </p:nvSpPr>
        <p:spPr/>
        <p:txBody>
          <a:bodyPr/>
          <a:lstStyle/>
          <a:p>
            <a:r>
              <a:rPr lang="en-US" altLang="zh-CN" dirty="0">
                <a:hlinkClick r:id="rId2"/>
              </a:rPr>
              <a:t>P3985 </a:t>
            </a:r>
            <a:r>
              <a:rPr lang="zh-CN" altLang="en-US" dirty="0">
                <a:hlinkClick r:id="rId2"/>
              </a:rPr>
              <a:t>不开心的金明</a:t>
            </a:r>
            <a:endParaRPr lang="zh-CN" altLang="en-US" dirty="0"/>
          </a:p>
        </p:txBody>
      </p:sp>
      <p:sp>
        <p:nvSpPr>
          <p:cNvPr id="3" name="内容占位符 2">
            <a:extLst>
              <a:ext uri="{FF2B5EF4-FFF2-40B4-BE49-F238E27FC236}">
                <a16:creationId xmlns:a16="http://schemas.microsoft.com/office/drawing/2014/main" id="{46CC6398-EED1-7173-4C52-2B575C123F54}"/>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6E4EC96A-8568-69CC-AA24-84BDE1820ADF}"/>
              </a:ext>
            </a:extLst>
          </p:cNvPr>
          <p:cNvPicPr>
            <a:picLocks noChangeAspect="1"/>
          </p:cNvPicPr>
          <p:nvPr/>
        </p:nvPicPr>
        <p:blipFill>
          <a:blip r:embed="rId3"/>
          <a:stretch>
            <a:fillRect/>
          </a:stretch>
        </p:blipFill>
        <p:spPr>
          <a:xfrm>
            <a:off x="838200" y="1690688"/>
            <a:ext cx="6641740" cy="4323467"/>
          </a:xfrm>
          <a:prstGeom prst="rect">
            <a:avLst/>
          </a:prstGeom>
        </p:spPr>
      </p:pic>
    </p:spTree>
    <p:extLst>
      <p:ext uri="{BB962C8B-B14F-4D97-AF65-F5344CB8AC3E}">
        <p14:creationId xmlns:p14="http://schemas.microsoft.com/office/powerpoint/2010/main" val="129490046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888</TotalTime>
  <Words>2771</Words>
  <Application>Microsoft Office PowerPoint</Application>
  <PresentationFormat>宽屏</PresentationFormat>
  <Paragraphs>196</Paragraphs>
  <Slides>53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53</vt:i4>
      </vt:variant>
    </vt:vector>
  </HeadingPairs>
  <TitlesOfParts>
    <vt:vector size="61" baseType="lpstr">
      <vt:lpstr>-apple-system</vt:lpstr>
      <vt:lpstr>Helvetica Neue</vt:lpstr>
      <vt:lpstr>KaTeX_Main</vt:lpstr>
      <vt:lpstr>等线</vt:lpstr>
      <vt:lpstr>等线 Light</vt:lpstr>
      <vt:lpstr>Arial</vt:lpstr>
      <vt:lpstr>Consolas</vt:lpstr>
      <vt:lpstr>Office 主题​​</vt:lpstr>
      <vt:lpstr>动态规划之背包问题</vt:lpstr>
      <vt:lpstr>前言</vt:lpstr>
      <vt:lpstr>01背包问题</vt:lpstr>
      <vt:lpstr>01背包问题</vt:lpstr>
      <vt:lpstr>01背包问题</vt:lpstr>
      <vt:lpstr>01背包问题</vt:lpstr>
      <vt:lpstr>01背包问题</vt:lpstr>
      <vt:lpstr>初始化细节</vt:lpstr>
      <vt:lpstr>完全背包问题</vt:lpstr>
      <vt:lpstr>完全背包问题</vt:lpstr>
      <vt:lpstr>完全背包问题</vt:lpstr>
      <vt:lpstr>完全背包问题</vt:lpstr>
      <vt:lpstr>多重背包问题</vt:lpstr>
      <vt:lpstr>多重背包问题</vt:lpstr>
      <vt:lpstr>多重背包问题转化为01背包问题</vt:lpstr>
      <vt:lpstr>多重背包问题转化为01背包问题</vt:lpstr>
      <vt:lpstr>多重背包问题</vt:lpstr>
      <vt:lpstr>习题</vt:lpstr>
      <vt:lpstr>作业评讲1</vt:lpstr>
      <vt:lpstr>作业评讲2</vt:lpstr>
      <vt:lpstr>作业评讲3</vt:lpstr>
      <vt:lpstr>作业评讲4</vt:lpstr>
      <vt:lpstr>作业评讲5</vt:lpstr>
      <vt:lpstr>分组背包</vt:lpstr>
      <vt:lpstr>分组背包</vt:lpstr>
      <vt:lpstr>分组背包</vt:lpstr>
      <vt:lpstr>混合背包</vt:lpstr>
      <vt:lpstr>混合背包</vt:lpstr>
      <vt:lpstr>多维背包</vt:lpstr>
      <vt:lpstr>多维背包</vt:lpstr>
      <vt:lpstr>习题</vt:lpstr>
      <vt:lpstr>P4141 消失之物</vt:lpstr>
      <vt:lpstr>P4141 消失之物</vt:lpstr>
      <vt:lpstr>P4141 消失之物</vt:lpstr>
      <vt:lpstr>P4141 消失之物</vt:lpstr>
      <vt:lpstr>P5322 [BJOI2019] 排兵布阵 </vt:lpstr>
      <vt:lpstr>P2732 [USACO3.3] 商店购物</vt:lpstr>
      <vt:lpstr>P2732 [USACO3.3] 商店购物</vt:lpstr>
      <vt:lpstr>P2732 [USACO3.3] 商店购物</vt:lpstr>
      <vt:lpstr>P2732 [USACO3.3] 商店购物</vt:lpstr>
      <vt:lpstr>P1385 密令</vt:lpstr>
      <vt:lpstr>P1385 密令</vt:lpstr>
      <vt:lpstr>P2066 机器分配</vt:lpstr>
      <vt:lpstr>P2851 [USACO06DEC] The Fewest Coins G</vt:lpstr>
      <vt:lpstr>P2851 [USACO06DEC] The Fewest Coins G</vt:lpstr>
      <vt:lpstr>P5020 [NOIP2018 提高组] 货币系统</vt:lpstr>
      <vt:lpstr>P1858 多人背包</vt:lpstr>
      <vt:lpstr>P1858 多人背包</vt:lpstr>
      <vt:lpstr>CF19B Checkout Assistant</vt:lpstr>
      <vt:lpstr>CF19B Checkout Assistant</vt:lpstr>
      <vt:lpstr>P1064 金明的预算</vt:lpstr>
      <vt:lpstr>P1064 金明的预算</vt:lpstr>
      <vt:lpstr>P3985 不开心的金明</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yy y</dc:creator>
  <cp:lastModifiedBy>yy y</cp:lastModifiedBy>
  <cp:revision>21</cp:revision>
  <dcterms:created xsi:type="dcterms:W3CDTF">2024-12-14T01:43:38Z</dcterms:created>
  <dcterms:modified xsi:type="dcterms:W3CDTF">2025-09-14T13:23:07Z</dcterms:modified>
</cp:coreProperties>
</file>